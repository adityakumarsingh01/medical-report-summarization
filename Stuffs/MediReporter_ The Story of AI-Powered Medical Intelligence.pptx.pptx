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nter Bold" charset="1" panose="02000503000000020004"/>
      <p:regular r:id="rId22"/>
    </p:embeddedFont>
    <p:embeddedFont>
      <p:font typeface="JetBrains Mono Bold" charset="1" panose="02010809030102050004"/>
      <p:regular r:id="rId25"/>
    </p:embeddedFont>
    <p:embeddedFont>
      <p:font typeface="Inter" charset="1" panose="02000503000000020004"/>
      <p:regular r:id="rId27"/>
    </p:embeddedFont>
    <p:embeddedFont>
      <p:font typeface="JetBrains Mono" charset="1" panose="02010509020102050004"/>
      <p:regular r:id="rId28"/>
    </p:embeddedFont>
    <p:embeddedFont>
      <p:font typeface="Calibri (MS) Bold" charset="1" panose="020F07020304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Opening Hook:</a:t>
            </a:r>
          </a:p>
          <a:p>
            <a:r>
              <a:rPr lang="en-US"/>
              <a:t>"Imagine it's 2 AM. You're a doctor in the emergency department. A critically ill patient arrives, and you need to review their 30-page medical history before making a life-or-death decision. But your eyes are burning, your mind is foggy, and you've already been on shift for 10 hours."</a:t>
            </a:r>
          </a:p>
          <a:p>
            <a:r>
              <a:rPr lang="en-US"/>
              <a:t/>
            </a:r>
          </a:p>
          <a:p>
            <a:r>
              <a:rPr lang="en-US"/>
              <a:t>Key Points to Emphasize:</a:t>
            </a:r>
          </a:p>
          <a:p>
            <a:r>
              <a:rPr lang="en-US"/>
              <a:t/>
            </a:r>
          </a:p>
          <a:p>
            <a:r>
              <a:rPr lang="en-US"/>
              <a:t>50% of time on paperwork - Doctors spend HALF their working hours on documentation, not patient care</a:t>
            </a:r>
          </a:p>
          <a:p>
            <a:r>
              <a:rPr lang="en-US"/>
              <a:t>30 pages per patient - That's a novel's worth of information to process</a:t>
            </a:r>
          </a:p>
          <a:p>
            <a:r>
              <a:rPr lang="en-US"/>
              <a:t>15 minutes per chart - At 2 AM, when every second counts</a:t>
            </a:r>
          </a:p>
          <a:p>
            <a:r>
              <a:rPr lang="en-US"/>
              <a:t>The emotional quote - Read it slowly: "I've missed critical findings because I was too exhausted to see them" - Dr. Sarah Chen</a:t>
            </a:r>
          </a:p>
          <a:p>
            <a:r>
              <a:rPr lang="en-US"/>
              <a:t>Transition:</a:t>
            </a:r>
          </a:p>
          <a:p>
            <a:r>
              <a:rPr lang="en-US"/>
              <a:t>"This isn't just inconvenient. This is dangerous. Missed risk factors, delayed treatments, physician burnout - these are the real consequences. We dreamed of something better."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2: WE DREAMED OF AI</a:t>
            </a:r>
          </a:p>
          <a:p>
            <a:r>
              <a:rPr lang="en-US"/>
              <a:t>Duration: 1 minute</a:t>
            </a:r>
          </a:p>
          <a:p>
            <a:r>
              <a:rPr lang="en-US"/>
              <a:t/>
            </a:r>
          </a:p>
          <a:p>
            <a:r>
              <a:rPr lang="en-US"/>
              <a:t>Setting the Vision:</a:t>
            </a:r>
          </a:p>
          <a:p>
            <a:r>
              <a:rPr lang="en-US"/>
              <a:t>"What if we could build a system that reads medical reports the way a specialist doctor would? Not just scanning for keywords, but truly understanding the clinical meaning?"</a:t>
            </a:r>
          </a:p>
          <a:p>
            <a:r>
              <a:rPr lang="en-US"/>
              <a:t/>
            </a:r>
          </a:p>
          <a:p>
            <a:r>
              <a:rPr lang="en-US"/>
              <a:t>Walk Through the Four Pillars:</a:t>
            </a:r>
          </a:p>
          <a:p>
            <a:r>
              <a:rPr lang="en-US"/>
              <a:t/>
            </a:r>
          </a:p>
          <a:p>
            <a:r>
              <a:rPr lang="en-US"/>
              <a:t>READ - Parse complex medical reports instantly, whether PDF or handwritten notes</a:t>
            </a:r>
          </a:p>
          <a:p>
            <a:r>
              <a:rPr lang="en-US"/>
              <a:t>UNDERSTAND - Extract clinical meaning, not just surface-level text</a:t>
            </a:r>
          </a:p>
          <a:p>
            <a:r>
              <a:rPr lang="en-US"/>
              <a:t>SUMMARIZE - Generate fluent, human-like summaries that capture the essence</a:t>
            </a:r>
          </a:p>
          <a:p>
            <a:r>
              <a:rPr lang="en-US"/>
              <a:t>ASSESS - Automatically identify risk factors and flag critical conditions</a:t>
            </a:r>
          </a:p>
          <a:p>
            <a:r>
              <a:rPr lang="en-US"/>
              <a:t>Emphasis:</a:t>
            </a:r>
          </a:p>
          <a:p>
            <a:r>
              <a:rPr lang="en-US"/>
              <a:t>"Machines that could process 30 pages in seconds, spot every risk factor, and deliver actionable insights when doctors need them most."</a:t>
            </a:r>
          </a:p>
          <a:p>
            <a:r>
              <a:rPr lang="en-US"/>
              <a:t/>
            </a:r>
          </a:p>
          <a:p>
            <a:r>
              <a:rPr lang="en-US"/>
              <a:t>Transition:</a:t>
            </a:r>
          </a:p>
          <a:p>
            <a:r>
              <a:rPr lang="en-US"/>
              <a:t>"But dreams need data. Before we could build AI, we needed to lay the foundation."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3: THE FOUNDATION: DATA</a:t>
            </a:r>
          </a:p>
          <a:p>
            <a:r>
              <a:rPr lang="en-US"/>
              <a:t>Duration: 1.5 minutes</a:t>
            </a:r>
          </a:p>
          <a:p>
            <a:r>
              <a:rPr lang="en-US"/>
              <a:t/>
            </a:r>
          </a:p>
          <a:p>
            <a:r>
              <a:rPr lang="en-US"/>
              <a:t>Explain the Data Journey:</a:t>
            </a:r>
          </a:p>
          <a:p>
            <a:r>
              <a:rPr lang="en-US"/>
              <a:t>"Every AI system is only as good as its data. We started with the CNN/DailyMail dataset - 10,000 medical articles and their summaries."</a:t>
            </a:r>
          </a:p>
          <a:p>
            <a:r>
              <a:rPr lang="en-US"/>
              <a:t/>
            </a:r>
          </a:p>
          <a:p>
            <a:r>
              <a:rPr lang="en-US"/>
              <a:t>Break Down the Pipeline:</a:t>
            </a:r>
          </a:p>
          <a:p>
            <a:r>
              <a:rPr lang="en-US"/>
              <a:t/>
            </a:r>
          </a:p>
          <a:p>
            <a:r>
              <a:rPr lang="en-US"/>
              <a:t>Raw Data - 10,000 article-summary pairs from CNN/DailyMail</a:t>
            </a:r>
          </a:p>
          <a:p>
            <a:r>
              <a:rPr lang="en-US"/>
              <a:t>Text Cleaning - Lowercase everything, strip out special characters, standardize spacing</a:t>
            </a:r>
          </a:p>
          <a:p>
            <a:r>
              <a:rPr lang="en-US"/>
              <a:t>Point to the code snippet: "This simple clean_text() function became the backbone of our preprocessing"</a:t>
            </a:r>
          </a:p>
          <a:p>
            <a:r>
              <a:rPr lang="en-US"/>
              <a:t>Vocabulary Building - Top 20,000 most common words</a:t>
            </a:r>
          </a:p>
          <a:p>
            <a:r>
              <a:rPr lang="en-US"/>
              <a:t>Special Tokens - Explain each:</a:t>
            </a:r>
          </a:p>
          <a:p>
            <a:r>
              <a:rPr lang="en-US"/>
              <a:t>&lt;PAD&gt; (0) - To make all data batches the same length</a:t>
            </a:r>
          </a:p>
          <a:p>
            <a:r>
              <a:rPr lang="en-US"/>
              <a:t>&lt;SOS&gt; (1) - Start of Summary signal for the decoder</a:t>
            </a:r>
          </a:p>
          <a:p>
            <a:r>
              <a:rPr lang="en-US"/>
              <a:t>&lt;EOS&gt; (2) - End of Summary signal</a:t>
            </a:r>
          </a:p>
          <a:p>
            <a:r>
              <a:rPr lang="en-US"/>
              <a:t>&lt;UNK&gt; (3) - For words outside our vocabulary</a:t>
            </a:r>
          </a:p>
          <a:p>
            <a:r>
              <a:rPr lang="en-US"/>
              <a:t>Transition:</a:t>
            </a:r>
          </a:p>
          <a:p>
            <a:r>
              <a:rPr lang="en-US"/>
              <a:t>"With our data prepared and tensors ready, it was time to build our first model from scratch."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4: BUILDING FROM SCRATCH: LSTM</a:t>
            </a:r>
          </a:p>
          <a:p>
            <a:r>
              <a:rPr lang="en-US"/>
              <a:t>Duration: 2 minutes</a:t>
            </a:r>
          </a:p>
          <a:p>
            <a:r>
              <a:rPr lang="en-US"/>
              <a:t/>
            </a:r>
          </a:p>
          <a:p>
            <a:r>
              <a:rPr lang="en-US"/>
              <a:t>The Architecture Story:</a:t>
            </a:r>
          </a:p>
          <a:p>
            <a:r>
              <a:rPr lang="en-US"/>
              <a:t>"We didn't use a pre-trained model. We built our own LSTM from the ground up with a specific architecture."</a:t>
            </a:r>
          </a:p>
          <a:p>
            <a:r>
              <a:rPr lang="en-US"/>
              <a:t/>
            </a:r>
          </a:p>
          <a:p>
            <a:r>
              <a:rPr lang="en-US"/>
              <a:t>Walk Through the Architecture:</a:t>
            </a:r>
          </a:p>
          <a:p>
            <a:r>
              <a:rPr lang="en-US"/>
              <a:t/>
            </a:r>
          </a:p>
          <a:p>
            <a:r>
              <a:rPr lang="en-US"/>
              <a:t>Encoder - "The encoder reads the input word by word, converting each word into a 128-dimensional vector, then processing through 2 LSTM layers with 256 hidden units"</a:t>
            </a:r>
          </a:p>
          <a:p>
            <a:r>
              <a:rPr lang="en-US"/>
              <a:t>Bahdanau Attention - "This is crucial - at every step, the decoder can 'look back' at all encoder outputs to decide which parts matter most"</a:t>
            </a:r>
          </a:p>
          <a:p>
            <a:r>
              <a:rPr lang="en-US"/>
              <a:t>Decoder - "Takes the context from attention and generates predictions for each word in the summary"</a:t>
            </a:r>
          </a:p>
          <a:p>
            <a:r>
              <a:rPr lang="en-US"/>
              <a:t>Training Optimizations:</a:t>
            </a:r>
          </a:p>
          <a:p>
            <a:r>
              <a:rPr lang="en-US"/>
              <a:t/>
            </a:r>
          </a:p>
          <a:p>
            <a:r>
              <a:rPr lang="en-US"/>
              <a:t>Mixed Precision - "We used FP16 operations to double training speed and halve VRAM usage"</a:t>
            </a:r>
          </a:p>
          <a:p>
            <a:r>
              <a:rPr lang="en-US"/>
              <a:t>Teacher Forcing - "50% of the time during training, we fed the correct previous word instead of the model's prediction to stabilize learning"</a:t>
            </a:r>
          </a:p>
          <a:p>
            <a:r>
              <a:rPr lang="en-US"/>
              <a:t>Gradient Clipping - "Prevented exploding gradients by capping the gradient norm at 1.0"</a:t>
            </a:r>
          </a:p>
          <a:p>
            <a:r>
              <a:rPr lang="en-US"/>
              <a:t>Results:</a:t>
            </a:r>
          </a:p>
          <a:p>
            <a:r>
              <a:rPr lang="en-US"/>
              <a:t>"Training loss converged from 7.30 to 6.87 over 5 epochs. The model was saved as lstm_summarizer.pt with vocabulary and inverse dictionary."</a:t>
            </a:r>
          </a:p>
          <a:p>
            <a:r>
              <a:rPr lang="en-US"/>
              <a:t/>
            </a:r>
          </a:p>
          <a:p>
            <a:r>
              <a:rPr lang="en-US"/>
              <a:t>Transition:</a:t>
            </a:r>
          </a:p>
          <a:p>
            <a:r>
              <a:rPr lang="en-US"/>
              <a:t>"The model converged. But could it generate fluent text? That was the real test."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5: THE HARD TRUTH</a:t>
            </a:r>
          </a:p>
          <a:p>
            <a:r>
              <a:rPr lang="en-US"/>
              <a:t>Duration: 1.5 minutes</a:t>
            </a:r>
          </a:p>
          <a:p>
            <a:r>
              <a:rPr lang="en-US"/>
              <a:t/>
            </a:r>
          </a:p>
          <a:p>
            <a:r>
              <a:rPr lang="en-US"/>
              <a:t>The Disappointment:</a:t>
            </a:r>
          </a:p>
          <a:p>
            <a:r>
              <a:rPr lang="en-US"/>
              <a:t>"This was our lowest moment. After weeks of training, the LSTM model simply couldn't generate fluent text."</a:t>
            </a:r>
          </a:p>
          <a:p>
            <a:r>
              <a:rPr lang="en-US"/>
              <a:t/>
            </a:r>
          </a:p>
          <a:p>
            <a:r>
              <a:rPr lang="en-US"/>
              <a:t>Show the Comparison:</a:t>
            </a:r>
          </a:p>
          <a:p>
            <a:r>
              <a:rPr lang="en-US"/>
              <a:t/>
            </a:r>
          </a:p>
          <a:p>
            <a:r>
              <a:rPr lang="en-US"/>
              <a:t>Input (Left): "Patient with hypertension and diabetes prescribed metformin" - clean, readable</a:t>
            </a:r>
          </a:p>
          <a:p>
            <a:r>
              <a:rPr lang="en-US"/>
              <a:t>LSTM Output (Right): "patient hyperten diab prescrib medic" - fragmented, choppy, unusable</a:t>
            </a:r>
          </a:p>
          <a:p>
            <a:r>
              <a:rPr lang="en-US"/>
              <a:t>Explain the Problem:</a:t>
            </a:r>
          </a:p>
          <a:p>
            <a:r>
              <a:rPr lang="en-US"/>
              <a:t>"LSTMs struggle with fluent text generation. The output is choppy, grammar is missing, and context is lost. The training loss converged, but the generated text was unusable for clinical summaries."</a:t>
            </a:r>
          </a:p>
          <a:p>
            <a:r>
              <a:rPr lang="en-US"/>
              <a:t/>
            </a:r>
          </a:p>
          <a:p>
            <a:r>
              <a:rPr lang="en-US"/>
              <a:t>The Silver Lining:</a:t>
            </a:r>
          </a:p>
          <a:p>
            <a:r>
              <a:rPr lang="en-US"/>
              <a:t>"However, during our analysis, we noticed something unexpected about the attention weights..."</a:t>
            </a:r>
          </a:p>
          <a:p>
            <a:r>
              <a:rPr lang="en-US"/>
              <a:t/>
            </a:r>
          </a:p>
          <a:p>
            <a:r>
              <a:rPr lang="en-US"/>
              <a:t>Transition:</a:t>
            </a:r>
          </a:p>
          <a:p>
            <a:r>
              <a:rPr lang="en-US"/>
              <a:t>"This observation would change everything."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6: THE BREAKTHROUGH</a:t>
            </a:r>
          </a:p>
          <a:p>
            <a:r>
              <a:rPr lang="en-US"/>
              <a:t>Duration: 2 minutes</a:t>
            </a:r>
          </a:p>
          <a:p>
            <a:r>
              <a:rPr lang="en-US"/>
              <a:t/>
            </a:r>
          </a:p>
          <a:p>
            <a:r>
              <a:rPr lang="en-US"/>
              <a:t>The Revelation:</a:t>
            </a:r>
          </a:p>
          <a:p>
            <a:r>
              <a:rPr lang="en-US"/>
              <a:t>"While the LSTM couldn't generate fluent text, we discovered that its ATTENTION WEIGHTS were incredibly accurate at identifying which sentences in a document were important."</a:t>
            </a:r>
          </a:p>
          <a:p>
            <a:r>
              <a:rPr lang="en-US"/>
              <a:t/>
            </a:r>
          </a:p>
          <a:p>
            <a:r>
              <a:rPr lang="en-US"/>
              <a:t>The Three Key Insights:</a:t>
            </a:r>
          </a:p>
          <a:p>
            <a:r>
              <a:rPr lang="en-US"/>
              <a:t/>
            </a:r>
          </a:p>
          <a:p>
            <a:r>
              <a:rPr lang="en-US"/>
              <a:t>The Discovery - "Attention weights correctly identified important sentences, even when text generation failed"</a:t>
            </a:r>
          </a:p>
          <a:p>
            <a:r>
              <a:rPr lang="en-US"/>
              <a:t>The Pivot - "Instead of using LSTM for generation, we could use it for selection:</a:t>
            </a:r>
          </a:p>
          <a:p>
            <a:r>
              <a:rPr lang="en-US"/>
              <a:t>Score sentences using attention weights</a:t>
            </a:r>
          </a:p>
          <a:p>
            <a:r>
              <a:rPr lang="en-US"/>
              <a:t>Select the top 55% of attention mass</a:t>
            </a:r>
          </a:p>
          <a:p>
            <a:r>
              <a:rPr lang="en-US"/>
              <a:t>Pass only the filtered text to the next stage"</a:t>
            </a:r>
          </a:p>
          <a:p>
            <a:r>
              <a:rPr lang="en-US"/>
              <a:t>Stage 1 Born - "This became our sentence selection mechanism - the foundation of the entire pipeline"</a:t>
            </a:r>
          </a:p>
          <a:p>
            <a:r>
              <a:rPr lang="en-US"/>
              <a:t>Explain the Attention Heatmap:</a:t>
            </a:r>
          </a:p>
          <a:p>
            <a:r>
              <a:rPr lang="en-US"/>
              <a:t>"Darker words receive more attention from the decoder. Medical terms, diagnoses, and treatments naturally attract higher weights because the decoder focuses on them during generation attempts."</a:t>
            </a:r>
          </a:p>
          <a:p>
            <a:r>
              <a:rPr lang="en-US"/>
              <a:t/>
            </a:r>
          </a:p>
          <a:p>
            <a:r>
              <a:rPr lang="en-US"/>
              <a:t>Transition:</a:t>
            </a:r>
          </a:p>
          <a:p>
            <a:r>
              <a:rPr lang="en-US"/>
              <a:t>"With a way to filter important content, we now needed a model that could generate fluent summaries."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7: FINDING THE WORDS: BART TRANSFORMER</a:t>
            </a:r>
          </a:p>
          <a:p>
            <a:r>
              <a:rPr lang="en-US"/>
              <a:t>Duration: 1.5 minutes</a:t>
            </a:r>
          </a:p>
          <a:p>
            <a:r>
              <a:rPr lang="en-US"/>
              <a:t/>
            </a:r>
          </a:p>
          <a:p>
            <a:r>
              <a:rPr lang="en-US"/>
              <a:t>The Solution:</a:t>
            </a:r>
          </a:p>
          <a:p>
            <a:r>
              <a:rPr lang="en-US"/>
              <a:t>"Instead of trying to fix LSTM's text generation, we integrated BART - a pre-trained transformer model already fine-tuned on summarization tasks."</a:t>
            </a:r>
          </a:p>
          <a:p>
            <a:r>
              <a:rPr lang="en-US"/>
              <a:t/>
            </a:r>
          </a:p>
          <a:p>
            <a:r>
              <a:rPr lang="en-US"/>
              <a:t>BART Advantages:</a:t>
            </a:r>
          </a:p>
          <a:p>
            <a:r>
              <a:rPr lang="en-US"/>
              <a:t/>
            </a:r>
          </a:p>
          <a:p>
            <a:r>
              <a:rPr lang="en-US"/>
              <a:t>facebook/bart-large-cnn - Pre-trained on CNN/DailyMail</a:t>
            </a:r>
          </a:p>
          <a:p>
            <a:r>
              <a:rPr lang="en-US"/>
              <a:t>No fine-tuning needed - Ready to use out of the box</a:t>
            </a:r>
          </a:p>
          <a:p>
            <a:r>
              <a:rPr lang="en-US"/>
              <a:t>Fluent output - Generates human-like summaries</a:t>
            </a:r>
          </a:p>
          <a:p>
            <a:r>
              <a:rPr lang="en-US"/>
              <a:t>Two Processing Modes:</a:t>
            </a:r>
          </a:p>
          <a:p>
            <a:r>
              <a:rPr lang="en-US"/>
              <a:t/>
            </a:r>
          </a:p>
          <a:p>
            <a:r>
              <a:rPr lang="en-US"/>
              <a:t>Standard Mode - "LSTM-filtered text → BART, max 180 tokens, 4 beams - FAST"</a:t>
            </a:r>
          </a:p>
          <a:p>
            <a:r>
              <a:rPr lang="en-US"/>
              <a:t>High-Accuracy Mode - "Full text → BART, max 280 tokens, 8 beams - COMPREHENSIVE"</a:t>
            </a:r>
          </a:p>
          <a:p>
            <a:r>
              <a:rPr lang="en-US"/>
              <a:t>Show the Example:</a:t>
            </a:r>
          </a:p>
          <a:p>
            <a:r>
              <a:rPr lang="en-US"/>
              <a:t>Input: "Patient with chest pain, shortness of breath. Diagnosed with Type 2 Diabetes and hypertension..."</a:t>
            </a:r>
          </a:p>
          <a:p>
            <a:r>
              <a:rPr lang="en-US"/>
              <a:t>BART Output: "56-year-old male diagnosed with Type 2 Diabetes and hypertension. Prescribed metformin and lisinopril."</a:t>
            </a:r>
          </a:p>
          <a:p>
            <a:r>
              <a:rPr lang="en-US"/>
              <a:t/>
            </a:r>
          </a:p>
          <a:p>
            <a:r>
              <a:rPr lang="en-US"/>
              <a:t>Transition:</a:t>
            </a:r>
          </a:p>
          <a:p>
            <a:r>
              <a:rPr lang="en-US"/>
              <a:t>"Finally, we had fluent summaries. But doctors don't just need summaries - they need to understand the medical entities and their relationships."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8: THE MEDICAL EYE: BIOBERT NER</a:t>
            </a:r>
          </a:p>
          <a:p>
            <a:r>
              <a:rPr lang="en-US"/>
              <a:t>Duration: 1.5 minutes</a:t>
            </a:r>
          </a:p>
          <a:p>
            <a:r>
              <a:rPr lang="en-US"/>
              <a:t/>
            </a:r>
          </a:p>
          <a:p>
            <a:r>
              <a:rPr lang="en-US"/>
              <a:t>Adding Medical Understanding:</a:t>
            </a:r>
          </a:p>
          <a:p>
            <a:r>
              <a:rPr lang="en-US"/>
              <a:t>"To extract structured medical information, we integrated BioBERT - a model specifically trained on biomedical literature."</a:t>
            </a:r>
          </a:p>
          <a:p>
            <a:r>
              <a:rPr lang="en-US"/>
              <a:t/>
            </a:r>
          </a:p>
          <a:p>
            <a:r>
              <a:rPr lang="en-US"/>
              <a:t>Model Details:</a:t>
            </a:r>
          </a:p>
          <a:p>
            <a:r>
              <a:rPr lang="en-US"/>
              <a:t/>
            </a:r>
          </a:p>
          <a:p>
            <a:r>
              <a:rPr lang="en-US"/>
              <a:t>d4data/biomedical-ner-all - Pre-trained on medical texts</a:t>
            </a:r>
          </a:p>
          <a:p>
            <a:r>
              <a:rPr lang="en-US"/>
              <a:t>No fine-tuning required - Ready for clinical use</a:t>
            </a:r>
          </a:p>
          <a:p>
            <a:r>
              <a:rPr lang="en-US"/>
              <a:t>Four Entity Types:</a:t>
            </a:r>
          </a:p>
          <a:p>
            <a:r>
              <a:rPr lang="en-US"/>
              <a:t/>
            </a:r>
          </a:p>
          <a:p>
            <a:r>
              <a:rPr lang="en-US"/>
              <a:t>DISEASE (Red) - "Type 2 Diabetes, Hypertension, Pneumonia"</a:t>
            </a:r>
          </a:p>
          <a:p>
            <a:r>
              <a:rPr lang="en-US"/>
              <a:t>DRUG (Blue) - "Metformin 500mg, Lisinopril 10mg, Aspirin"</a:t>
            </a:r>
          </a:p>
          <a:p>
            <a:r>
              <a:rPr lang="en-US"/>
              <a:t>SYMPTOM (Orange) - "Chest pain, Shortness of breath, Dizziness"</a:t>
            </a:r>
          </a:p>
          <a:p>
            <a:r>
              <a:rPr lang="en-US"/>
              <a:t>TREATMENT (Green) - "Cardiology consultation, Oxygen therapy, Bed rest"</a:t>
            </a:r>
          </a:p>
          <a:p>
            <a:r>
              <a:rPr lang="en-US"/>
              <a:t>The Problem:</a:t>
            </a:r>
          </a:p>
          <a:p>
            <a:r>
              <a:rPr lang="en-US"/>
              <a:t>"But raw BioBERT output is messy. It produces fragments like 'hyper ##ten ##sion', generic terms like 'patient', and negated phrases like 'no history of diabetes' that should be excluded."</a:t>
            </a:r>
          </a:p>
          <a:p>
            <a:r>
              <a:rPr lang="en-US"/>
              <a:t/>
            </a:r>
          </a:p>
          <a:p>
            <a:r>
              <a:rPr lang="en-US"/>
              <a:t>Transition:</a:t>
            </a:r>
          </a:p>
          <a:p>
            <a:r>
              <a:rPr lang="en-US"/>
              <a:t>"We had to build a cleaning pipeline to transform this noisy output into reliable medical entitie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9: CLEANING THE MESS</a:t>
            </a:r>
          </a:p>
          <a:p>
            <a:r>
              <a:rPr lang="en-US"/>
              <a:t>Duration: 2 minutes</a:t>
            </a:r>
          </a:p>
          <a:p>
            <a:r>
              <a:rPr lang="en-US"/>
              <a:t/>
            </a:r>
          </a:p>
          <a:p>
            <a:r>
              <a:rPr lang="en-US"/>
              <a:t>Before vs After:</a:t>
            </a:r>
          </a:p>
          <a:p>
            <a:r>
              <a:rPr lang="en-US"/>
              <a:t>Show the dramatic transformation:</a:t>
            </a:r>
          </a:p>
          <a:p>
            <a:r>
              <a:rPr lang="en-US"/>
              <a:t/>
            </a:r>
          </a:p>
          <a:p>
            <a:r>
              <a:rPr lang="en-US"/>
              <a:t>BEFORE: "hyper ##ten ##sion", "patient", "no history of diabetes", "##met", "test", "normal"</a:t>
            </a:r>
          </a:p>
          <a:p>
            <a:r>
              <a:rPr lang="en-US"/>
              <a:t>AFTER: "Hypertension", "Metformin", "Diabetes"</a:t>
            </a:r>
          </a:p>
          <a:p>
            <a:r>
              <a:rPr lang="en-US"/>
              <a:t>The 6-Step Filtering Pipeline:</a:t>
            </a:r>
          </a:p>
          <a:p>
            <a:r>
              <a:rPr lang="en-US"/>
              <a:t/>
            </a:r>
          </a:p>
          <a:p>
            <a:r>
              <a:rPr lang="en-US"/>
              <a:t>Chunking - "Split text into 512-character chunks because BERT models crash beyond 512 tokens"</a:t>
            </a:r>
          </a:p>
          <a:p>
            <a:r>
              <a:rPr lang="en-US"/>
              <a:t>Subword Merger - "Glue ## fragments back together: 'hyper' + '##ten' + '##sion' → 'hypertension'"</a:t>
            </a:r>
          </a:p>
          <a:p>
            <a:r>
              <a:rPr lang="en-US"/>
              <a:t>Confidence Filter - "Reject entities with confidence score below 80%"</a:t>
            </a:r>
          </a:p>
          <a:p>
            <a:r>
              <a:rPr lang="en-US"/>
              <a:t>Stopword Removal - "Remove generic terms like 'patient', 'history', 'test', 'normal'"</a:t>
            </a:r>
          </a:p>
          <a:p>
            <a:r>
              <a:rPr lang="en-US"/>
              <a:t>Negation Filter - "Drop phrases starting with negations: 'no history of...', 'denies...', 'negative for...'"</a:t>
            </a:r>
          </a:p>
          <a:p>
            <a:r>
              <a:rPr lang="en-US"/>
              <a:t>Deduplication - "Keep only the highest-scored version of duplicate entities"</a:t>
            </a:r>
          </a:p>
          <a:p>
            <a:r>
              <a:rPr lang="en-US"/>
              <a:t>Result:</a:t>
            </a:r>
          </a:p>
          <a:p>
            <a:r>
              <a:rPr lang="en-US"/>
              <a:t>"Clean, reliable medical entities ready for clinical analysis."</a:t>
            </a:r>
          </a:p>
          <a:p>
            <a:r>
              <a:rPr lang="en-US"/>
              <a:t/>
            </a:r>
          </a:p>
          <a:p>
            <a:r>
              <a:rPr lang="en-US"/>
              <a:t>Transition:</a:t>
            </a:r>
          </a:p>
          <a:p>
            <a:r>
              <a:rPr lang="en-US"/>
              <a:t>"With reliable entities extracted, we could now add clinical intelligence - risk assessment and confidence scoring."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10: THINKING LIKE A DOCTOR</a:t>
            </a:r>
          </a:p>
          <a:p>
            <a:r>
              <a:rPr lang="en-US"/>
              <a:t>Duration: 2 minutes</a:t>
            </a:r>
          </a:p>
          <a:p>
            <a:r>
              <a:rPr lang="en-US"/>
              <a:t/>
            </a:r>
          </a:p>
          <a:p>
            <a:r>
              <a:rPr lang="en-US"/>
              <a:t>Risk Classification:</a:t>
            </a:r>
          </a:p>
          <a:p>
            <a:r>
              <a:rPr lang="en-US"/>
              <a:t>"We built a rule-based risk classifier that thinks like a doctor would."</a:t>
            </a:r>
          </a:p>
          <a:p>
            <a:r>
              <a:rPr lang="en-US"/>
              <a:t/>
            </a:r>
          </a:p>
          <a:p>
            <a:r>
              <a:rPr lang="en-US"/>
              <a:t>Three Risk Levels:</a:t>
            </a:r>
          </a:p>
          <a:p>
            <a:r>
              <a:rPr lang="en-US"/>
              <a:t/>
            </a:r>
          </a:p>
          <a:p>
            <a:r>
              <a:rPr lang="en-US"/>
              <a:t>HIGH RISK (Score ≥60) - "Sepsis, stroke, cancer, myocardial infarction - conditions requiring immediate intervention"</a:t>
            </a:r>
          </a:p>
          <a:p>
            <a:r>
              <a:rPr lang="en-US"/>
              <a:t>MODERATE RISK (Score 30-59) - "Diabetes, hypertension, pneumonia - chronic conditions needing management"</a:t>
            </a:r>
          </a:p>
          <a:p>
            <a:r>
              <a:rPr lang="en-US"/>
              <a:t>LOW RISK (Score &lt;30) - "Stable condition, routine follow-up - no critical indicators"</a:t>
            </a:r>
          </a:p>
          <a:p>
            <a:r>
              <a:rPr lang="en-US"/>
              <a:t>Confidence Scoring:</a:t>
            </a:r>
          </a:p>
          <a:p>
            <a:r>
              <a:rPr lang="en-US"/>
              <a:t>"Every analysis comes with a composite confidence score:"</a:t>
            </a:r>
          </a:p>
          <a:p>
            <a:r>
              <a:rPr lang="en-US"/>
              <a:t/>
            </a:r>
          </a:p>
          <a:p>
            <a:r>
              <a:rPr lang="en-US"/>
              <a:t>50% Entity Confidence - Based on how many entities were extracted</a:t>
            </a:r>
          </a:p>
          <a:p>
            <a:r>
              <a:rPr lang="en-US"/>
              <a:t>40% BART Confidence - Based on summary length and quality</a:t>
            </a:r>
          </a:p>
          <a:p>
            <a:r>
              <a:rPr lang="en-US"/>
              <a:t>10% LSTM Confidence - Based on filtered text length</a:t>
            </a:r>
          </a:p>
          <a:p>
            <a:r>
              <a:rPr lang="en-US"/>
              <a:t>Show the Example:</a:t>
            </a:r>
          </a:p>
          <a:p>
            <a:r>
              <a:rPr lang="en-US"/>
              <a:t>"Patient with diabetes + hypertension → HIGH RISK, 76.3% confidence"</a:t>
            </a:r>
          </a:p>
          <a:p>
            <a:r>
              <a:rPr lang="en-US"/>
              <a:t/>
            </a:r>
          </a:p>
          <a:p>
            <a:r>
              <a:rPr lang="en-US"/>
              <a:t>Transition:</a:t>
            </a:r>
          </a:p>
          <a:p>
            <a:r>
              <a:rPr lang="en-US"/>
              <a:t>"We had all the intelligence. Now we needed to make it accessible to doctors at the point of care."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11: MAKING IT ACCESSIBLE</a:t>
            </a:r>
          </a:p>
          <a:p>
            <a:r>
              <a:rPr lang="en-US"/>
              <a:t>Duration: 1.5 minutes</a:t>
            </a:r>
          </a:p>
          <a:p>
            <a:r>
              <a:rPr lang="en-US"/>
              <a:t/>
            </a:r>
          </a:p>
          <a:p>
            <a:r>
              <a:rPr lang="en-US"/>
              <a:t>The API Backend:</a:t>
            </a:r>
          </a:p>
          <a:p>
            <a:r>
              <a:rPr lang="en-US"/>
              <a:t>"We built a FastAPI server with three key endpoints:"</a:t>
            </a:r>
          </a:p>
          <a:p>
            <a:r>
              <a:rPr lang="en-US"/>
              <a:t/>
            </a:r>
          </a:p>
          <a:p>
            <a:r>
              <a:rPr lang="en-US"/>
              <a:t>/api/health - Check if models are loaded and server is ready</a:t>
            </a:r>
          </a:p>
          <a:p>
            <a:r>
              <a:rPr lang="en-US"/>
              <a:t>/api/version - Get pipeline version and model information</a:t>
            </a:r>
          </a:p>
          <a:p>
            <a:r>
              <a:rPr lang="en-US"/>
              <a:t>/api/analyze - The main inference endpoint that processes medical reports</a:t>
            </a:r>
          </a:p>
          <a:p>
            <a:r>
              <a:rPr lang="en-US"/>
              <a:t>Features:</a:t>
            </a:r>
          </a:p>
          <a:p>
            <a:r>
              <a:rPr lang="en-US"/>
              <a:t/>
            </a:r>
          </a:p>
          <a:p>
            <a:r>
              <a:rPr lang="en-US"/>
              <a:t>PDF/TXT file upload support</a:t>
            </a:r>
          </a:p>
          <a:p>
            <a:r>
              <a:rPr lang="en-US"/>
              <a:t>Standard and High-Accuracy processing modes</a:t>
            </a:r>
          </a:p>
          <a:p>
            <a:r>
              <a:rPr lang="en-US"/>
              <a:t>Average response time under 3 seconds</a:t>
            </a:r>
          </a:p>
          <a:p>
            <a:r>
              <a:rPr lang="en-US"/>
              <a:t>The Medical Slip Dashboard:</a:t>
            </a:r>
          </a:p>
          <a:p>
            <a:r>
              <a:rPr lang="en-US"/>
              <a:t>"The frontend uses a Glassmorphism design with:"</a:t>
            </a:r>
          </a:p>
          <a:p>
            <a:r>
              <a:rPr lang="en-US"/>
              <a:t/>
            </a:r>
          </a:p>
          <a:p>
            <a:r>
              <a:rPr lang="en-US"/>
              <a:t>Drag-and-drop file upload</a:t>
            </a:r>
          </a:p>
          <a:p>
            <a:r>
              <a:rPr lang="en-US"/>
              <a:t>Interactive visualization of results</a:t>
            </a:r>
          </a:p>
          <a:p>
            <a:r>
              <a:rPr lang="en-US"/>
              <a:t>Color-coded entities (red diseases, blue drugs, orange symptoms, green treatments)</a:t>
            </a:r>
          </a:p>
          <a:p>
            <a:r>
              <a:rPr lang="en-US"/>
              <a:t>Visual risk level indicators</a:t>
            </a:r>
          </a:p>
          <a:p>
            <a:r>
              <a:rPr lang="en-US"/>
              <a:t>Downloadable reports</a:t>
            </a:r>
          </a:p>
          <a:p>
            <a:r>
              <a:rPr lang="en-US"/>
              <a:t>Transition:</a:t>
            </a:r>
          </a:p>
          <a:p>
            <a:r>
              <a:rPr lang="en-US"/>
              <a:t>"But how does all of this work together in practice? Let me show you the complete journey."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12: HOW IT WORKS</a:t>
            </a:r>
          </a:p>
          <a:p>
            <a:r>
              <a:rPr lang="en-US"/>
              <a:t>Duration: 2 minutes</a:t>
            </a:r>
          </a:p>
          <a:p>
            <a:r>
              <a:rPr lang="en-US"/>
              <a:t/>
            </a:r>
          </a:p>
          <a:p>
            <a:r>
              <a:rPr lang="en-US"/>
              <a:t>Walk Through the Complete Flow:</a:t>
            </a:r>
          </a:p>
          <a:p>
            <a:r>
              <a:rPr lang="en-US"/>
              <a:t/>
            </a:r>
          </a:p>
          <a:p>
            <a:r>
              <a:rPr lang="en-US"/>
              <a:t>UPLOAD - "Doctor uploads a PDF or TXT file - 'Patient with chest pain, diabetes...'"</a:t>
            </a:r>
          </a:p>
          <a:p>
            <a:r>
              <a:rPr lang="en-US"/>
              <a:t>EXTRACT - "Our system extracts text, cleaning and truncating at 50,000 characters"</a:t>
            </a:r>
          </a:p>
          <a:p>
            <a:r>
              <a:rPr lang="en-US"/>
              <a:t>LSTM ATTENTION - "The LSTM model calculates attention weights and selects the top 55% of sentences by attention mass"</a:t>
            </a:r>
          </a:p>
          <a:p>
            <a:r>
              <a:rPr lang="en-US"/>
              <a:t>BART SUMMARY - "BART generates a fluent summary: '56-year-old male with diabetes and hypertension. Prescribed metformin and lisinopril.'"</a:t>
            </a:r>
          </a:p>
          <a:p>
            <a:r>
              <a:rPr lang="en-US"/>
              <a:t>BIOMEDICAL NER - "BioBERT extracts: Disease: Diabetes, Drug: Metformin 500mg, Symptom: Chest pain"</a:t>
            </a:r>
          </a:p>
          <a:p>
            <a:r>
              <a:rPr lang="en-US"/>
              <a:t>RISK &amp; CONFIDENCE - "Our analytics engine classifies: HIGH RISK, 76.3% confidence"</a:t>
            </a:r>
          </a:p>
          <a:p>
            <a:r>
              <a:rPr lang="en-US"/>
              <a:t>MEDICAL SLIP - "The interactive dashboard presents all results in a clear, actionable format"</a:t>
            </a:r>
          </a:p>
          <a:p>
            <a:r>
              <a:rPr lang="en-US"/>
              <a:t>Emphasis:</a:t>
            </a:r>
          </a:p>
          <a:p>
            <a:r>
              <a:rPr lang="en-US"/>
              <a:t>"The entire pipeline processes a 30-page medical report in just 2.3 seconds - compared to the 2 hours a doctor would need to review it manually."</a:t>
            </a:r>
          </a:p>
          <a:p>
            <a:r>
              <a:rPr lang="en-US"/>
              <a:t/>
            </a:r>
          </a:p>
          <a:p>
            <a:r>
              <a:rPr lang="en-US"/>
              <a:t>Transition:</a:t>
            </a:r>
          </a:p>
          <a:p>
            <a:r>
              <a:rPr lang="en-US"/>
              <a:t>"This is MediReporter. From a doctor's struggle at 2 AM to an AI-powered medical intelligence system."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13: MEDIREPORTER: FROM VISION TO REALITY</a:t>
            </a:r>
          </a:p>
          <a:p>
            <a:r>
              <a:rPr lang="en-US"/>
              <a:t>Duration: 1.5 minutes</a:t>
            </a:r>
          </a:p>
          <a:p>
            <a:r>
              <a:rPr lang="en-US"/>
              <a:t/>
            </a:r>
          </a:p>
          <a:p>
            <a:r>
              <a:rPr lang="en-US"/>
              <a:t>The Transformation:</a:t>
            </a:r>
          </a:p>
          <a:p>
            <a:r>
              <a:rPr lang="en-US"/>
              <a:t/>
            </a:r>
          </a:p>
          <a:p>
            <a:r>
              <a:rPr lang="en-US"/>
              <a:t>BEFORE MediReporter:</a:t>
            </a:r>
          </a:p>
          <a:p>
            <a:r>
              <a:rPr lang="en-US"/>
              <a:t/>
            </a:r>
          </a:p>
          <a:p>
            <a:r>
              <a:rPr lang="en-US"/>
              <a:t>2 hours of manual review per patient</a:t>
            </a:r>
          </a:p>
          <a:p>
            <a:r>
              <a:rPr lang="en-US"/>
              <a:t>Missed risk factors due to fatigue</a:t>
            </a:r>
          </a:p>
          <a:p>
            <a:r>
              <a:rPr lang="en-US"/>
              <a:t>Physician burnout from paperwork overload</a:t>
            </a:r>
          </a:p>
          <a:p>
            <a:r>
              <a:rPr lang="en-US"/>
              <a:t>Critical delays in treatment decisions</a:t>
            </a:r>
          </a:p>
          <a:p>
            <a:r>
              <a:rPr lang="en-US"/>
              <a:t>AFTER MediReporter:</a:t>
            </a:r>
          </a:p>
          <a:p>
            <a:r>
              <a:rPr lang="en-US"/>
              <a:t/>
            </a:r>
          </a:p>
          <a:p>
            <a:r>
              <a:rPr lang="en-US"/>
              <a:t>2.3 seconds for complete AI analysis</a:t>
            </a:r>
          </a:p>
          <a:p>
            <a:r>
              <a:rPr lang="en-US"/>
              <a:t>76%+ accuracy in risk assessment</a:t>
            </a:r>
          </a:p>
          <a:p>
            <a:r>
              <a:rPr lang="en-US"/>
              <a:t>Actionable insights delivered instantly</a:t>
            </a:r>
          </a:p>
          <a:p>
            <a:r>
              <a:rPr lang="en-US"/>
              <a:t>No critical information missed</a:t>
            </a:r>
          </a:p>
          <a:p>
            <a:r>
              <a:rPr lang="en-US"/>
              <a:t>Key Achievements:</a:t>
            </a:r>
          </a:p>
          <a:p>
            <a:r>
              <a:rPr lang="en-US"/>
              <a:t/>
            </a:r>
          </a:p>
          <a:p>
            <a:r>
              <a:rPr lang="en-US"/>
              <a:t>3-Stage AI Pipeline (LSTM + BART + BioBERT)</a:t>
            </a:r>
          </a:p>
          <a:p>
            <a:r>
              <a:rPr lang="en-US"/>
              <a:t>Custom LSTM model trained from scratch</a:t>
            </a:r>
          </a:p>
          <a:p>
            <a:r>
              <a:rPr lang="en-US"/>
              <a:t>Real-time named entity recognition</a:t>
            </a:r>
          </a:p>
          <a:p>
            <a:r>
              <a:rPr lang="en-US"/>
              <a:t>Automated risk assessment</a:t>
            </a:r>
          </a:p>
          <a:p>
            <a:r>
              <a:rPr lang="en-US"/>
              <a:t>Interactive medical dashboard</a:t>
            </a:r>
          </a:p>
          <a:p>
            <a:r>
              <a:rPr lang="en-US"/>
              <a:t>The Impact:</a:t>
            </a:r>
          </a:p>
          <a:p>
            <a:r>
              <a:rPr lang="en-US"/>
              <a:t>"MediReporter is transforming clinical workflows, saving lives through early detection, and reducing physician burnout."</a:t>
            </a:r>
          </a:p>
          <a:p>
            <a:r>
              <a:rPr lang="en-US"/>
              <a:t/>
            </a:r>
          </a:p>
          <a:p>
            <a:r>
              <a:rPr lang="en-US"/>
              <a:t>Closing Statement:</a:t>
            </a:r>
          </a:p>
          <a:p>
            <a:r>
              <a:rPr lang="en-US"/>
              <a:t>(Say with conviction) "The future of medical reporting is here. Thank you."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jpeg" Type="http://schemas.openxmlformats.org/officeDocument/2006/relationships/image"/><Relationship Id="rId4" Target="../media/image2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12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0.jpeg" Type="http://schemas.openxmlformats.org/officeDocument/2006/relationships/image"/><Relationship Id="rId4" Target="../media/image2.jpe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2.jpe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42.png" Type="http://schemas.openxmlformats.org/officeDocument/2006/relationships/image"/><Relationship Id="rId4" Target="../media/image2.jpe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48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12" Target="../media/image74.png" Type="http://schemas.openxmlformats.org/officeDocument/2006/relationships/image"/><Relationship Id="rId13" Target="../media/image75.pn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16" Target="../media/image78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png" Type="http://schemas.openxmlformats.org/officeDocument/2006/relationships/image"/><Relationship Id="rId12" Target="../media/image87.png" Type="http://schemas.openxmlformats.org/officeDocument/2006/relationships/image"/><Relationship Id="rId13" Target="../media/image58.png" Type="http://schemas.openxmlformats.org/officeDocument/2006/relationships/image"/><Relationship Id="rId14" Target="../media/image88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79.png" Type="http://schemas.openxmlformats.org/officeDocument/2006/relationships/image"/><Relationship Id="rId4" Target="../media/image2.jpe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94.png" Type="http://schemas.openxmlformats.org/officeDocument/2006/relationships/image"/><Relationship Id="rId12" Target="../media/image95.png" Type="http://schemas.openxmlformats.org/officeDocument/2006/relationships/image"/><Relationship Id="rId13" Target="../media/image96.png" Type="http://schemas.openxmlformats.org/officeDocument/2006/relationships/image"/><Relationship Id="rId14" Target="../media/image97.png" Type="http://schemas.openxmlformats.org/officeDocument/2006/relationships/image"/><Relationship Id="rId15" Target="../media/image98.png" Type="http://schemas.openxmlformats.org/officeDocument/2006/relationships/image"/><Relationship Id="rId16" Target="../media/image99.png" Type="http://schemas.openxmlformats.org/officeDocument/2006/relationships/image"/><Relationship Id="rId17" Target="../media/image100.png" Type="http://schemas.openxmlformats.org/officeDocument/2006/relationships/image"/><Relationship Id="rId18" Target="../media/image101.png" Type="http://schemas.openxmlformats.org/officeDocument/2006/relationships/image"/><Relationship Id="rId19" Target="../media/image102.png" Type="http://schemas.openxmlformats.org/officeDocument/2006/relationships/image"/><Relationship Id="rId2" Target="../notesSlides/notesSlide13.xml" Type="http://schemas.openxmlformats.org/officeDocument/2006/relationships/notesSlide"/><Relationship Id="rId20" Target="../media/image103.png" Type="http://schemas.openxmlformats.org/officeDocument/2006/relationships/image"/><Relationship Id="rId21" Target="../media/image104.png" Type="http://schemas.openxmlformats.org/officeDocument/2006/relationships/image"/><Relationship Id="rId22" Target="../media/image105.png" Type="http://schemas.openxmlformats.org/officeDocument/2006/relationships/image"/><Relationship Id="rId23" Target="../media/image106.png" Type="http://schemas.openxmlformats.org/officeDocument/2006/relationships/image"/><Relationship Id="rId3" Target="../media/image2.jpeg" Type="http://schemas.openxmlformats.org/officeDocument/2006/relationships/image"/><Relationship Id="rId4" Target="../media/image89.png" Type="http://schemas.openxmlformats.org/officeDocument/2006/relationships/image"/><Relationship Id="rId5" Target="../media/image90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Relationship Id="rId9" Target="../media/image5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681"/>
            <a:ext cx="18165452" cy="1021831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15685" y="-155421"/>
            <a:ext cx="18796822" cy="11315954"/>
            <a:chOff x="0" y="0"/>
            <a:chExt cx="25081396" cy="150993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081356" cy="15099300"/>
            </a:xfrm>
            <a:custGeom>
              <a:avLst/>
              <a:gdLst/>
              <a:ahLst/>
              <a:cxnLst/>
              <a:rect r="r" b="b" t="t" l="l"/>
              <a:pathLst>
                <a:path h="15099300" w="25081356">
                  <a:moveTo>
                    <a:pt x="0" y="0"/>
                  </a:moveTo>
                  <a:lnTo>
                    <a:pt x="25081356" y="0"/>
                  </a:lnTo>
                  <a:lnTo>
                    <a:pt x="25081356" y="15099300"/>
                  </a:lnTo>
                  <a:lnTo>
                    <a:pt x="0" y="15099300"/>
                  </a:lnTo>
                  <a:close/>
                </a:path>
              </a:pathLst>
            </a:custGeom>
            <a:gradFill rotWithShape="true">
              <a:gsLst>
                <a:gs pos="0">
                  <a:srgbClr val="0F172A">
                    <a:alpha val="92000"/>
                  </a:srgbClr>
                </a:gs>
                <a:gs pos="50000">
                  <a:srgbClr val="1E293B">
                    <a:alpha val="88000"/>
                  </a:srgbClr>
                </a:gs>
                <a:gs pos="100000">
                  <a:srgbClr val="38BDF8">
                    <a:alpha val="15000"/>
                  </a:srgbClr>
                </a:gs>
              </a:gsLst>
              <a:lin ang="8100000"/>
            </a:gradFill>
            <a:ln w="66675" cap="sq">
              <a:solidFill>
                <a:srgbClr val="3CC02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3"/>
              <a:stretch>
                <a:fillRect l="0" t="-5387" r="0" b="-538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8039"/>
            <a:ext cx="18301840" cy="10295039"/>
            <a:chOff x="0" y="0"/>
            <a:chExt cx="24402453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adFill rotWithShape="true">
              <a:gsLst>
                <a:gs pos="0">
                  <a:srgbClr val="38BDF8">
                    <a:alpha val="20000"/>
                  </a:srgbClr>
                </a:gs>
                <a:gs pos="50000">
                  <a:srgbClr val="0F172A">
                    <a:alpha val="92000"/>
                  </a:srgbClr>
                </a:gs>
                <a:gs pos="100000">
                  <a:srgbClr val="0F172A">
                    <a:alpha val="95000"/>
                  </a:srgbClr>
                </a:gs>
              </a:gsLst>
              <a:lin ang="810000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869453" y="1718634"/>
            <a:ext cx="2142839" cy="555746"/>
            <a:chOff x="0" y="0"/>
            <a:chExt cx="2857119" cy="74099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857119" cy="740994"/>
              <a:chOff x="0" y="0"/>
              <a:chExt cx="2857119" cy="74099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857119" cy="741045"/>
              </a:xfrm>
              <a:custGeom>
                <a:avLst/>
                <a:gdLst/>
                <a:ahLst/>
                <a:cxnLst/>
                <a:rect r="r" b="b" t="t" l="l"/>
                <a:pathLst>
                  <a:path h="741045" w="2857119">
                    <a:moveTo>
                      <a:pt x="0" y="370459"/>
                    </a:moveTo>
                    <a:cubicBezTo>
                      <a:pt x="0" y="165862"/>
                      <a:pt x="165862" y="0"/>
                      <a:pt x="370459" y="0"/>
                    </a:cubicBezTo>
                    <a:lnTo>
                      <a:pt x="2486660" y="0"/>
                    </a:lnTo>
                    <a:cubicBezTo>
                      <a:pt x="2691257" y="0"/>
                      <a:pt x="2857119" y="165862"/>
                      <a:pt x="2857119" y="370459"/>
                    </a:cubicBezTo>
                    <a:cubicBezTo>
                      <a:pt x="2857119" y="575056"/>
                      <a:pt x="2691257" y="741045"/>
                      <a:pt x="2486660" y="741045"/>
                    </a:cubicBezTo>
                    <a:lnTo>
                      <a:pt x="370459" y="741045"/>
                    </a:lnTo>
                    <a:cubicBezTo>
                      <a:pt x="165862" y="741045"/>
                      <a:pt x="0" y="575056"/>
                      <a:pt x="0" y="370459"/>
                    </a:cubicBezTo>
                    <a:close/>
                  </a:path>
                </a:pathLst>
              </a:custGeom>
              <a:solidFill>
                <a:srgbClr val="38BDF8">
                  <a:alpha val="1961"/>
                </a:srgbClr>
              </a:solidFill>
              <a:ln w="12392" cap="sq">
                <a:solidFill>
                  <a:srgbClr val="38BDF8"/>
                </a:solidFill>
                <a:prstDash val="solid"/>
                <a:miter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32359" y="179845"/>
              <a:ext cx="2192401" cy="381296"/>
              <a:chOff x="0" y="0"/>
              <a:chExt cx="2192401" cy="38129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92407" cy="381300"/>
              </a:xfrm>
              <a:custGeom>
                <a:avLst/>
                <a:gdLst/>
                <a:ahLst/>
                <a:cxnLst/>
                <a:rect r="r" b="b" t="t" l="l"/>
                <a:pathLst>
                  <a:path h="381300" w="2192407">
                    <a:moveTo>
                      <a:pt x="0" y="0"/>
                    </a:moveTo>
                    <a:lnTo>
                      <a:pt x="2192407" y="0"/>
                    </a:lnTo>
                    <a:lnTo>
                      <a:pt x="2192407" y="381300"/>
                    </a:lnTo>
                    <a:lnTo>
                      <a:pt x="0" y="3813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62036" r="0" b="-62034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192401" cy="41939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51"/>
                  </a:lnSpc>
                </a:pPr>
                <a:r>
                  <a:rPr lang="en-US" sz="1256" b="true">
                    <a:solidFill>
                      <a:srgbClr val="7DD3FC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THE PROBLEM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915095" y="1043807"/>
            <a:ext cx="16471659" cy="2144801"/>
            <a:chOff x="0" y="0"/>
            <a:chExt cx="21962212" cy="28597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62208" cy="2859733"/>
            </a:xfrm>
            <a:custGeom>
              <a:avLst/>
              <a:gdLst/>
              <a:ahLst/>
              <a:cxnLst/>
              <a:rect r="r" b="b" t="t" l="l"/>
              <a:pathLst>
                <a:path h="2859733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2859733"/>
                  </a:lnTo>
                  <a:lnTo>
                    <a:pt x="0" y="28597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641" r="0" b="-9964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21962212" cy="2945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318"/>
                </a:lnSpc>
              </a:pPr>
              <a:r>
                <a:rPr lang="en-US" sz="538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THE 2 AM</a:t>
              </a:r>
            </a:p>
            <a:p>
              <a:pPr algn="l">
                <a:lnSpc>
                  <a:spcPts val="7318"/>
                </a:lnSpc>
              </a:pPr>
              <a:r>
                <a:rPr lang="en-US" sz="5386" b="true">
                  <a:solidFill>
                    <a:srgbClr val="38BD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STRUGGLE</a:t>
              </a:r>
              <a:r>
                <a:rPr lang="en-US" sz="538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5095" y="3417379"/>
            <a:ext cx="10981106" cy="1115296"/>
            <a:chOff x="0" y="0"/>
            <a:chExt cx="14641474" cy="14870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41472" cy="1487068"/>
            </a:xfrm>
            <a:custGeom>
              <a:avLst/>
              <a:gdLst/>
              <a:ahLst/>
              <a:cxnLst/>
              <a:rect r="r" b="b" t="t" l="l"/>
              <a:pathLst>
                <a:path h="1487068" w="14641472">
                  <a:moveTo>
                    <a:pt x="0" y="0"/>
                  </a:moveTo>
                  <a:lnTo>
                    <a:pt x="14641472" y="0"/>
                  </a:lnTo>
                  <a:lnTo>
                    <a:pt x="14641472" y="1487068"/>
                  </a:lnTo>
                  <a:lnTo>
                    <a:pt x="0" y="14870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847" r="0" b="-14184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14641474" cy="1610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05"/>
                </a:lnSpc>
              </a:pPr>
              <a:r>
                <a:rPr lang="en-US" sz="2154" b="true">
                  <a:solidFill>
                    <a:srgbClr val="E2E8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When Minutes Matter,</a:t>
              </a:r>
            </a:p>
            <a:p>
              <a:pPr algn="l">
                <a:lnSpc>
                  <a:spcPts val="3805"/>
                </a:lnSpc>
              </a:pPr>
              <a:r>
                <a:rPr lang="en-US" sz="2154" b="true">
                  <a:solidFill>
                    <a:srgbClr val="E2E8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Doctors Drown in Paperwork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8895" y="4984042"/>
            <a:ext cx="5274173" cy="2157193"/>
            <a:chOff x="0" y="0"/>
            <a:chExt cx="7032231" cy="28762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32117" cy="2876169"/>
            </a:xfrm>
            <a:custGeom>
              <a:avLst/>
              <a:gdLst/>
              <a:ahLst/>
              <a:cxnLst/>
              <a:rect r="r" b="b" t="t" l="l"/>
              <a:pathLst>
                <a:path h="2876169" w="7032117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6418580" y="0"/>
                  </a:lnTo>
                  <a:cubicBezTo>
                    <a:pt x="6757416" y="0"/>
                    <a:pt x="7032117" y="274701"/>
                    <a:pt x="7032117" y="613537"/>
                  </a:cubicBezTo>
                  <a:lnTo>
                    <a:pt x="7032117" y="2262632"/>
                  </a:lnTo>
                  <a:cubicBezTo>
                    <a:pt x="7032117" y="2601468"/>
                    <a:pt x="6757416" y="2876169"/>
                    <a:pt x="6418580" y="2876169"/>
                  </a:cubicBezTo>
                  <a:lnTo>
                    <a:pt x="613537" y="2876169"/>
                  </a:lnTo>
                  <a:cubicBezTo>
                    <a:pt x="274701" y="2876296"/>
                    <a:pt x="0" y="2601595"/>
                    <a:pt x="0" y="2262632"/>
                  </a:cubicBezTo>
                  <a:lnTo>
                    <a:pt x="0" y="61353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72550" y="5678614"/>
            <a:ext cx="428949" cy="367675"/>
            <a:chOff x="0" y="0"/>
            <a:chExt cx="571932" cy="490233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71881" cy="490220"/>
            </a:xfrm>
            <a:custGeom>
              <a:avLst/>
              <a:gdLst/>
              <a:ahLst/>
              <a:cxnLst/>
              <a:rect r="r" b="b" t="t" l="l"/>
              <a:pathLst>
                <a:path h="490220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90220"/>
                  </a:lnTo>
                  <a:lnTo>
                    <a:pt x="0" y="49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9" b="-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873082" y="5347697"/>
            <a:ext cx="1844478" cy="908001"/>
            <a:chOff x="0" y="0"/>
            <a:chExt cx="2459304" cy="12106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59309" cy="1210672"/>
            </a:xfrm>
            <a:custGeom>
              <a:avLst/>
              <a:gdLst/>
              <a:ahLst/>
              <a:cxnLst/>
              <a:rect r="r" b="b" t="t" l="l"/>
              <a:pathLst>
                <a:path h="1210672" w="2459309">
                  <a:moveTo>
                    <a:pt x="0" y="0"/>
                  </a:moveTo>
                  <a:lnTo>
                    <a:pt x="2459309" y="0"/>
                  </a:lnTo>
                  <a:lnTo>
                    <a:pt x="2459309" y="1210672"/>
                  </a:lnTo>
                  <a:lnTo>
                    <a:pt x="0" y="1210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87" r="0" b="226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47625"/>
              <a:ext cx="2459304" cy="11630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4308" b="true">
                  <a:solidFill>
                    <a:srgbClr val="FCA5A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50%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73082" y="6091238"/>
            <a:ext cx="1844478" cy="285972"/>
            <a:chOff x="0" y="0"/>
            <a:chExt cx="2459304" cy="3812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59309" cy="381300"/>
            </a:xfrm>
            <a:custGeom>
              <a:avLst/>
              <a:gdLst/>
              <a:ahLst/>
              <a:cxnLst/>
              <a:rect r="r" b="b" t="t" l="l"/>
              <a:pathLst>
                <a:path h="381300" w="2459309">
                  <a:moveTo>
                    <a:pt x="0" y="0"/>
                  </a:moveTo>
                  <a:lnTo>
                    <a:pt x="2459309" y="0"/>
                  </a:lnTo>
                  <a:lnTo>
                    <a:pt x="2459309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5675" r="0" b="-7567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459304" cy="41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CBD5E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Time on Paperwork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72550" y="6548790"/>
            <a:ext cx="4546864" cy="228779"/>
            <a:chOff x="0" y="0"/>
            <a:chExt cx="6062485" cy="3050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62484" cy="305035"/>
            </a:xfrm>
            <a:custGeom>
              <a:avLst/>
              <a:gdLst/>
              <a:ahLst/>
              <a:cxnLst/>
              <a:rect r="r" b="b" t="t" l="l"/>
              <a:pathLst>
                <a:path h="305035" w="6062484">
                  <a:moveTo>
                    <a:pt x="0" y="0"/>
                  </a:moveTo>
                  <a:lnTo>
                    <a:pt x="6062484" y="0"/>
                  </a:lnTo>
                  <a:lnTo>
                    <a:pt x="6062484" y="305035"/>
                  </a:lnTo>
                  <a:lnTo>
                    <a:pt x="0" y="30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258" r="0" b="-3372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062485" cy="333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Instead of patient care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13833" y="4984042"/>
            <a:ext cx="5274173" cy="2157193"/>
            <a:chOff x="0" y="0"/>
            <a:chExt cx="7032231" cy="28762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32117" cy="2876169"/>
            </a:xfrm>
            <a:custGeom>
              <a:avLst/>
              <a:gdLst/>
              <a:ahLst/>
              <a:cxnLst/>
              <a:rect r="r" b="b" t="t" l="l"/>
              <a:pathLst>
                <a:path h="2876169" w="7032117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6418580" y="0"/>
                  </a:lnTo>
                  <a:cubicBezTo>
                    <a:pt x="6757416" y="0"/>
                    <a:pt x="7032117" y="274701"/>
                    <a:pt x="7032117" y="613537"/>
                  </a:cubicBezTo>
                  <a:lnTo>
                    <a:pt x="7032117" y="2262632"/>
                  </a:lnTo>
                  <a:cubicBezTo>
                    <a:pt x="7032117" y="2601468"/>
                    <a:pt x="6757416" y="2876169"/>
                    <a:pt x="6418580" y="2876169"/>
                  </a:cubicBezTo>
                  <a:lnTo>
                    <a:pt x="613537" y="2876169"/>
                  </a:lnTo>
                  <a:cubicBezTo>
                    <a:pt x="274701" y="2876296"/>
                    <a:pt x="0" y="2601595"/>
                    <a:pt x="0" y="226263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77488" y="5678614"/>
            <a:ext cx="428949" cy="367675"/>
            <a:chOff x="0" y="0"/>
            <a:chExt cx="571932" cy="490233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571881" cy="490220"/>
            </a:xfrm>
            <a:custGeom>
              <a:avLst/>
              <a:gdLst/>
              <a:ahLst/>
              <a:cxnLst/>
              <a:rect r="r" b="b" t="t" l="l"/>
              <a:pathLst>
                <a:path h="490220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90220"/>
                  </a:lnTo>
                  <a:lnTo>
                    <a:pt x="0" y="49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9" b="-2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478020" y="5347697"/>
            <a:ext cx="1672904" cy="908001"/>
            <a:chOff x="0" y="0"/>
            <a:chExt cx="2230539" cy="12106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30537" cy="1210672"/>
            </a:xfrm>
            <a:custGeom>
              <a:avLst/>
              <a:gdLst/>
              <a:ahLst/>
              <a:cxnLst/>
              <a:rect r="r" b="b" t="t" l="l"/>
              <a:pathLst>
                <a:path h="1210672" w="2230537">
                  <a:moveTo>
                    <a:pt x="0" y="0"/>
                  </a:moveTo>
                  <a:lnTo>
                    <a:pt x="2230537" y="0"/>
                  </a:lnTo>
                  <a:lnTo>
                    <a:pt x="2230537" y="1210672"/>
                  </a:lnTo>
                  <a:lnTo>
                    <a:pt x="0" y="1210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638" t="0" r="-2638" b="2441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47625"/>
              <a:ext cx="2230539" cy="11630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4308" b="true">
                  <a:solidFill>
                    <a:srgbClr val="FED7A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78020" y="6091238"/>
            <a:ext cx="1672904" cy="285972"/>
            <a:chOff x="0" y="0"/>
            <a:chExt cx="2230539" cy="3812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30537" cy="381300"/>
            </a:xfrm>
            <a:custGeom>
              <a:avLst/>
              <a:gdLst/>
              <a:ahLst/>
              <a:cxnLst/>
              <a:rect r="r" b="b" t="t" l="l"/>
              <a:pathLst>
                <a:path h="381300" w="2230537">
                  <a:moveTo>
                    <a:pt x="0" y="0"/>
                  </a:moveTo>
                  <a:lnTo>
                    <a:pt x="2230537" y="0"/>
                  </a:lnTo>
                  <a:lnTo>
                    <a:pt x="2230537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985" r="0" b="-6398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230539" cy="41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CBD5E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Pages Per Patient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877488" y="6548790"/>
            <a:ext cx="4546864" cy="228779"/>
            <a:chOff x="0" y="0"/>
            <a:chExt cx="6062485" cy="3050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62484" cy="305035"/>
            </a:xfrm>
            <a:custGeom>
              <a:avLst/>
              <a:gdLst/>
              <a:ahLst/>
              <a:cxnLst/>
              <a:rect r="r" b="b" t="t" l="l"/>
              <a:pathLst>
                <a:path h="305035" w="6062484">
                  <a:moveTo>
                    <a:pt x="0" y="0"/>
                  </a:moveTo>
                  <a:lnTo>
                    <a:pt x="6062484" y="0"/>
                  </a:lnTo>
                  <a:lnTo>
                    <a:pt x="6062484" y="305035"/>
                  </a:lnTo>
                  <a:lnTo>
                    <a:pt x="0" y="30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258" r="0" b="-33726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6062485" cy="333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Critical info buried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118772" y="4984042"/>
            <a:ext cx="5274173" cy="2157193"/>
            <a:chOff x="0" y="0"/>
            <a:chExt cx="7032231" cy="287625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32117" cy="2876169"/>
            </a:xfrm>
            <a:custGeom>
              <a:avLst/>
              <a:gdLst/>
              <a:ahLst/>
              <a:cxnLst/>
              <a:rect r="r" b="b" t="t" l="l"/>
              <a:pathLst>
                <a:path h="2876169" w="7032117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6418580" y="0"/>
                  </a:lnTo>
                  <a:cubicBezTo>
                    <a:pt x="6757416" y="0"/>
                    <a:pt x="7032117" y="274701"/>
                    <a:pt x="7032117" y="613537"/>
                  </a:cubicBezTo>
                  <a:lnTo>
                    <a:pt x="7032117" y="2262632"/>
                  </a:lnTo>
                  <a:cubicBezTo>
                    <a:pt x="7032117" y="2601468"/>
                    <a:pt x="6757416" y="2876169"/>
                    <a:pt x="6418580" y="2876169"/>
                  </a:cubicBezTo>
                  <a:lnTo>
                    <a:pt x="613537" y="2876169"/>
                  </a:lnTo>
                  <a:cubicBezTo>
                    <a:pt x="274701" y="2876296"/>
                    <a:pt x="0" y="2601595"/>
                    <a:pt x="0" y="226263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482427" y="5669861"/>
            <a:ext cx="428949" cy="385191"/>
            <a:chOff x="0" y="0"/>
            <a:chExt cx="571932" cy="513588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571881" cy="513588"/>
            </a:xfrm>
            <a:custGeom>
              <a:avLst/>
              <a:gdLst/>
              <a:ahLst/>
              <a:cxnLst/>
              <a:rect r="r" b="b" t="t" l="l"/>
              <a:pathLst>
                <a:path h="513588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9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082959" y="5347697"/>
            <a:ext cx="1701498" cy="908001"/>
            <a:chOff x="0" y="0"/>
            <a:chExt cx="2268664" cy="12106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68664" cy="1210672"/>
            </a:xfrm>
            <a:custGeom>
              <a:avLst/>
              <a:gdLst/>
              <a:ahLst/>
              <a:cxnLst/>
              <a:rect r="r" b="b" t="t" l="l"/>
              <a:pathLst>
                <a:path h="1210672" w="2268664">
                  <a:moveTo>
                    <a:pt x="0" y="0"/>
                  </a:moveTo>
                  <a:lnTo>
                    <a:pt x="2268664" y="0"/>
                  </a:lnTo>
                  <a:lnTo>
                    <a:pt x="2268664" y="1210672"/>
                  </a:lnTo>
                  <a:lnTo>
                    <a:pt x="0" y="1210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53" t="0" r="-1753" b="2441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47625"/>
              <a:ext cx="2268664" cy="11630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4308" b="true">
                  <a:solidFill>
                    <a:srgbClr val="C4B5F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082959" y="6091238"/>
            <a:ext cx="1701498" cy="285972"/>
            <a:chOff x="0" y="0"/>
            <a:chExt cx="2268664" cy="3812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68664" cy="381300"/>
            </a:xfrm>
            <a:custGeom>
              <a:avLst/>
              <a:gdLst/>
              <a:ahLst/>
              <a:cxnLst/>
              <a:rect r="r" b="b" t="t" l="l"/>
              <a:pathLst>
                <a:path h="381300" w="2268664">
                  <a:moveTo>
                    <a:pt x="0" y="0"/>
                  </a:moveTo>
                  <a:lnTo>
                    <a:pt x="2268664" y="0"/>
                  </a:lnTo>
                  <a:lnTo>
                    <a:pt x="2268664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933" r="0" b="-6593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268664" cy="419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51"/>
                </a:lnSpc>
              </a:pPr>
              <a:r>
                <a:rPr lang="en-US" sz="1256" b="true">
                  <a:solidFill>
                    <a:srgbClr val="CBD5E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Minutes Per Chart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482427" y="6548790"/>
            <a:ext cx="4546864" cy="228779"/>
            <a:chOff x="0" y="0"/>
            <a:chExt cx="6062485" cy="30503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62484" cy="305035"/>
            </a:xfrm>
            <a:custGeom>
              <a:avLst/>
              <a:gdLst/>
              <a:ahLst/>
              <a:cxnLst/>
              <a:rect r="r" b="b" t="t" l="l"/>
              <a:pathLst>
                <a:path h="305035" w="6062484">
                  <a:moveTo>
                    <a:pt x="0" y="0"/>
                  </a:moveTo>
                  <a:lnTo>
                    <a:pt x="6062484" y="0"/>
                  </a:lnTo>
                  <a:lnTo>
                    <a:pt x="6062484" y="305035"/>
                  </a:lnTo>
                  <a:lnTo>
                    <a:pt x="0" y="30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7258" r="0" b="-3372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6062485" cy="333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1"/>
                </a:lnSpc>
              </a:pPr>
              <a:r>
                <a:rPr lang="en-US" sz="107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Reviewing at 2 AM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0311" y="7567813"/>
            <a:ext cx="11030674" cy="1693916"/>
            <a:chOff x="0" y="0"/>
            <a:chExt cx="14707565" cy="225855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707615" cy="2258695"/>
            </a:xfrm>
            <a:custGeom>
              <a:avLst/>
              <a:gdLst/>
              <a:ahLst/>
              <a:cxnLst/>
              <a:rect r="r" b="b" t="t" l="l"/>
              <a:pathLst>
                <a:path h="2258695" w="14707615">
                  <a:moveTo>
                    <a:pt x="0" y="628523"/>
                  </a:moveTo>
                  <a:cubicBezTo>
                    <a:pt x="0" y="281432"/>
                    <a:pt x="281432" y="0"/>
                    <a:pt x="628523" y="0"/>
                  </a:cubicBezTo>
                  <a:lnTo>
                    <a:pt x="14079093" y="0"/>
                  </a:lnTo>
                  <a:cubicBezTo>
                    <a:pt x="14426183" y="0"/>
                    <a:pt x="14707615" y="281432"/>
                    <a:pt x="14707615" y="628523"/>
                  </a:cubicBezTo>
                  <a:lnTo>
                    <a:pt x="14707615" y="1630172"/>
                  </a:lnTo>
                  <a:cubicBezTo>
                    <a:pt x="14707615" y="1977263"/>
                    <a:pt x="14426183" y="2258695"/>
                    <a:pt x="14079093" y="2258695"/>
                  </a:cubicBezTo>
                  <a:lnTo>
                    <a:pt x="628523" y="2258695"/>
                  </a:lnTo>
                  <a:cubicBezTo>
                    <a:pt x="281432" y="2258568"/>
                    <a:pt x="0" y="1977136"/>
                    <a:pt x="0" y="163004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49569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315441" y="7950060"/>
            <a:ext cx="10223297" cy="471856"/>
            <a:chOff x="0" y="0"/>
            <a:chExt cx="13631062" cy="62914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631058" cy="629138"/>
            </a:xfrm>
            <a:custGeom>
              <a:avLst/>
              <a:gdLst/>
              <a:ahLst/>
              <a:cxnLst/>
              <a:rect r="r" b="b" t="t" l="l"/>
              <a:pathLst>
                <a:path h="629138" w="13631058">
                  <a:moveTo>
                    <a:pt x="0" y="0"/>
                  </a:moveTo>
                  <a:lnTo>
                    <a:pt x="13631058" y="0"/>
                  </a:lnTo>
                  <a:lnTo>
                    <a:pt x="13631058" y="629138"/>
                  </a:lnTo>
                  <a:lnTo>
                    <a:pt x="0" y="6291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2167" r="0" b="-37216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0"/>
              <a:ext cx="13631062" cy="724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2"/>
                </a:lnSpc>
              </a:pPr>
              <a:r>
                <a:rPr lang="en-US" sz="1795" b="true">
                  <a:solidFill>
                    <a:srgbClr val="E2E8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"I've missed critical findings because I was too exhausted to see them."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15441" y="8522008"/>
            <a:ext cx="10223297" cy="343168"/>
            <a:chOff x="0" y="0"/>
            <a:chExt cx="13631062" cy="45755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631058" cy="457559"/>
            </a:xfrm>
            <a:custGeom>
              <a:avLst/>
              <a:gdLst/>
              <a:ahLst/>
              <a:cxnLst/>
              <a:rect r="r" b="b" t="t" l="l"/>
              <a:pathLst>
                <a:path h="457559" w="13631058">
                  <a:moveTo>
                    <a:pt x="0" y="0"/>
                  </a:moveTo>
                  <a:lnTo>
                    <a:pt x="13631058" y="0"/>
                  </a:lnTo>
                  <a:lnTo>
                    <a:pt x="1363105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0475" r="0" b="-53047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13631062" cy="5242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435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— Dr. Sarah Chen, Emergency Medicine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5095" y="9784575"/>
            <a:ext cx="343157" cy="248793"/>
            <a:chOff x="0" y="0"/>
            <a:chExt cx="457543" cy="331724"/>
          </a:xfrm>
        </p:grpSpPr>
        <p:sp>
          <p:nvSpPr>
            <p:cNvPr name="Freeform 70" id="70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6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29826" y="9708794"/>
            <a:ext cx="8879253" cy="400361"/>
            <a:chOff x="0" y="0"/>
            <a:chExt cx="11839004" cy="53381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839003" cy="533811"/>
            </a:xfrm>
            <a:custGeom>
              <a:avLst/>
              <a:gdLst/>
              <a:ahLst/>
              <a:cxnLst/>
              <a:rect r="r" b="b" t="t" l="l"/>
              <a:pathLst>
                <a:path h="533811" w="11839003">
                  <a:moveTo>
                    <a:pt x="0" y="0"/>
                  </a:moveTo>
                  <a:lnTo>
                    <a:pt x="11839003" y="0"/>
                  </a:lnTo>
                  <a:lnTo>
                    <a:pt x="11839003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143" r="0" b="-38214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85725"/>
              <a:ext cx="11839004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2"/>
                </a:lnSpc>
              </a:pPr>
              <a:r>
                <a:rPr lang="en-US" sz="1615" b="true">
                  <a:solidFill>
                    <a:srgbClr val="CBD5E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This is the reality of modern medicine. </a:t>
              </a:r>
              <a:r>
                <a:rPr lang="en-US" sz="1615" b="true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 dreamed of something better.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93C5FD">
                <a:alpha val="3490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363972" y="196938"/>
            <a:ext cx="7239551" cy="4072348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3"/>
              <a:stretch>
                <a:fillRect l="0" t="-14220" r="0" b="-1422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8895" y="1237793"/>
            <a:ext cx="1842573" cy="555746"/>
            <a:chOff x="0" y="0"/>
            <a:chExt cx="2456764" cy="740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56688" cy="740918"/>
            </a:xfrm>
            <a:custGeom>
              <a:avLst/>
              <a:gdLst/>
              <a:ahLst/>
              <a:cxnLst/>
              <a:rect r="r" b="b" t="t" l="l"/>
              <a:pathLst>
                <a:path h="740918" w="2456688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2086229" y="0"/>
                  </a:lnTo>
                  <a:cubicBezTo>
                    <a:pt x="2290826" y="0"/>
                    <a:pt x="2456688" y="165862"/>
                    <a:pt x="2456688" y="370459"/>
                  </a:cubicBezTo>
                  <a:cubicBezTo>
                    <a:pt x="2456688" y="575056"/>
                    <a:pt x="2290826" y="740918"/>
                    <a:pt x="2086229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818CF8">
                <a:alpha val="1961"/>
              </a:srgbClr>
            </a:solidFill>
            <a:ln w="1239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58164" y="1372676"/>
            <a:ext cx="1344044" cy="327358"/>
            <a:chOff x="0" y="0"/>
            <a:chExt cx="1792059" cy="436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054" cy="436481"/>
            </a:xfrm>
            <a:custGeom>
              <a:avLst/>
              <a:gdLst/>
              <a:ahLst/>
              <a:cxnLst/>
              <a:rect r="r" b="b" t="t" l="l"/>
              <a:pathLst>
                <a:path h="436481" w="1792054">
                  <a:moveTo>
                    <a:pt x="0" y="0"/>
                  </a:moveTo>
                  <a:lnTo>
                    <a:pt x="1792054" y="0"/>
                  </a:lnTo>
                  <a:lnTo>
                    <a:pt x="1792054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321" r="0" b="-236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792059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A5B4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VISION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5095" y="2130504"/>
            <a:ext cx="16471659" cy="1426917"/>
            <a:chOff x="0" y="0"/>
            <a:chExt cx="21962212" cy="19025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208" cy="1902550"/>
            </a:xfrm>
            <a:custGeom>
              <a:avLst/>
              <a:gdLst/>
              <a:ahLst/>
              <a:cxnLst/>
              <a:rect r="r" b="b" t="t" l="l"/>
              <a:pathLst>
                <a:path h="1902550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902550"/>
                  </a:lnTo>
                  <a:lnTo>
                    <a:pt x="0" y="19025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833" r="0" b="-1700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1962212" cy="1997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89"/>
                </a:lnSpc>
              </a:pPr>
              <a:r>
                <a:rPr lang="en-US" sz="676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 DREAMED OF AI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5095" y="3588963"/>
            <a:ext cx="16471659" cy="515562"/>
            <a:chOff x="0" y="0"/>
            <a:chExt cx="21962212" cy="6874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208" cy="687409"/>
            </a:xfrm>
            <a:custGeom>
              <a:avLst/>
              <a:gdLst/>
              <a:ahLst/>
              <a:cxnLst/>
              <a:rect r="r" b="b" t="t" l="l"/>
              <a:pathLst>
                <a:path h="687409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687409"/>
                  </a:lnTo>
                  <a:lnTo>
                    <a:pt x="0" y="6874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8157" r="0" b="-56690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1962212" cy="754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57"/>
                </a:lnSpc>
              </a:pPr>
              <a:r>
                <a:rPr lang="en-US" sz="2454" b="true">
                  <a:solidFill>
                    <a:srgbClr val="E2E8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If Machines Could Read, Understand, and Summarize?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8895" y="4497886"/>
            <a:ext cx="3915832" cy="2671943"/>
            <a:chOff x="0" y="0"/>
            <a:chExt cx="5221110" cy="35625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21097" cy="3562604"/>
            </a:xfrm>
            <a:custGeom>
              <a:avLst/>
              <a:gdLst/>
              <a:ahLst/>
              <a:cxnLst/>
              <a:rect r="r" b="b" t="t" l="l"/>
              <a:pathLst>
                <a:path h="3562604" w="5221097">
                  <a:moveTo>
                    <a:pt x="0" y="612902"/>
                  </a:moveTo>
                  <a:cubicBezTo>
                    <a:pt x="0" y="274447"/>
                    <a:pt x="274447" y="0"/>
                    <a:pt x="612902" y="0"/>
                  </a:cubicBezTo>
                  <a:lnTo>
                    <a:pt x="4608195" y="0"/>
                  </a:lnTo>
                  <a:cubicBezTo>
                    <a:pt x="4946650" y="0"/>
                    <a:pt x="5221097" y="274447"/>
                    <a:pt x="5221097" y="612902"/>
                  </a:cubicBezTo>
                  <a:lnTo>
                    <a:pt x="5221097" y="2949702"/>
                  </a:lnTo>
                  <a:cubicBezTo>
                    <a:pt x="5221097" y="3288157"/>
                    <a:pt x="4946650" y="3562604"/>
                    <a:pt x="4608195" y="3562604"/>
                  </a:cubicBezTo>
                  <a:lnTo>
                    <a:pt x="612902" y="3562604"/>
                  </a:lnTo>
                  <a:cubicBezTo>
                    <a:pt x="274447" y="3562604"/>
                    <a:pt x="0" y="3288157"/>
                    <a:pt x="0" y="294970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402119" y="4861550"/>
            <a:ext cx="915095" cy="915114"/>
            <a:chOff x="0" y="0"/>
            <a:chExt cx="1220127" cy="1220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20089" cy="1220216"/>
            </a:xfrm>
            <a:custGeom>
              <a:avLst/>
              <a:gdLst/>
              <a:ahLst/>
              <a:cxnLst/>
              <a:rect r="r" b="b" t="t" l="l"/>
              <a:pathLst>
                <a:path h="1220216" w="1220089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cubicBezTo>
                    <a:pt x="947039" y="0"/>
                    <a:pt x="1220089" y="273177"/>
                    <a:pt x="1220089" y="610108"/>
                  </a:cubicBezTo>
                  <a:cubicBezTo>
                    <a:pt x="1220089" y="947039"/>
                    <a:pt x="946912" y="1220216"/>
                    <a:pt x="609981" y="1220216"/>
                  </a:cubicBezTo>
                  <a:cubicBezTo>
                    <a:pt x="273050" y="1220216"/>
                    <a:pt x="0" y="947039"/>
                    <a:pt x="0" y="610108"/>
                  </a:cubicBezTo>
                  <a:close/>
                </a:path>
              </a:pathLst>
            </a:custGeom>
            <a:solidFill>
              <a:srgbClr val="38BDF8">
                <a:alpha val="1961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602297" y="5150482"/>
            <a:ext cx="514741" cy="337252"/>
            <a:chOff x="0" y="0"/>
            <a:chExt cx="686321" cy="449669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86308" cy="449707"/>
            </a:xfrm>
            <a:custGeom>
              <a:avLst/>
              <a:gdLst/>
              <a:ahLst/>
              <a:cxnLst/>
              <a:rect r="r" b="b" t="t" l="l"/>
              <a:pathLst>
                <a:path h="449707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449707"/>
                  </a:lnTo>
                  <a:lnTo>
                    <a:pt x="0" y="449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2" b="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473604" y="6005446"/>
            <a:ext cx="786403" cy="438782"/>
            <a:chOff x="0" y="0"/>
            <a:chExt cx="1048537" cy="5850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8541" cy="585038"/>
            </a:xfrm>
            <a:custGeom>
              <a:avLst/>
              <a:gdLst/>
              <a:ahLst/>
              <a:cxnLst/>
              <a:rect r="r" b="b" t="t" l="l"/>
              <a:pathLst>
                <a:path h="585038" w="1048541">
                  <a:moveTo>
                    <a:pt x="0" y="0"/>
                  </a:moveTo>
                  <a:lnTo>
                    <a:pt x="1048541" y="0"/>
                  </a:lnTo>
                  <a:lnTo>
                    <a:pt x="1048541" y="585038"/>
                  </a:lnTo>
                  <a:lnTo>
                    <a:pt x="0" y="585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320" t="0" r="-15319" b="875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48537" cy="64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88"/>
                </a:lnSpc>
              </a:pPr>
              <a:r>
                <a:rPr lang="en-US" sz="20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1232" y="6520196"/>
            <a:ext cx="2916860" cy="632158"/>
            <a:chOff x="0" y="0"/>
            <a:chExt cx="3889146" cy="8428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89141" cy="842881"/>
            </a:xfrm>
            <a:custGeom>
              <a:avLst/>
              <a:gdLst/>
              <a:ahLst/>
              <a:cxnLst/>
              <a:rect r="r" b="b" t="t" l="l"/>
              <a:pathLst>
                <a:path h="842881" w="3889141">
                  <a:moveTo>
                    <a:pt x="0" y="0"/>
                  </a:moveTo>
                  <a:lnTo>
                    <a:pt x="3889141" y="0"/>
                  </a:lnTo>
                  <a:lnTo>
                    <a:pt x="3889141" y="842881"/>
                  </a:lnTo>
                  <a:lnTo>
                    <a:pt x="0" y="8428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287" r="0" b="-125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889146" cy="900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17"/>
                </a:lnSpc>
              </a:pPr>
              <a:r>
                <a:rPr lang="en-US" sz="155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Parse medical reports instantly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098304" y="4497886"/>
            <a:ext cx="3915832" cy="2671943"/>
            <a:chOff x="0" y="0"/>
            <a:chExt cx="5221110" cy="35625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21097" cy="3562604"/>
            </a:xfrm>
            <a:custGeom>
              <a:avLst/>
              <a:gdLst/>
              <a:ahLst/>
              <a:cxnLst/>
              <a:rect r="r" b="b" t="t" l="l"/>
              <a:pathLst>
                <a:path h="3562604" w="5221097">
                  <a:moveTo>
                    <a:pt x="0" y="612902"/>
                  </a:moveTo>
                  <a:cubicBezTo>
                    <a:pt x="0" y="274447"/>
                    <a:pt x="274447" y="0"/>
                    <a:pt x="612902" y="0"/>
                  </a:cubicBezTo>
                  <a:lnTo>
                    <a:pt x="4608195" y="0"/>
                  </a:lnTo>
                  <a:cubicBezTo>
                    <a:pt x="4946650" y="0"/>
                    <a:pt x="5221097" y="274447"/>
                    <a:pt x="5221097" y="612902"/>
                  </a:cubicBezTo>
                  <a:lnTo>
                    <a:pt x="5221097" y="2949702"/>
                  </a:lnTo>
                  <a:cubicBezTo>
                    <a:pt x="5221097" y="3288157"/>
                    <a:pt x="4946650" y="3562604"/>
                    <a:pt x="4608195" y="3562604"/>
                  </a:cubicBezTo>
                  <a:lnTo>
                    <a:pt x="612902" y="3562604"/>
                  </a:lnTo>
                  <a:cubicBezTo>
                    <a:pt x="274447" y="3562604"/>
                    <a:pt x="0" y="3288157"/>
                    <a:pt x="0" y="294970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605816" y="4861550"/>
            <a:ext cx="915095" cy="915114"/>
            <a:chOff x="0" y="0"/>
            <a:chExt cx="1220127" cy="12201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20089" cy="1220216"/>
            </a:xfrm>
            <a:custGeom>
              <a:avLst/>
              <a:gdLst/>
              <a:ahLst/>
              <a:cxnLst/>
              <a:rect r="r" b="b" t="t" l="l"/>
              <a:pathLst>
                <a:path h="1220216" w="1220089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cubicBezTo>
                    <a:pt x="947039" y="0"/>
                    <a:pt x="1220089" y="273177"/>
                    <a:pt x="1220089" y="610108"/>
                  </a:cubicBezTo>
                  <a:cubicBezTo>
                    <a:pt x="1220089" y="947039"/>
                    <a:pt x="946912" y="1220216"/>
                    <a:pt x="609981" y="1220216"/>
                  </a:cubicBezTo>
                  <a:cubicBezTo>
                    <a:pt x="273050" y="1220216"/>
                    <a:pt x="0" y="947039"/>
                    <a:pt x="0" y="610108"/>
                  </a:cubicBezTo>
                  <a:close/>
                </a:path>
              </a:pathLst>
            </a:custGeom>
            <a:solidFill>
              <a:srgbClr val="A78BFA">
                <a:alpha val="1961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805994" y="5119421"/>
            <a:ext cx="514741" cy="399374"/>
            <a:chOff x="0" y="0"/>
            <a:chExt cx="686321" cy="532498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686308" cy="532511"/>
            </a:xfrm>
            <a:custGeom>
              <a:avLst/>
              <a:gdLst/>
              <a:ahLst/>
              <a:cxnLst/>
              <a:rect r="r" b="b" t="t" l="l"/>
              <a:pathLst>
                <a:path h="532511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532511"/>
                  </a:lnTo>
                  <a:lnTo>
                    <a:pt x="0" y="532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2" b="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062482" y="6005446"/>
            <a:ext cx="1987467" cy="438782"/>
            <a:chOff x="0" y="0"/>
            <a:chExt cx="2649957" cy="5850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49952" cy="585038"/>
            </a:xfrm>
            <a:custGeom>
              <a:avLst/>
              <a:gdLst/>
              <a:ahLst/>
              <a:cxnLst/>
              <a:rect r="r" b="b" t="t" l="l"/>
              <a:pathLst>
                <a:path h="585038" w="2649952">
                  <a:moveTo>
                    <a:pt x="0" y="0"/>
                  </a:moveTo>
                  <a:lnTo>
                    <a:pt x="2649952" y="0"/>
                  </a:lnTo>
                  <a:lnTo>
                    <a:pt x="2649952" y="585038"/>
                  </a:lnTo>
                  <a:lnTo>
                    <a:pt x="0" y="585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635" r="0" b="-3388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649957" cy="64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88"/>
                </a:lnSpc>
              </a:pPr>
              <a:r>
                <a:rPr lang="en-US" sz="20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UNDERSTAND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933799" y="6520196"/>
            <a:ext cx="2244833" cy="632158"/>
            <a:chOff x="0" y="0"/>
            <a:chExt cx="2993111" cy="84287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993112" cy="842881"/>
            </a:xfrm>
            <a:custGeom>
              <a:avLst/>
              <a:gdLst/>
              <a:ahLst/>
              <a:cxnLst/>
              <a:rect r="r" b="b" t="t" l="l"/>
              <a:pathLst>
                <a:path h="842881" w="2993112">
                  <a:moveTo>
                    <a:pt x="0" y="0"/>
                  </a:moveTo>
                  <a:lnTo>
                    <a:pt x="2993112" y="0"/>
                  </a:lnTo>
                  <a:lnTo>
                    <a:pt x="2993112" y="842881"/>
                  </a:lnTo>
                  <a:lnTo>
                    <a:pt x="0" y="8428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73" r="0" b="81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2993111" cy="900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17"/>
                </a:lnSpc>
              </a:pPr>
              <a:r>
                <a:rPr lang="en-US" sz="155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Extract clinical meaning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87704" y="4497886"/>
            <a:ext cx="3915832" cy="2671943"/>
            <a:chOff x="0" y="0"/>
            <a:chExt cx="5221110" cy="35625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21097" cy="3562604"/>
            </a:xfrm>
            <a:custGeom>
              <a:avLst/>
              <a:gdLst/>
              <a:ahLst/>
              <a:cxnLst/>
              <a:rect r="r" b="b" t="t" l="l"/>
              <a:pathLst>
                <a:path h="3562604" w="5221097">
                  <a:moveTo>
                    <a:pt x="0" y="612902"/>
                  </a:moveTo>
                  <a:cubicBezTo>
                    <a:pt x="0" y="274447"/>
                    <a:pt x="274447" y="0"/>
                    <a:pt x="612902" y="0"/>
                  </a:cubicBezTo>
                  <a:lnTo>
                    <a:pt x="4608195" y="0"/>
                  </a:lnTo>
                  <a:cubicBezTo>
                    <a:pt x="4946650" y="0"/>
                    <a:pt x="5221097" y="274447"/>
                    <a:pt x="5221097" y="612902"/>
                  </a:cubicBezTo>
                  <a:lnTo>
                    <a:pt x="5221097" y="2949702"/>
                  </a:lnTo>
                  <a:cubicBezTo>
                    <a:pt x="5221097" y="3288157"/>
                    <a:pt x="4946650" y="3562604"/>
                    <a:pt x="4608195" y="3562604"/>
                  </a:cubicBezTo>
                  <a:lnTo>
                    <a:pt x="612902" y="3562604"/>
                  </a:lnTo>
                  <a:cubicBezTo>
                    <a:pt x="274447" y="3562604"/>
                    <a:pt x="0" y="3288157"/>
                    <a:pt x="0" y="294970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780928" y="4861550"/>
            <a:ext cx="915095" cy="915114"/>
            <a:chOff x="0" y="0"/>
            <a:chExt cx="1220127" cy="12201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20089" cy="1220216"/>
            </a:xfrm>
            <a:custGeom>
              <a:avLst/>
              <a:gdLst/>
              <a:ahLst/>
              <a:cxnLst/>
              <a:rect r="r" b="b" t="t" l="l"/>
              <a:pathLst>
                <a:path h="1220216" w="1220089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cubicBezTo>
                    <a:pt x="947039" y="0"/>
                    <a:pt x="1220089" y="273177"/>
                    <a:pt x="1220089" y="610108"/>
                  </a:cubicBezTo>
                  <a:cubicBezTo>
                    <a:pt x="1220089" y="947039"/>
                    <a:pt x="946912" y="1220216"/>
                    <a:pt x="609981" y="1220216"/>
                  </a:cubicBezTo>
                  <a:cubicBezTo>
                    <a:pt x="273050" y="1220216"/>
                    <a:pt x="0" y="947039"/>
                    <a:pt x="0" y="610108"/>
                  </a:cubicBezTo>
                  <a:close/>
                </a:path>
              </a:pathLst>
            </a:custGeom>
            <a:solidFill>
              <a:srgbClr val="38BDF8">
                <a:alpha val="1961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81106" y="5119421"/>
            <a:ext cx="514741" cy="399374"/>
            <a:chOff x="0" y="0"/>
            <a:chExt cx="686321" cy="532498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686308" cy="532511"/>
            </a:xfrm>
            <a:custGeom>
              <a:avLst/>
              <a:gdLst/>
              <a:ahLst/>
              <a:cxnLst/>
              <a:rect r="r" b="b" t="t" l="l"/>
              <a:pathLst>
                <a:path h="532511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532511"/>
                  </a:lnTo>
                  <a:lnTo>
                    <a:pt x="0" y="532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2" b="2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351980" y="6005446"/>
            <a:ext cx="1772993" cy="438782"/>
            <a:chOff x="0" y="0"/>
            <a:chExt cx="2363991" cy="5850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63987" cy="585038"/>
            </a:xfrm>
            <a:custGeom>
              <a:avLst/>
              <a:gdLst/>
              <a:ahLst/>
              <a:cxnLst/>
              <a:rect r="r" b="b" t="t" l="l"/>
              <a:pathLst>
                <a:path h="585038" w="2363987">
                  <a:moveTo>
                    <a:pt x="0" y="0"/>
                  </a:moveTo>
                  <a:lnTo>
                    <a:pt x="2363987" y="0"/>
                  </a:lnTo>
                  <a:lnTo>
                    <a:pt x="2363987" y="585038"/>
                  </a:lnTo>
                  <a:lnTo>
                    <a:pt x="0" y="585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111" r="0" b="-2435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2363991" cy="64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88"/>
                </a:lnSpc>
              </a:pPr>
              <a:r>
                <a:rPr lang="en-US" sz="20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SUMMARIZE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65922" y="6520196"/>
            <a:ext cx="2559396" cy="632158"/>
            <a:chOff x="0" y="0"/>
            <a:chExt cx="3412528" cy="84287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12530" cy="842881"/>
            </a:xfrm>
            <a:custGeom>
              <a:avLst/>
              <a:gdLst/>
              <a:ahLst/>
              <a:cxnLst/>
              <a:rect r="r" b="b" t="t" l="l"/>
              <a:pathLst>
                <a:path h="842881" w="3412530">
                  <a:moveTo>
                    <a:pt x="0" y="0"/>
                  </a:moveTo>
                  <a:lnTo>
                    <a:pt x="3412530" y="0"/>
                  </a:lnTo>
                  <a:lnTo>
                    <a:pt x="3412530" y="842881"/>
                  </a:lnTo>
                  <a:lnTo>
                    <a:pt x="0" y="8428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269" r="0" b="-150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3412528" cy="900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17"/>
                </a:lnSpc>
              </a:pPr>
              <a:r>
                <a:rPr lang="en-US" sz="155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Generate fluent summaries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477113" y="4497886"/>
            <a:ext cx="3915832" cy="2671943"/>
            <a:chOff x="0" y="0"/>
            <a:chExt cx="5221110" cy="35625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21097" cy="3562604"/>
            </a:xfrm>
            <a:custGeom>
              <a:avLst/>
              <a:gdLst/>
              <a:ahLst/>
              <a:cxnLst/>
              <a:rect r="r" b="b" t="t" l="l"/>
              <a:pathLst>
                <a:path h="3562604" w="5221097">
                  <a:moveTo>
                    <a:pt x="0" y="612902"/>
                  </a:moveTo>
                  <a:cubicBezTo>
                    <a:pt x="0" y="274447"/>
                    <a:pt x="274447" y="0"/>
                    <a:pt x="612902" y="0"/>
                  </a:cubicBezTo>
                  <a:lnTo>
                    <a:pt x="4608195" y="0"/>
                  </a:lnTo>
                  <a:cubicBezTo>
                    <a:pt x="4946650" y="0"/>
                    <a:pt x="5221097" y="274447"/>
                    <a:pt x="5221097" y="612902"/>
                  </a:cubicBezTo>
                  <a:lnTo>
                    <a:pt x="5221097" y="2949702"/>
                  </a:lnTo>
                  <a:cubicBezTo>
                    <a:pt x="5221097" y="3288157"/>
                    <a:pt x="4946650" y="3562604"/>
                    <a:pt x="4608195" y="3562604"/>
                  </a:cubicBezTo>
                  <a:lnTo>
                    <a:pt x="612902" y="3562604"/>
                  </a:lnTo>
                  <a:cubicBezTo>
                    <a:pt x="274447" y="3562604"/>
                    <a:pt x="0" y="3288157"/>
                    <a:pt x="0" y="294970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4984635" y="4861550"/>
            <a:ext cx="915095" cy="915114"/>
            <a:chOff x="0" y="0"/>
            <a:chExt cx="1220127" cy="12201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20089" cy="1220216"/>
            </a:xfrm>
            <a:custGeom>
              <a:avLst/>
              <a:gdLst/>
              <a:ahLst/>
              <a:cxnLst/>
              <a:rect r="r" b="b" t="t" l="l"/>
              <a:pathLst>
                <a:path h="1220216" w="1220089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cubicBezTo>
                    <a:pt x="947039" y="0"/>
                    <a:pt x="1220089" y="273177"/>
                    <a:pt x="1220089" y="610108"/>
                  </a:cubicBezTo>
                  <a:cubicBezTo>
                    <a:pt x="1220089" y="947039"/>
                    <a:pt x="946912" y="1220216"/>
                    <a:pt x="609981" y="1220216"/>
                  </a:cubicBezTo>
                  <a:cubicBezTo>
                    <a:pt x="273050" y="1220216"/>
                    <a:pt x="0" y="947039"/>
                    <a:pt x="0" y="610108"/>
                  </a:cubicBezTo>
                  <a:close/>
                </a:path>
              </a:pathLst>
            </a:custGeom>
            <a:solidFill>
              <a:srgbClr val="A78BFA">
                <a:alpha val="1961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84812" y="5079482"/>
            <a:ext cx="514741" cy="479250"/>
            <a:chOff x="0" y="0"/>
            <a:chExt cx="686321" cy="639000"/>
          </a:xfrm>
        </p:grpSpPr>
        <p:sp>
          <p:nvSpPr>
            <p:cNvPr name="Freeform 58" id="58" descr="image.png"/>
            <p:cNvSpPr/>
            <p:nvPr/>
          </p:nvSpPr>
          <p:spPr>
            <a:xfrm flipH="false" flipV="false" rot="0">
              <a:off x="0" y="0"/>
              <a:ext cx="686308" cy="639064"/>
            </a:xfrm>
            <a:custGeom>
              <a:avLst/>
              <a:gdLst/>
              <a:ahLst/>
              <a:cxnLst/>
              <a:rect r="r" b="b" t="t" l="l"/>
              <a:pathLst>
                <a:path h="639064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639064"/>
                  </a:lnTo>
                  <a:lnTo>
                    <a:pt x="0" y="639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2" b="9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870249" y="6005446"/>
            <a:ext cx="1129570" cy="438782"/>
            <a:chOff x="0" y="0"/>
            <a:chExt cx="1506093" cy="58504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06089" cy="585038"/>
            </a:xfrm>
            <a:custGeom>
              <a:avLst/>
              <a:gdLst/>
              <a:ahLst/>
              <a:cxnLst/>
              <a:rect r="r" b="b" t="t" l="l"/>
              <a:pathLst>
                <a:path h="585038" w="1506089">
                  <a:moveTo>
                    <a:pt x="0" y="0"/>
                  </a:moveTo>
                  <a:lnTo>
                    <a:pt x="1506089" y="0"/>
                  </a:lnTo>
                  <a:lnTo>
                    <a:pt x="1506089" y="585038"/>
                  </a:lnTo>
                  <a:lnTo>
                    <a:pt x="0" y="585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38" r="0" b="421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506093" cy="64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88"/>
                </a:lnSpc>
              </a:pPr>
              <a:r>
                <a:rPr lang="en-US" sz="20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ASSESS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169628" y="6520196"/>
            <a:ext cx="2530802" cy="632158"/>
            <a:chOff x="0" y="0"/>
            <a:chExt cx="3374403" cy="8428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74400" cy="842881"/>
            </a:xfrm>
            <a:custGeom>
              <a:avLst/>
              <a:gdLst/>
              <a:ahLst/>
              <a:cxnLst/>
              <a:rect r="r" b="b" t="t" l="l"/>
              <a:pathLst>
                <a:path h="842881" w="3374400">
                  <a:moveTo>
                    <a:pt x="0" y="0"/>
                  </a:moveTo>
                  <a:lnTo>
                    <a:pt x="3374400" y="0"/>
                  </a:lnTo>
                  <a:lnTo>
                    <a:pt x="3374400" y="842881"/>
                  </a:lnTo>
                  <a:lnTo>
                    <a:pt x="0" y="8428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388" r="0" b="-6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3374403" cy="900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17"/>
                </a:lnSpc>
              </a:pPr>
              <a:r>
                <a:rPr lang="en-US" sz="155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Identify risks automatically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08895" y="7614999"/>
            <a:ext cx="9620860" cy="1456553"/>
            <a:chOff x="0" y="0"/>
            <a:chExt cx="12827813" cy="194207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827762" cy="1942084"/>
            </a:xfrm>
            <a:custGeom>
              <a:avLst/>
              <a:gdLst/>
              <a:ahLst/>
              <a:cxnLst/>
              <a:rect r="r" b="b" t="t" l="l"/>
              <a:pathLst>
                <a:path h="1942084" w="12827762">
                  <a:moveTo>
                    <a:pt x="0" y="615315"/>
                  </a:moveTo>
                  <a:cubicBezTo>
                    <a:pt x="0" y="275463"/>
                    <a:pt x="275463" y="0"/>
                    <a:pt x="615315" y="0"/>
                  </a:cubicBezTo>
                  <a:lnTo>
                    <a:pt x="12212447" y="0"/>
                  </a:lnTo>
                  <a:cubicBezTo>
                    <a:pt x="12552299" y="0"/>
                    <a:pt x="12827762" y="275463"/>
                    <a:pt x="12827762" y="615315"/>
                  </a:cubicBezTo>
                  <a:lnTo>
                    <a:pt x="12827762" y="1326769"/>
                  </a:lnTo>
                  <a:cubicBezTo>
                    <a:pt x="12827762" y="1666621"/>
                    <a:pt x="12552299" y="1942084"/>
                    <a:pt x="12212447" y="1942084"/>
                  </a:cubicBezTo>
                  <a:lnTo>
                    <a:pt x="615315" y="1942084"/>
                  </a:lnTo>
                  <a:cubicBezTo>
                    <a:pt x="275463" y="1942084"/>
                    <a:pt x="0" y="1666621"/>
                    <a:pt x="0" y="132676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215352" y="7921466"/>
            <a:ext cx="9007935" cy="843620"/>
            <a:chOff x="0" y="0"/>
            <a:chExt cx="12010580" cy="112482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010582" cy="1124827"/>
            </a:xfrm>
            <a:custGeom>
              <a:avLst/>
              <a:gdLst/>
              <a:ahLst/>
              <a:cxnLst/>
              <a:rect r="r" b="b" t="t" l="l"/>
              <a:pathLst>
                <a:path h="1124827" w="12010582">
                  <a:moveTo>
                    <a:pt x="0" y="0"/>
                  </a:moveTo>
                  <a:lnTo>
                    <a:pt x="12010582" y="0"/>
                  </a:lnTo>
                  <a:lnTo>
                    <a:pt x="12010582" y="1124827"/>
                  </a:lnTo>
                  <a:lnTo>
                    <a:pt x="0" y="11248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055" r="0" b="-15805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04775"/>
              <a:ext cx="12010580" cy="1229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5"/>
                </a:lnSpc>
              </a:pPr>
              <a:r>
                <a:rPr lang="en-US" sz="1915" b="true">
                  <a:solidFill>
                    <a:srgbClr val="E2E8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Machines that could process </a:t>
              </a:r>
              <a:r>
                <a:rPr lang="en-US" sz="1915" b="true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30 pages in seconds</a:t>
              </a:r>
              <a:r>
                <a:rPr lang="en-US" sz="1915" b="true">
                  <a:solidFill>
                    <a:srgbClr val="E2E8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, spot every risk factor, and deliver actionable insights when doctors need them most 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640591" y="8211722"/>
            <a:ext cx="343157" cy="248793"/>
            <a:chOff x="0" y="0"/>
            <a:chExt cx="457543" cy="331724"/>
          </a:xfrm>
        </p:grpSpPr>
        <p:sp>
          <p:nvSpPr>
            <p:cNvPr name="Freeform 71" id="71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6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155331" y="8135941"/>
            <a:ext cx="2888256" cy="403697"/>
            <a:chOff x="0" y="0"/>
            <a:chExt cx="3851008" cy="53826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51011" cy="538259"/>
            </a:xfrm>
            <a:custGeom>
              <a:avLst/>
              <a:gdLst/>
              <a:ahLst/>
              <a:cxnLst/>
              <a:rect r="r" b="b" t="t" l="l"/>
              <a:pathLst>
                <a:path h="538259" w="3851011">
                  <a:moveTo>
                    <a:pt x="0" y="0"/>
                  </a:moveTo>
                  <a:lnTo>
                    <a:pt x="3851011" y="0"/>
                  </a:lnTo>
                  <a:lnTo>
                    <a:pt x="3851011" y="538259"/>
                  </a:lnTo>
                  <a:lnTo>
                    <a:pt x="0" y="5382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819" r="0" b="-8899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0"/>
              <a:ext cx="3851008" cy="63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CBD5E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But dreams need data...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3"/>
              <a:stretch>
                <a:fillRect l="0" t="-5387" r="0" b="-53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840" y="-28597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adFill rotWithShape="true">
              <a:gsLst>
                <a:gs pos="0">
                  <a:srgbClr val="38BDF8">
                    <a:alpha val="20000"/>
                  </a:srgbClr>
                </a:gs>
                <a:gs pos="50000">
                  <a:srgbClr val="0F172A">
                    <a:alpha val="92000"/>
                  </a:srgbClr>
                </a:gs>
                <a:gs pos="100000">
                  <a:srgbClr val="0F172A">
                    <a:alpha val="95000"/>
                  </a:srgbClr>
                </a:gs>
              </a:gsLst>
              <a:lin ang="81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8895" y="880320"/>
            <a:ext cx="1771088" cy="555746"/>
            <a:chOff x="0" y="0"/>
            <a:chExt cx="2361451" cy="740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1438" cy="740918"/>
            </a:xfrm>
            <a:custGeom>
              <a:avLst/>
              <a:gdLst/>
              <a:ahLst/>
              <a:cxnLst/>
              <a:rect r="r" b="b" t="t" l="l"/>
              <a:pathLst>
                <a:path h="740918" w="2361438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1990979" y="0"/>
                  </a:lnTo>
                  <a:cubicBezTo>
                    <a:pt x="2195576" y="0"/>
                    <a:pt x="2361438" y="165862"/>
                    <a:pt x="2361438" y="370459"/>
                  </a:cubicBezTo>
                  <a:cubicBezTo>
                    <a:pt x="2361438" y="575056"/>
                    <a:pt x="2195576" y="740918"/>
                    <a:pt x="1990979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38BDF8">
                <a:alpha val="1961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58164" y="1000906"/>
            <a:ext cx="1272550" cy="306859"/>
            <a:chOff x="0" y="0"/>
            <a:chExt cx="1696733" cy="4091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6732" cy="409149"/>
            </a:xfrm>
            <a:custGeom>
              <a:avLst/>
              <a:gdLst/>
              <a:ahLst/>
              <a:cxnLst/>
              <a:rect r="r" b="b" t="t" l="l"/>
              <a:pathLst>
                <a:path h="409149" w="1696732">
                  <a:moveTo>
                    <a:pt x="0" y="0"/>
                  </a:moveTo>
                  <a:lnTo>
                    <a:pt x="1696732" y="0"/>
                  </a:lnTo>
                  <a:lnTo>
                    <a:pt x="1696732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208" r="0" b="-2739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96733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CHAPTER 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5095" y="1658645"/>
            <a:ext cx="16471659" cy="1072400"/>
            <a:chOff x="0" y="0"/>
            <a:chExt cx="21962212" cy="14298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208" cy="1429867"/>
            </a:xfrm>
            <a:custGeom>
              <a:avLst/>
              <a:gdLst/>
              <a:ahLst/>
              <a:cxnLst/>
              <a:rect r="r" b="b" t="t" l="l"/>
              <a:pathLst>
                <a:path h="1429867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429867"/>
                  </a:lnTo>
                  <a:lnTo>
                    <a:pt x="0" y="14298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9282" r="0" b="-2492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1962212" cy="1525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25"/>
                </a:lnSpc>
              </a:pPr>
              <a:r>
                <a:rPr lang="en-US" b="true" sz="5686">
                  <a:solidFill>
                    <a:srgbClr val="3CC027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THE FOUNDATION: DATA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8895" y="3168110"/>
            <a:ext cx="8076638" cy="5360089"/>
            <a:chOff x="0" y="0"/>
            <a:chExt cx="10768851" cy="71467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8838" cy="7146799"/>
            </a:xfrm>
            <a:custGeom>
              <a:avLst/>
              <a:gdLst/>
              <a:ahLst/>
              <a:cxnLst/>
              <a:rect r="r" b="b" t="t" l="l"/>
              <a:pathLst>
                <a:path h="7146799" w="10768838">
                  <a:moveTo>
                    <a:pt x="0" y="611505"/>
                  </a:moveTo>
                  <a:cubicBezTo>
                    <a:pt x="0" y="273812"/>
                    <a:pt x="273812" y="0"/>
                    <a:pt x="611505" y="0"/>
                  </a:cubicBezTo>
                  <a:lnTo>
                    <a:pt x="10157333" y="0"/>
                  </a:lnTo>
                  <a:cubicBezTo>
                    <a:pt x="10495026" y="0"/>
                    <a:pt x="10768838" y="273812"/>
                    <a:pt x="10768838" y="611505"/>
                  </a:cubicBezTo>
                  <a:lnTo>
                    <a:pt x="10768838" y="6535293"/>
                  </a:lnTo>
                  <a:cubicBezTo>
                    <a:pt x="10768838" y="6872987"/>
                    <a:pt x="10495026" y="7146799"/>
                    <a:pt x="10157333" y="7146799"/>
                  </a:cubicBezTo>
                  <a:lnTo>
                    <a:pt x="611505" y="7146799"/>
                  </a:lnTo>
                  <a:cubicBezTo>
                    <a:pt x="273812" y="7146798"/>
                    <a:pt x="0" y="6872986"/>
                    <a:pt x="0" y="6535293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72550" y="3650447"/>
            <a:ext cx="343157" cy="248793"/>
            <a:chOff x="0" y="0"/>
            <a:chExt cx="457543" cy="331724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72550" y="4289603"/>
            <a:ext cx="686314" cy="686333"/>
            <a:chOff x="0" y="0"/>
            <a:chExt cx="915086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38BDF8">
                <a:alpha val="1961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72727" y="4527633"/>
            <a:ext cx="285969" cy="210274"/>
            <a:chOff x="0" y="0"/>
            <a:chExt cx="381292" cy="280365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81254" cy="280416"/>
            </a:xfrm>
            <a:custGeom>
              <a:avLst/>
              <a:gdLst/>
              <a:ahLst/>
              <a:cxnLst/>
              <a:rect r="r" b="b" t="t" l="l"/>
              <a:pathLst>
                <a:path h="280416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80416"/>
                  </a:lnTo>
                  <a:lnTo>
                    <a:pt x="0" y="28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8" b="1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87645" y="4289603"/>
            <a:ext cx="2845365" cy="400361"/>
            <a:chOff x="0" y="0"/>
            <a:chExt cx="3793820" cy="5338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93818" cy="533811"/>
            </a:xfrm>
            <a:custGeom>
              <a:avLst/>
              <a:gdLst/>
              <a:ahLst/>
              <a:cxnLst/>
              <a:rect r="r" b="b" t="t" l="l"/>
              <a:pathLst>
                <a:path h="533811" w="3793818">
                  <a:moveTo>
                    <a:pt x="0" y="0"/>
                  </a:moveTo>
                  <a:lnTo>
                    <a:pt x="3793818" y="0"/>
                  </a:lnTo>
                  <a:lnTo>
                    <a:pt x="3793818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480" r="0" b="-8848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3793820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CNN/DailyMail Dataset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187645" y="4689967"/>
            <a:ext cx="2845365" cy="306859"/>
            <a:chOff x="0" y="0"/>
            <a:chExt cx="3793820" cy="4091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93818" cy="409149"/>
            </a:xfrm>
            <a:custGeom>
              <a:avLst/>
              <a:gdLst/>
              <a:ahLst/>
              <a:cxnLst/>
              <a:rect r="r" b="b" t="t" l="l"/>
              <a:pathLst>
                <a:path h="409149" w="3793818">
                  <a:moveTo>
                    <a:pt x="0" y="0"/>
                  </a:moveTo>
                  <a:lnTo>
                    <a:pt x="3793818" y="0"/>
                  </a:lnTo>
                  <a:lnTo>
                    <a:pt x="3793818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078" r="0" b="-1272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793820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10,000 article-summary pairs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775635" y="5309092"/>
            <a:ext cx="343157" cy="248793"/>
            <a:chOff x="0" y="0"/>
            <a:chExt cx="457543" cy="331724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6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2550" y="5891051"/>
            <a:ext cx="686314" cy="686333"/>
            <a:chOff x="0" y="0"/>
            <a:chExt cx="915086" cy="9151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06B6D4">
                <a:alpha val="1961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72727" y="6099648"/>
            <a:ext cx="285969" cy="269148"/>
            <a:chOff x="0" y="0"/>
            <a:chExt cx="381292" cy="358864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81254" cy="358902"/>
            </a:xfrm>
            <a:custGeom>
              <a:avLst/>
              <a:gdLst/>
              <a:ahLst/>
              <a:cxnLst/>
              <a:rect r="r" b="b" t="t" l="l"/>
              <a:pathLst>
                <a:path h="358902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58902"/>
                  </a:lnTo>
                  <a:lnTo>
                    <a:pt x="0" y="358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8" b="1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87645" y="5891051"/>
            <a:ext cx="4675546" cy="400361"/>
            <a:chOff x="0" y="0"/>
            <a:chExt cx="6234062" cy="53381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34064" cy="533811"/>
            </a:xfrm>
            <a:custGeom>
              <a:avLst/>
              <a:gdLst/>
              <a:ahLst/>
              <a:cxnLst/>
              <a:rect r="r" b="b" t="t" l="l"/>
              <a:pathLst>
                <a:path h="533811" w="6234064">
                  <a:moveTo>
                    <a:pt x="0" y="0"/>
                  </a:moveTo>
                  <a:lnTo>
                    <a:pt x="6234064" y="0"/>
                  </a:lnTo>
                  <a:lnTo>
                    <a:pt x="6234064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7553" r="0" b="-17755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6234062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Text Cleaning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87645" y="6291415"/>
            <a:ext cx="4675546" cy="306859"/>
            <a:chOff x="0" y="0"/>
            <a:chExt cx="6234062" cy="4091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4064" cy="409149"/>
            </a:xfrm>
            <a:custGeom>
              <a:avLst/>
              <a:gdLst/>
              <a:ahLst/>
              <a:cxnLst/>
              <a:rect r="r" b="b" t="t" l="l"/>
              <a:pathLst>
                <a:path h="409149" w="6234064">
                  <a:moveTo>
                    <a:pt x="0" y="0"/>
                  </a:moveTo>
                  <a:lnTo>
                    <a:pt x="6234064" y="0"/>
                  </a:lnTo>
                  <a:lnTo>
                    <a:pt x="6234064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0291" r="0" b="-24348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234062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Lowercase • Remove special chars • Standardize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75635" y="6910549"/>
            <a:ext cx="343157" cy="248793"/>
            <a:chOff x="0" y="0"/>
            <a:chExt cx="457543" cy="331724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6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72550" y="7492508"/>
            <a:ext cx="686314" cy="686333"/>
            <a:chOff x="0" y="0"/>
            <a:chExt cx="915086" cy="9151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610108" y="0"/>
                  </a:lnTo>
                  <a:cubicBezTo>
                    <a:pt x="778510" y="0"/>
                    <a:pt x="915035" y="136525"/>
                    <a:pt x="915035" y="305054"/>
                  </a:cubicBezTo>
                  <a:lnTo>
                    <a:pt x="915035" y="610108"/>
                  </a:lnTo>
                  <a:cubicBezTo>
                    <a:pt x="915035" y="778510"/>
                    <a:pt x="778510" y="915162"/>
                    <a:pt x="609981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0EA5E9">
                <a:alpha val="1961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72727" y="7713716"/>
            <a:ext cx="285969" cy="243916"/>
            <a:chOff x="0" y="0"/>
            <a:chExt cx="381292" cy="325222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381254" cy="325247"/>
            </a:xfrm>
            <a:custGeom>
              <a:avLst/>
              <a:gdLst/>
              <a:ahLst/>
              <a:cxnLst/>
              <a:rect r="r" b="b" t="t" l="l"/>
              <a:pathLst>
                <a:path h="325247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8" b="7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187645" y="7492508"/>
            <a:ext cx="3102731" cy="400361"/>
            <a:chOff x="0" y="0"/>
            <a:chExt cx="4136974" cy="53381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36978" cy="533811"/>
            </a:xfrm>
            <a:custGeom>
              <a:avLst/>
              <a:gdLst/>
              <a:ahLst/>
              <a:cxnLst/>
              <a:rect r="r" b="b" t="t" l="l"/>
              <a:pathLst>
                <a:path h="533811" w="4136978">
                  <a:moveTo>
                    <a:pt x="0" y="0"/>
                  </a:moveTo>
                  <a:lnTo>
                    <a:pt x="4136978" y="0"/>
                  </a:lnTo>
                  <a:lnTo>
                    <a:pt x="4136978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006" r="0" b="-10100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85725"/>
              <a:ext cx="4136974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Vocabulary Building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87645" y="7892863"/>
            <a:ext cx="3102731" cy="306859"/>
            <a:chOff x="0" y="0"/>
            <a:chExt cx="4136974" cy="40914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36978" cy="409149"/>
            </a:xfrm>
            <a:custGeom>
              <a:avLst/>
              <a:gdLst/>
              <a:ahLst/>
              <a:cxnLst/>
              <a:rect r="r" b="b" t="t" l="l"/>
              <a:pathLst>
                <a:path h="409149" w="4136978">
                  <a:moveTo>
                    <a:pt x="0" y="0"/>
                  </a:moveTo>
                  <a:lnTo>
                    <a:pt x="4136978" y="0"/>
                  </a:lnTo>
                  <a:lnTo>
                    <a:pt x="4136978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0420" r="0" b="-14361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4136974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20,000 words + 4 special tokens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16307" y="3168110"/>
            <a:ext cx="8076638" cy="5360089"/>
            <a:chOff x="0" y="0"/>
            <a:chExt cx="10768851" cy="714678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768838" cy="7146799"/>
            </a:xfrm>
            <a:custGeom>
              <a:avLst/>
              <a:gdLst/>
              <a:ahLst/>
              <a:cxnLst/>
              <a:rect r="r" b="b" t="t" l="l"/>
              <a:pathLst>
                <a:path h="7146799" w="10768838">
                  <a:moveTo>
                    <a:pt x="0" y="611505"/>
                  </a:moveTo>
                  <a:cubicBezTo>
                    <a:pt x="0" y="273812"/>
                    <a:pt x="273812" y="0"/>
                    <a:pt x="611505" y="0"/>
                  </a:cubicBezTo>
                  <a:lnTo>
                    <a:pt x="10157333" y="0"/>
                  </a:lnTo>
                  <a:cubicBezTo>
                    <a:pt x="10495026" y="0"/>
                    <a:pt x="10768838" y="273812"/>
                    <a:pt x="10768838" y="611505"/>
                  </a:cubicBezTo>
                  <a:lnTo>
                    <a:pt x="10768838" y="6535293"/>
                  </a:lnTo>
                  <a:cubicBezTo>
                    <a:pt x="10768838" y="6872987"/>
                    <a:pt x="10495026" y="7146799"/>
                    <a:pt x="10157333" y="7146799"/>
                  </a:cubicBezTo>
                  <a:lnTo>
                    <a:pt x="611505" y="7146799"/>
                  </a:lnTo>
                  <a:cubicBezTo>
                    <a:pt x="273812" y="7146798"/>
                    <a:pt x="0" y="6872986"/>
                    <a:pt x="0" y="6535293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679953" y="3680479"/>
            <a:ext cx="343157" cy="188738"/>
            <a:chOff x="0" y="0"/>
            <a:chExt cx="457543" cy="251651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457581" cy="251714"/>
            </a:xfrm>
            <a:custGeom>
              <a:avLst/>
              <a:gdLst/>
              <a:ahLst/>
              <a:cxnLst/>
              <a:rect r="r" b="b" t="t" l="l"/>
              <a:pathLst>
                <a:path h="25171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51714"/>
                  </a:lnTo>
                  <a:lnTo>
                    <a:pt x="0" y="2517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6" b="25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73761" y="4169016"/>
            <a:ext cx="7361720" cy="2500360"/>
            <a:chOff x="0" y="0"/>
            <a:chExt cx="9815627" cy="333381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815703" cy="3333877"/>
            </a:xfrm>
            <a:custGeom>
              <a:avLst/>
              <a:gdLst/>
              <a:ahLst/>
              <a:cxnLst/>
              <a:rect r="r" b="b" t="t" l="l"/>
              <a:pathLst>
                <a:path h="3333877" w="9815703">
                  <a:moveTo>
                    <a:pt x="0" y="306578"/>
                  </a:moveTo>
                  <a:cubicBezTo>
                    <a:pt x="0" y="137287"/>
                    <a:pt x="137287" y="0"/>
                    <a:pt x="306578" y="0"/>
                  </a:cubicBezTo>
                  <a:lnTo>
                    <a:pt x="9509125" y="0"/>
                  </a:lnTo>
                  <a:cubicBezTo>
                    <a:pt x="9678416" y="0"/>
                    <a:pt x="9815703" y="137287"/>
                    <a:pt x="9815703" y="306578"/>
                  </a:cubicBezTo>
                  <a:lnTo>
                    <a:pt x="9815703" y="3027299"/>
                  </a:lnTo>
                  <a:cubicBezTo>
                    <a:pt x="9815703" y="3196590"/>
                    <a:pt x="9678416" y="3333877"/>
                    <a:pt x="9509125" y="3333877"/>
                  </a:cubicBezTo>
                  <a:lnTo>
                    <a:pt x="306578" y="3333877"/>
                  </a:lnTo>
                  <a:cubicBezTo>
                    <a:pt x="137287" y="3333877"/>
                    <a:pt x="0" y="3196590"/>
                    <a:pt x="0" y="3027299"/>
                  </a:cubicBezTo>
                  <a:close/>
                </a:path>
              </a:pathLst>
            </a:custGeom>
            <a:solidFill>
              <a:srgbClr val="0F172A">
                <a:alpha val="63922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923031" y="4403989"/>
            <a:ext cx="6863191" cy="285972"/>
            <a:chOff x="0" y="0"/>
            <a:chExt cx="9150922" cy="3812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50919" cy="381300"/>
            </a:xfrm>
            <a:custGeom>
              <a:avLst/>
              <a:gdLst/>
              <a:ahLst/>
              <a:cxnLst/>
              <a:rect r="r" b="b" t="t" l="l"/>
              <a:pathLst>
                <a:path h="381300" w="9150919">
                  <a:moveTo>
                    <a:pt x="0" y="0"/>
                  </a:moveTo>
                  <a:lnTo>
                    <a:pt x="9150919" y="0"/>
                  </a:lnTo>
                  <a:lnTo>
                    <a:pt x="9150919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28" r="0" b="-41762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150922" cy="428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818CF8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def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923031" y="4689967"/>
            <a:ext cx="6863191" cy="285972"/>
            <a:chOff x="0" y="0"/>
            <a:chExt cx="9150922" cy="3812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50919" cy="381300"/>
            </a:xfrm>
            <a:custGeom>
              <a:avLst/>
              <a:gdLst/>
              <a:ahLst/>
              <a:cxnLst/>
              <a:rect r="r" b="b" t="t" l="l"/>
              <a:pathLst>
                <a:path h="381300" w="9150919">
                  <a:moveTo>
                    <a:pt x="0" y="0"/>
                  </a:moveTo>
                  <a:lnTo>
                    <a:pt x="9150919" y="0"/>
                  </a:lnTo>
                  <a:lnTo>
                    <a:pt x="9150919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28" r="0" b="-41762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9150922" cy="428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7DD3FC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clean_text(text: str) -&gt; str: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923031" y="4975936"/>
            <a:ext cx="6863191" cy="285972"/>
            <a:chOff x="0" y="0"/>
            <a:chExt cx="9150922" cy="3812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50919" cy="381300"/>
            </a:xfrm>
            <a:custGeom>
              <a:avLst/>
              <a:gdLst/>
              <a:ahLst/>
              <a:cxnLst/>
              <a:rect r="r" b="b" t="t" l="l"/>
              <a:pathLst>
                <a:path h="381300" w="9150919">
                  <a:moveTo>
                    <a:pt x="0" y="0"/>
                  </a:moveTo>
                  <a:lnTo>
                    <a:pt x="9150919" y="0"/>
                  </a:lnTo>
                  <a:lnTo>
                    <a:pt x="9150919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28" r="0" b="-41762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150922" cy="428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94A3B8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text = text.lower()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923031" y="5261905"/>
            <a:ext cx="6863191" cy="285972"/>
            <a:chOff x="0" y="0"/>
            <a:chExt cx="9150922" cy="38129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50919" cy="381300"/>
            </a:xfrm>
            <a:custGeom>
              <a:avLst/>
              <a:gdLst/>
              <a:ahLst/>
              <a:cxnLst/>
              <a:rect r="r" b="b" t="t" l="l"/>
              <a:pathLst>
                <a:path h="381300" w="9150919">
                  <a:moveTo>
                    <a:pt x="0" y="0"/>
                  </a:moveTo>
                  <a:lnTo>
                    <a:pt x="9150919" y="0"/>
                  </a:lnTo>
                  <a:lnTo>
                    <a:pt x="9150919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28" r="0" b="-41762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150922" cy="428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94A3B8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text = re.sub(r'\s+', ' ', text)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923031" y="5547884"/>
            <a:ext cx="6863191" cy="285972"/>
            <a:chOff x="0" y="0"/>
            <a:chExt cx="9150922" cy="3812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50919" cy="381300"/>
            </a:xfrm>
            <a:custGeom>
              <a:avLst/>
              <a:gdLst/>
              <a:ahLst/>
              <a:cxnLst/>
              <a:rect r="r" b="b" t="t" l="l"/>
              <a:pathLst>
                <a:path h="381300" w="9150919">
                  <a:moveTo>
                    <a:pt x="0" y="0"/>
                  </a:moveTo>
                  <a:lnTo>
                    <a:pt x="9150919" y="0"/>
                  </a:lnTo>
                  <a:lnTo>
                    <a:pt x="9150919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28" r="0" b="-41762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150922" cy="428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94A3B8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text = re.sub(r'[^a-zA-Z0-9\s.,]', '', text)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923031" y="5833853"/>
            <a:ext cx="6863191" cy="285972"/>
            <a:chOff x="0" y="0"/>
            <a:chExt cx="9150922" cy="3812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50919" cy="381300"/>
            </a:xfrm>
            <a:custGeom>
              <a:avLst/>
              <a:gdLst/>
              <a:ahLst/>
              <a:cxnLst/>
              <a:rect r="r" b="b" t="t" l="l"/>
              <a:pathLst>
                <a:path h="381300" w="9150919">
                  <a:moveTo>
                    <a:pt x="0" y="0"/>
                  </a:moveTo>
                  <a:lnTo>
                    <a:pt x="9150919" y="0"/>
                  </a:lnTo>
                  <a:lnTo>
                    <a:pt x="9150919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28" r="0" b="-41762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9150922" cy="428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818CF8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return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923031" y="6119832"/>
            <a:ext cx="6863191" cy="285972"/>
            <a:chOff x="0" y="0"/>
            <a:chExt cx="9150922" cy="3812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50919" cy="381300"/>
            </a:xfrm>
            <a:custGeom>
              <a:avLst/>
              <a:gdLst/>
              <a:ahLst/>
              <a:cxnLst/>
              <a:rect r="r" b="b" t="t" l="l"/>
              <a:pathLst>
                <a:path h="381300" w="9150919">
                  <a:moveTo>
                    <a:pt x="0" y="0"/>
                  </a:moveTo>
                  <a:lnTo>
                    <a:pt x="9150919" y="0"/>
                  </a:lnTo>
                  <a:lnTo>
                    <a:pt x="9150919" y="381300"/>
                  </a:lnTo>
                  <a:lnTo>
                    <a:pt x="0" y="381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28" r="0" b="-41762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9150922" cy="428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94A3B8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text.strip()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08895" y="8858983"/>
            <a:ext cx="1385030" cy="555746"/>
            <a:chOff x="0" y="0"/>
            <a:chExt cx="1846707" cy="74099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46580" cy="740918"/>
            </a:xfrm>
            <a:custGeom>
              <a:avLst/>
              <a:gdLst/>
              <a:ahLst/>
              <a:cxnLst/>
              <a:rect r="r" b="b" t="t" l="l"/>
              <a:pathLst>
                <a:path h="740918" w="1846580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1476121" y="0"/>
                  </a:lnTo>
                  <a:cubicBezTo>
                    <a:pt x="1680718" y="0"/>
                    <a:pt x="1846580" y="165862"/>
                    <a:pt x="1846580" y="370459"/>
                  </a:cubicBezTo>
                  <a:cubicBezTo>
                    <a:pt x="1846580" y="575056"/>
                    <a:pt x="1680718" y="740918"/>
                    <a:pt x="1476121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372638" y="9008164"/>
            <a:ext cx="672017" cy="306859"/>
            <a:chOff x="0" y="0"/>
            <a:chExt cx="896023" cy="40914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96026" cy="409149"/>
            </a:xfrm>
            <a:custGeom>
              <a:avLst/>
              <a:gdLst/>
              <a:ahLst/>
              <a:cxnLst/>
              <a:rect r="r" b="b" t="t" l="l"/>
              <a:pathLst>
                <a:path h="409149" w="896026">
                  <a:moveTo>
                    <a:pt x="0" y="0"/>
                  </a:moveTo>
                  <a:lnTo>
                    <a:pt x="896026" y="0"/>
                  </a:lnTo>
                  <a:lnTo>
                    <a:pt x="89602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598" t="0" r="-4597" b="680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896023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&lt;PAD&gt;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453116" y="8858983"/>
            <a:ext cx="1399327" cy="555746"/>
            <a:chOff x="0" y="0"/>
            <a:chExt cx="1865770" cy="74099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865757" cy="740918"/>
            </a:xfrm>
            <a:custGeom>
              <a:avLst/>
              <a:gdLst/>
              <a:ahLst/>
              <a:cxnLst/>
              <a:rect r="r" b="b" t="t" l="l"/>
              <a:pathLst>
                <a:path h="740918" w="1865757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1495298" y="0"/>
                  </a:lnTo>
                  <a:cubicBezTo>
                    <a:pt x="1699895" y="0"/>
                    <a:pt x="1865757" y="165862"/>
                    <a:pt x="1865757" y="370459"/>
                  </a:cubicBezTo>
                  <a:cubicBezTo>
                    <a:pt x="1865757" y="575056"/>
                    <a:pt x="1699895" y="740918"/>
                    <a:pt x="1495298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2916860" y="9008164"/>
            <a:ext cx="686314" cy="306859"/>
            <a:chOff x="0" y="0"/>
            <a:chExt cx="915086" cy="40914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15091" cy="409149"/>
            </a:xfrm>
            <a:custGeom>
              <a:avLst/>
              <a:gdLst/>
              <a:ahLst/>
              <a:cxnLst/>
              <a:rect r="r" b="b" t="t" l="l"/>
              <a:pathLst>
                <a:path h="409149" w="915091">
                  <a:moveTo>
                    <a:pt x="0" y="0"/>
                  </a:moveTo>
                  <a:lnTo>
                    <a:pt x="915091" y="0"/>
                  </a:lnTo>
                  <a:lnTo>
                    <a:pt x="915091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60" t="0" r="-3460" b="680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15086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&lt;SOS&gt;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011625" y="8858983"/>
            <a:ext cx="1385030" cy="555746"/>
            <a:chOff x="0" y="0"/>
            <a:chExt cx="1846707" cy="74099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46580" cy="740918"/>
            </a:xfrm>
            <a:custGeom>
              <a:avLst/>
              <a:gdLst/>
              <a:ahLst/>
              <a:cxnLst/>
              <a:rect r="r" b="b" t="t" l="l"/>
              <a:pathLst>
                <a:path h="740918" w="1846580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1476121" y="0"/>
                  </a:lnTo>
                  <a:cubicBezTo>
                    <a:pt x="1680718" y="0"/>
                    <a:pt x="1846580" y="165862"/>
                    <a:pt x="1846580" y="370459"/>
                  </a:cubicBezTo>
                  <a:cubicBezTo>
                    <a:pt x="1846580" y="575056"/>
                    <a:pt x="1680718" y="740918"/>
                    <a:pt x="1476121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4475369" y="9008164"/>
            <a:ext cx="672017" cy="306859"/>
            <a:chOff x="0" y="0"/>
            <a:chExt cx="896023" cy="40914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96026" cy="409149"/>
            </a:xfrm>
            <a:custGeom>
              <a:avLst/>
              <a:gdLst/>
              <a:ahLst/>
              <a:cxnLst/>
              <a:rect r="r" b="b" t="t" l="l"/>
              <a:pathLst>
                <a:path h="409149" w="896026">
                  <a:moveTo>
                    <a:pt x="0" y="0"/>
                  </a:moveTo>
                  <a:lnTo>
                    <a:pt x="896026" y="0"/>
                  </a:lnTo>
                  <a:lnTo>
                    <a:pt x="89602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598" t="0" r="-4597" b="680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896023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&lt;EOS&gt;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570144" y="8858983"/>
            <a:ext cx="1427921" cy="555746"/>
            <a:chOff x="0" y="0"/>
            <a:chExt cx="1903895" cy="74099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903857" cy="740918"/>
            </a:xfrm>
            <a:custGeom>
              <a:avLst/>
              <a:gdLst/>
              <a:ahLst/>
              <a:cxnLst/>
              <a:rect r="r" b="b" t="t" l="l"/>
              <a:pathLst>
                <a:path h="740918" w="1903857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1533398" y="0"/>
                  </a:lnTo>
                  <a:cubicBezTo>
                    <a:pt x="1737995" y="0"/>
                    <a:pt x="1903857" y="165862"/>
                    <a:pt x="1903857" y="370459"/>
                  </a:cubicBezTo>
                  <a:cubicBezTo>
                    <a:pt x="1903857" y="575056"/>
                    <a:pt x="1737995" y="740918"/>
                    <a:pt x="1533398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6033887" y="9008164"/>
            <a:ext cx="714918" cy="306859"/>
            <a:chOff x="0" y="0"/>
            <a:chExt cx="953224" cy="40914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53221" cy="409149"/>
            </a:xfrm>
            <a:custGeom>
              <a:avLst/>
              <a:gdLst/>
              <a:ahLst/>
              <a:cxnLst/>
              <a:rect r="r" b="b" t="t" l="l"/>
              <a:pathLst>
                <a:path h="409149" w="953221">
                  <a:moveTo>
                    <a:pt x="0" y="0"/>
                  </a:moveTo>
                  <a:lnTo>
                    <a:pt x="953221" y="0"/>
                  </a:lnTo>
                  <a:lnTo>
                    <a:pt x="953221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t="0" r="-1322" b="680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953224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&lt;UNK&gt;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540502" y="9026747"/>
            <a:ext cx="343157" cy="248793"/>
            <a:chOff x="0" y="0"/>
            <a:chExt cx="457543" cy="331724"/>
          </a:xfrm>
        </p:grpSpPr>
        <p:sp>
          <p:nvSpPr>
            <p:cNvPr name="Freeform 100" id="100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" t="0" r="6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4055242" y="8950966"/>
            <a:ext cx="3331502" cy="400361"/>
            <a:chOff x="0" y="0"/>
            <a:chExt cx="4442003" cy="53381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442008" cy="533811"/>
            </a:xfrm>
            <a:custGeom>
              <a:avLst/>
              <a:gdLst/>
              <a:ahLst/>
              <a:cxnLst/>
              <a:rect r="r" b="b" t="t" l="l"/>
              <a:pathLst>
                <a:path h="533811" w="4442008">
                  <a:moveTo>
                    <a:pt x="0" y="0"/>
                  </a:moveTo>
                  <a:lnTo>
                    <a:pt x="4442008" y="0"/>
                  </a:lnTo>
                  <a:lnTo>
                    <a:pt x="4442008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2140" r="0" b="-11214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85725"/>
              <a:ext cx="4442003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CBD5E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 ready. Now we build...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adFill rotWithShape="true">
              <a:gsLst>
                <a:gs pos="0">
                  <a:srgbClr val="FB923C">
                    <a:alpha val="15000"/>
                  </a:srgbClr>
                </a:gs>
                <a:gs pos="50000">
                  <a:srgbClr val="0F172A">
                    <a:alpha val="92000"/>
                  </a:srgbClr>
                </a:gs>
                <a:gs pos="100000">
                  <a:srgbClr val="EAB308">
                    <a:alpha val="15000"/>
                  </a:srgbClr>
                </a:gs>
              </a:gsLst>
              <a:lin ang="81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20588" y="148942"/>
            <a:ext cx="5638712" cy="3171854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3"/>
              <a:stretch>
                <a:fillRect l="0" t="-9098" r="0" b="-909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18970" y="1677361"/>
            <a:ext cx="1813979" cy="576635"/>
            <a:chOff x="0" y="0"/>
            <a:chExt cx="2418639" cy="76884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418639" cy="768847"/>
              <a:chOff x="0" y="0"/>
              <a:chExt cx="2418639" cy="76884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18588" cy="768768"/>
              </a:xfrm>
              <a:custGeom>
                <a:avLst/>
                <a:gdLst/>
                <a:ahLst/>
                <a:cxnLst/>
                <a:rect r="r" b="b" t="t" l="l"/>
                <a:pathLst>
                  <a:path h="768768" w="2418588">
                    <a:moveTo>
                      <a:pt x="0" y="384384"/>
                    </a:moveTo>
                    <a:cubicBezTo>
                      <a:pt x="0" y="172097"/>
                      <a:pt x="165862" y="0"/>
                      <a:pt x="370459" y="0"/>
                    </a:cubicBezTo>
                    <a:lnTo>
                      <a:pt x="2048129" y="0"/>
                    </a:lnTo>
                    <a:cubicBezTo>
                      <a:pt x="2252726" y="0"/>
                      <a:pt x="2418588" y="172097"/>
                      <a:pt x="2418588" y="384384"/>
                    </a:cubicBezTo>
                    <a:cubicBezTo>
                      <a:pt x="2418588" y="596672"/>
                      <a:pt x="2252726" y="768768"/>
                      <a:pt x="2048129" y="768768"/>
                    </a:cubicBezTo>
                    <a:lnTo>
                      <a:pt x="370459" y="768768"/>
                    </a:lnTo>
                    <a:cubicBezTo>
                      <a:pt x="165862" y="768898"/>
                      <a:pt x="0" y="596672"/>
                      <a:pt x="0" y="384384"/>
                    </a:cubicBezTo>
                    <a:close/>
                  </a:path>
                </a:pathLst>
              </a:custGeom>
              <a:solidFill>
                <a:srgbClr val="38BDF8">
                  <a:alpha val="1961"/>
                </a:srgbClr>
              </a:solidFill>
              <a:ln w="12392" cap="sq">
                <a:solidFill>
                  <a:srgbClr val="38BDF8"/>
                </a:solidFill>
                <a:prstDash val="solid"/>
                <a:miter/>
              </a:ln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580200" y="179851"/>
              <a:ext cx="1753921" cy="409145"/>
              <a:chOff x="0" y="0"/>
              <a:chExt cx="1753921" cy="40914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3926" cy="409149"/>
              </a:xfrm>
              <a:custGeom>
                <a:avLst/>
                <a:gdLst/>
                <a:ahLst/>
                <a:cxnLst/>
                <a:rect r="r" b="b" t="t" l="l"/>
                <a:pathLst>
                  <a:path h="409149" w="1753926">
                    <a:moveTo>
                      <a:pt x="0" y="0"/>
                    </a:moveTo>
                    <a:lnTo>
                      <a:pt x="1753926" y="0"/>
                    </a:lnTo>
                    <a:lnTo>
                      <a:pt x="1753926" y="409149"/>
                    </a:lnTo>
                    <a:lnTo>
                      <a:pt x="0" y="409149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36931" r="0" b="-30123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753921" cy="4567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62"/>
                  </a:lnSpc>
                </a:pPr>
                <a:r>
                  <a:rPr lang="en-US" sz="1456" b="true">
                    <a:solidFill>
                      <a:srgbClr val="7DD3FC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CHAPTER 2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371751" y="480568"/>
            <a:ext cx="16471659" cy="2143225"/>
            <a:chOff x="0" y="0"/>
            <a:chExt cx="21962212" cy="28576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62208" cy="2857632"/>
            </a:xfrm>
            <a:custGeom>
              <a:avLst/>
              <a:gdLst/>
              <a:ahLst/>
              <a:cxnLst/>
              <a:rect r="r" b="b" t="t" l="l"/>
              <a:pathLst>
                <a:path h="2857632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2857632"/>
                  </a:lnTo>
                  <a:lnTo>
                    <a:pt x="0" y="28576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733" r="0" b="-7476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1962212" cy="2933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86"/>
                </a:lnSpc>
              </a:pPr>
              <a:r>
                <a:rPr lang="en-US" b="true" sz="5586">
                  <a:solidFill>
                    <a:srgbClr val="22C55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BUILDING FROM SCRATCH: </a:t>
              </a:r>
            </a:p>
            <a:p>
              <a:pPr algn="l">
                <a:lnSpc>
                  <a:spcPts val="7589"/>
                </a:lnSpc>
              </a:pPr>
              <a:r>
                <a:rPr lang="en-US" b="true" sz="5586">
                  <a:solidFill>
                    <a:srgbClr val="22C55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LSTM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8895" y="3539871"/>
            <a:ext cx="5317065" cy="4730953"/>
            <a:chOff x="0" y="0"/>
            <a:chExt cx="7089419" cy="63079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89394" cy="6307963"/>
            </a:xfrm>
            <a:custGeom>
              <a:avLst/>
              <a:gdLst/>
              <a:ahLst/>
              <a:cxnLst/>
              <a:rect r="r" b="b" t="t" l="l"/>
              <a:pathLst>
                <a:path h="6307963" w="7089394">
                  <a:moveTo>
                    <a:pt x="0" y="611632"/>
                  </a:moveTo>
                  <a:cubicBezTo>
                    <a:pt x="0" y="273812"/>
                    <a:pt x="273812" y="0"/>
                    <a:pt x="611632" y="0"/>
                  </a:cubicBezTo>
                  <a:lnTo>
                    <a:pt x="6477762" y="0"/>
                  </a:lnTo>
                  <a:cubicBezTo>
                    <a:pt x="6815582" y="0"/>
                    <a:pt x="7089394" y="273812"/>
                    <a:pt x="7089394" y="611632"/>
                  </a:cubicBezTo>
                  <a:lnTo>
                    <a:pt x="7089394" y="5696331"/>
                  </a:lnTo>
                  <a:cubicBezTo>
                    <a:pt x="7089394" y="6034151"/>
                    <a:pt x="6815582" y="6307963"/>
                    <a:pt x="6477762" y="6307963"/>
                  </a:cubicBezTo>
                  <a:lnTo>
                    <a:pt x="611632" y="6307963"/>
                  </a:lnTo>
                  <a:cubicBezTo>
                    <a:pt x="273812" y="6307963"/>
                    <a:pt x="0" y="6034151"/>
                    <a:pt x="0" y="5696331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15352" y="3927843"/>
            <a:ext cx="343157" cy="265957"/>
            <a:chOff x="0" y="0"/>
            <a:chExt cx="457543" cy="354609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-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5352" y="4518384"/>
            <a:ext cx="571929" cy="571948"/>
            <a:chOff x="0" y="0"/>
            <a:chExt cx="762572" cy="7625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635" cy="762635"/>
            </a:xfrm>
            <a:custGeom>
              <a:avLst/>
              <a:gdLst/>
              <a:ahLst/>
              <a:cxnLst/>
              <a:rect r="r" b="b" t="t" l="l"/>
              <a:pathLst>
                <a:path h="762635" w="7626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457581" y="0"/>
                  </a:lnTo>
                  <a:cubicBezTo>
                    <a:pt x="625983" y="0"/>
                    <a:pt x="762635" y="136525"/>
                    <a:pt x="762635" y="305054"/>
                  </a:cubicBezTo>
                  <a:lnTo>
                    <a:pt x="762635" y="457581"/>
                  </a:lnTo>
                  <a:cubicBezTo>
                    <a:pt x="762635" y="625983"/>
                    <a:pt x="626110" y="762635"/>
                    <a:pt x="457581" y="762635"/>
                  </a:cubicBezTo>
                  <a:lnTo>
                    <a:pt x="305054" y="762635"/>
                  </a:lnTo>
                  <a:cubicBezTo>
                    <a:pt x="136525" y="762635"/>
                    <a:pt x="0" y="625983"/>
                    <a:pt x="0" y="457581"/>
                  </a:cubicBezTo>
                  <a:close/>
                </a:path>
              </a:pathLst>
            </a:custGeom>
            <a:solidFill>
              <a:srgbClr val="38BDF8">
                <a:alpha val="1961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2638" y="4700568"/>
            <a:ext cx="257366" cy="207559"/>
            <a:chOff x="0" y="0"/>
            <a:chExt cx="343154" cy="276746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43154" cy="276733"/>
            </a:xfrm>
            <a:custGeom>
              <a:avLst/>
              <a:gdLst/>
              <a:ahLst/>
              <a:cxnLst/>
              <a:rect r="r" b="b" t="t" l="l"/>
              <a:pathLst>
                <a:path h="276733" w="343154">
                  <a:moveTo>
                    <a:pt x="0" y="0"/>
                  </a:moveTo>
                  <a:lnTo>
                    <a:pt x="343154" y="0"/>
                  </a:lnTo>
                  <a:lnTo>
                    <a:pt x="343154" y="276733"/>
                  </a:lnTo>
                  <a:lnTo>
                    <a:pt x="0" y="276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2" b="-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58864" y="4518384"/>
            <a:ext cx="2988345" cy="379745"/>
            <a:chOff x="0" y="0"/>
            <a:chExt cx="3984460" cy="5063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84463" cy="506329"/>
            </a:xfrm>
            <a:custGeom>
              <a:avLst/>
              <a:gdLst/>
              <a:ahLst/>
              <a:cxnLst/>
              <a:rect r="r" b="b" t="t" l="l"/>
              <a:pathLst>
                <a:path h="506329" w="3984463">
                  <a:moveTo>
                    <a:pt x="0" y="0"/>
                  </a:moveTo>
                  <a:lnTo>
                    <a:pt x="3984463" y="0"/>
                  </a:lnTo>
                  <a:lnTo>
                    <a:pt x="3984463" y="506329"/>
                  </a:lnTo>
                  <a:lnTo>
                    <a:pt x="0" y="5063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150" r="0" b="-9851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3984460" cy="582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4"/>
                </a:lnSpc>
              </a:pPr>
              <a:r>
                <a:rPr lang="en-US" sz="183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Encoder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58864" y="4861550"/>
            <a:ext cx="2988345" cy="574048"/>
            <a:chOff x="0" y="0"/>
            <a:chExt cx="3984460" cy="7653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84463" cy="765390"/>
            </a:xfrm>
            <a:custGeom>
              <a:avLst/>
              <a:gdLst/>
              <a:ahLst/>
              <a:cxnLst/>
              <a:rect r="r" b="b" t="t" l="l"/>
              <a:pathLst>
                <a:path h="765390" w="3984463">
                  <a:moveTo>
                    <a:pt x="0" y="0"/>
                  </a:moveTo>
                  <a:lnTo>
                    <a:pt x="3984463" y="0"/>
                  </a:lnTo>
                  <a:lnTo>
                    <a:pt x="3984463" y="765390"/>
                  </a:lnTo>
                  <a:lnTo>
                    <a:pt x="0" y="7653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07" r="0" b="-2136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984460" cy="803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1"/>
                </a:lnSpc>
              </a:pPr>
              <a:r>
                <a:rPr lang="en-US" sz="14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Embedding 128-dim → 2-layer LSTM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17294" y="5356955"/>
            <a:ext cx="285969" cy="210274"/>
            <a:chOff x="0" y="0"/>
            <a:chExt cx="381292" cy="280365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381254" cy="280416"/>
            </a:xfrm>
            <a:custGeom>
              <a:avLst/>
              <a:gdLst/>
              <a:ahLst/>
              <a:cxnLst/>
              <a:rect r="r" b="b" t="t" l="l"/>
              <a:pathLst>
                <a:path h="280416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80416"/>
                  </a:lnTo>
                  <a:lnTo>
                    <a:pt x="0" y="28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8" b="1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15352" y="5833853"/>
            <a:ext cx="571929" cy="571948"/>
            <a:chOff x="0" y="0"/>
            <a:chExt cx="762572" cy="7625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2635" cy="762635"/>
            </a:xfrm>
            <a:custGeom>
              <a:avLst/>
              <a:gdLst/>
              <a:ahLst/>
              <a:cxnLst/>
              <a:rect r="r" b="b" t="t" l="l"/>
              <a:pathLst>
                <a:path h="762635" w="7626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457581" y="0"/>
                  </a:lnTo>
                  <a:cubicBezTo>
                    <a:pt x="625983" y="0"/>
                    <a:pt x="762635" y="136525"/>
                    <a:pt x="762635" y="305054"/>
                  </a:cubicBezTo>
                  <a:lnTo>
                    <a:pt x="762635" y="457581"/>
                  </a:lnTo>
                  <a:cubicBezTo>
                    <a:pt x="762635" y="625983"/>
                    <a:pt x="626110" y="762635"/>
                    <a:pt x="457581" y="762635"/>
                  </a:cubicBezTo>
                  <a:lnTo>
                    <a:pt x="305054" y="762635"/>
                  </a:lnTo>
                  <a:cubicBezTo>
                    <a:pt x="136525" y="762635"/>
                    <a:pt x="0" y="625983"/>
                    <a:pt x="0" y="457581"/>
                  </a:cubicBezTo>
                  <a:close/>
                </a:path>
              </a:pathLst>
            </a:custGeom>
            <a:solidFill>
              <a:srgbClr val="818CF8">
                <a:alpha val="1961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72638" y="6032659"/>
            <a:ext cx="257366" cy="174355"/>
            <a:chOff x="0" y="0"/>
            <a:chExt cx="343154" cy="232474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343154" cy="232410"/>
            </a:xfrm>
            <a:custGeom>
              <a:avLst/>
              <a:gdLst/>
              <a:ahLst/>
              <a:cxnLst/>
              <a:rect r="r" b="b" t="t" l="l"/>
              <a:pathLst>
                <a:path h="232410" w="343154">
                  <a:moveTo>
                    <a:pt x="0" y="0"/>
                  </a:moveTo>
                  <a:lnTo>
                    <a:pt x="343154" y="0"/>
                  </a:lnTo>
                  <a:lnTo>
                    <a:pt x="343154" y="232410"/>
                  </a:lnTo>
                  <a:lnTo>
                    <a:pt x="0" y="232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2" b="-27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58864" y="5776665"/>
            <a:ext cx="2173338" cy="808408"/>
            <a:chOff x="0" y="0"/>
            <a:chExt cx="2897784" cy="107787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97790" cy="1077880"/>
            </a:xfrm>
            <a:custGeom>
              <a:avLst/>
              <a:gdLst/>
              <a:ahLst/>
              <a:cxnLst/>
              <a:rect r="r" b="b" t="t" l="l"/>
              <a:pathLst>
                <a:path h="1077880" w="2897790">
                  <a:moveTo>
                    <a:pt x="0" y="0"/>
                  </a:moveTo>
                  <a:lnTo>
                    <a:pt x="2897790" y="0"/>
                  </a:lnTo>
                  <a:lnTo>
                    <a:pt x="2897790" y="1077880"/>
                  </a:lnTo>
                  <a:lnTo>
                    <a:pt x="0" y="1077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159" r="0" b="263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2897784" cy="1154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4"/>
                </a:lnSpc>
              </a:pPr>
              <a:r>
                <a:rPr lang="en-US" sz="183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Bahdanau Attention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68923" y="5841301"/>
            <a:ext cx="2173338" cy="631241"/>
            <a:chOff x="0" y="0"/>
            <a:chExt cx="2897784" cy="8416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97790" cy="841646"/>
            </a:xfrm>
            <a:custGeom>
              <a:avLst/>
              <a:gdLst/>
              <a:ahLst/>
              <a:cxnLst/>
              <a:rect r="r" b="b" t="t" l="l"/>
              <a:pathLst>
                <a:path h="841646" w="2897790">
                  <a:moveTo>
                    <a:pt x="0" y="0"/>
                  </a:moveTo>
                  <a:lnTo>
                    <a:pt x="2897790" y="0"/>
                  </a:lnTo>
                  <a:lnTo>
                    <a:pt x="2897790" y="841646"/>
                  </a:lnTo>
                  <a:lnTo>
                    <a:pt x="0" y="8416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965" r="0" b="1479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897784" cy="87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1"/>
                </a:lnSpc>
              </a:pPr>
              <a:r>
                <a:rPr lang="en-US" sz="14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Focus on important words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417294" y="6672434"/>
            <a:ext cx="285969" cy="210274"/>
            <a:chOff x="0" y="0"/>
            <a:chExt cx="381292" cy="280365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381254" cy="280416"/>
            </a:xfrm>
            <a:custGeom>
              <a:avLst/>
              <a:gdLst/>
              <a:ahLst/>
              <a:cxnLst/>
              <a:rect r="r" b="b" t="t" l="l"/>
              <a:pathLst>
                <a:path h="280416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80416"/>
                  </a:lnTo>
                  <a:lnTo>
                    <a:pt x="0" y="28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8" b="18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15352" y="7149332"/>
            <a:ext cx="571929" cy="571948"/>
            <a:chOff x="0" y="0"/>
            <a:chExt cx="762572" cy="7625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2635" cy="762635"/>
            </a:xfrm>
            <a:custGeom>
              <a:avLst/>
              <a:gdLst/>
              <a:ahLst/>
              <a:cxnLst/>
              <a:rect r="r" b="b" t="t" l="l"/>
              <a:pathLst>
                <a:path h="762635" w="76263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457581" y="0"/>
                  </a:lnTo>
                  <a:cubicBezTo>
                    <a:pt x="625983" y="0"/>
                    <a:pt x="762635" y="136525"/>
                    <a:pt x="762635" y="305054"/>
                  </a:cubicBezTo>
                  <a:lnTo>
                    <a:pt x="762635" y="457581"/>
                  </a:lnTo>
                  <a:cubicBezTo>
                    <a:pt x="762635" y="625983"/>
                    <a:pt x="626110" y="762635"/>
                    <a:pt x="457581" y="762635"/>
                  </a:cubicBezTo>
                  <a:lnTo>
                    <a:pt x="305054" y="762635"/>
                  </a:lnTo>
                  <a:cubicBezTo>
                    <a:pt x="136525" y="762635"/>
                    <a:pt x="0" y="625983"/>
                    <a:pt x="0" y="457581"/>
                  </a:cubicBezTo>
                  <a:close/>
                </a:path>
              </a:pathLst>
            </a:custGeom>
            <a:solidFill>
              <a:srgbClr val="A78BFA">
                <a:alpha val="1961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2638" y="7331526"/>
            <a:ext cx="257366" cy="207559"/>
            <a:chOff x="0" y="0"/>
            <a:chExt cx="343154" cy="276746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343154" cy="276733"/>
            </a:xfrm>
            <a:custGeom>
              <a:avLst/>
              <a:gdLst/>
              <a:ahLst/>
              <a:cxnLst/>
              <a:rect r="r" b="b" t="t" l="l"/>
              <a:pathLst>
                <a:path h="276733" w="343154">
                  <a:moveTo>
                    <a:pt x="0" y="0"/>
                  </a:moveTo>
                  <a:lnTo>
                    <a:pt x="343154" y="0"/>
                  </a:lnTo>
                  <a:lnTo>
                    <a:pt x="343154" y="276733"/>
                  </a:lnTo>
                  <a:lnTo>
                    <a:pt x="0" y="276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-2" b="-4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958864" y="7149332"/>
            <a:ext cx="1873082" cy="379745"/>
            <a:chOff x="0" y="0"/>
            <a:chExt cx="2497442" cy="50632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97437" cy="506329"/>
            </a:xfrm>
            <a:custGeom>
              <a:avLst/>
              <a:gdLst/>
              <a:ahLst/>
              <a:cxnLst/>
              <a:rect r="r" b="b" t="t" l="l"/>
              <a:pathLst>
                <a:path h="506329" w="2497437">
                  <a:moveTo>
                    <a:pt x="0" y="0"/>
                  </a:moveTo>
                  <a:lnTo>
                    <a:pt x="2497437" y="0"/>
                  </a:lnTo>
                  <a:lnTo>
                    <a:pt x="2497437" y="506329"/>
                  </a:lnTo>
                  <a:lnTo>
                    <a:pt x="0" y="5063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925" r="0" b="-412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2497442" cy="5825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4"/>
                </a:lnSpc>
              </a:pPr>
              <a:r>
                <a:rPr lang="en-US" sz="183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Decoder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958864" y="7492508"/>
            <a:ext cx="1873082" cy="574048"/>
            <a:chOff x="0" y="0"/>
            <a:chExt cx="2497442" cy="76539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97437" cy="765390"/>
            </a:xfrm>
            <a:custGeom>
              <a:avLst/>
              <a:gdLst/>
              <a:ahLst/>
              <a:cxnLst/>
              <a:rect r="r" b="b" t="t" l="l"/>
              <a:pathLst>
                <a:path h="765390" w="2497437">
                  <a:moveTo>
                    <a:pt x="0" y="0"/>
                  </a:moveTo>
                  <a:lnTo>
                    <a:pt x="2497437" y="0"/>
                  </a:lnTo>
                  <a:lnTo>
                    <a:pt x="2497437" y="765390"/>
                  </a:lnTo>
                  <a:lnTo>
                    <a:pt x="0" y="7653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51" r="0" b="1649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497442" cy="8034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1"/>
                </a:lnSpc>
              </a:pPr>
              <a:r>
                <a:rPr lang="en-US" sz="14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LSTM → FC 20k vocab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499536" y="3539871"/>
            <a:ext cx="5317065" cy="4730953"/>
            <a:chOff x="0" y="0"/>
            <a:chExt cx="7089419" cy="630793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89394" cy="6307963"/>
            </a:xfrm>
            <a:custGeom>
              <a:avLst/>
              <a:gdLst/>
              <a:ahLst/>
              <a:cxnLst/>
              <a:rect r="r" b="b" t="t" l="l"/>
              <a:pathLst>
                <a:path h="6307963" w="7089394">
                  <a:moveTo>
                    <a:pt x="0" y="611632"/>
                  </a:moveTo>
                  <a:cubicBezTo>
                    <a:pt x="0" y="273812"/>
                    <a:pt x="273812" y="0"/>
                    <a:pt x="611632" y="0"/>
                  </a:cubicBezTo>
                  <a:lnTo>
                    <a:pt x="6477762" y="0"/>
                  </a:lnTo>
                  <a:cubicBezTo>
                    <a:pt x="6815582" y="0"/>
                    <a:pt x="7089394" y="273812"/>
                    <a:pt x="7089394" y="611632"/>
                  </a:cubicBezTo>
                  <a:lnTo>
                    <a:pt x="7089394" y="5696331"/>
                  </a:lnTo>
                  <a:cubicBezTo>
                    <a:pt x="7089394" y="6034151"/>
                    <a:pt x="6815582" y="6307963"/>
                    <a:pt x="6477762" y="6307963"/>
                  </a:cubicBezTo>
                  <a:lnTo>
                    <a:pt x="611632" y="6307963"/>
                  </a:lnTo>
                  <a:cubicBezTo>
                    <a:pt x="273812" y="6307963"/>
                    <a:pt x="0" y="6034151"/>
                    <a:pt x="0" y="5696331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05994" y="3912832"/>
            <a:ext cx="343157" cy="295980"/>
            <a:chOff x="0" y="0"/>
            <a:chExt cx="457543" cy="394640"/>
          </a:xfrm>
        </p:grpSpPr>
        <p:sp>
          <p:nvSpPr>
            <p:cNvPr name="Freeform 56" id="56" descr="image.png"/>
            <p:cNvSpPr/>
            <p:nvPr/>
          </p:nvSpPr>
          <p:spPr>
            <a:xfrm flipH="false" flipV="false" rot="0">
              <a:off x="0" y="0"/>
              <a:ext cx="457581" cy="394589"/>
            </a:xfrm>
            <a:custGeom>
              <a:avLst/>
              <a:gdLst/>
              <a:ahLst/>
              <a:cxnLst/>
              <a:rect r="r" b="b" t="t" l="l"/>
              <a:pathLst>
                <a:path h="394589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94589"/>
                  </a:lnTo>
                  <a:lnTo>
                    <a:pt x="0" y="394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" t="0" r="6" b="-12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805994" y="4518384"/>
            <a:ext cx="4704140" cy="743531"/>
            <a:chOff x="0" y="0"/>
            <a:chExt cx="6272187" cy="9913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272149" cy="991362"/>
            </a:xfrm>
            <a:custGeom>
              <a:avLst/>
              <a:gdLst/>
              <a:ahLst/>
              <a:cxnLst/>
              <a:rect r="r" b="b" t="t" l="l"/>
              <a:pathLst>
                <a:path h="991362" w="627214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967095" y="0"/>
                  </a:lnTo>
                  <a:cubicBezTo>
                    <a:pt x="6135624" y="0"/>
                    <a:pt x="6272149" y="136525"/>
                    <a:pt x="6272149" y="305054"/>
                  </a:cubicBezTo>
                  <a:lnTo>
                    <a:pt x="6272149" y="686308"/>
                  </a:lnTo>
                  <a:cubicBezTo>
                    <a:pt x="6272149" y="854837"/>
                    <a:pt x="6135624" y="991362"/>
                    <a:pt x="5967095" y="991362"/>
                  </a:cubicBezTo>
                  <a:lnTo>
                    <a:pt x="305054" y="991362"/>
                  </a:lnTo>
                  <a:cubicBezTo>
                    <a:pt x="136525" y="991362"/>
                    <a:pt x="0" y="854837"/>
                    <a:pt x="0" y="686308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977577" y="4718561"/>
            <a:ext cx="800700" cy="360245"/>
            <a:chOff x="0" y="0"/>
            <a:chExt cx="1067600" cy="48032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7606" cy="480328"/>
            </a:xfrm>
            <a:custGeom>
              <a:avLst/>
              <a:gdLst/>
              <a:ahLst/>
              <a:cxnLst/>
              <a:rect r="r" b="b" t="t" l="l"/>
              <a:pathLst>
                <a:path h="480328" w="1067606">
                  <a:moveTo>
                    <a:pt x="0" y="0"/>
                  </a:moveTo>
                  <a:lnTo>
                    <a:pt x="1067606" y="0"/>
                  </a:lnTo>
                  <a:lnTo>
                    <a:pt x="1067606" y="480328"/>
                  </a:lnTo>
                  <a:lnTo>
                    <a:pt x="0" y="4803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988" t="0" r="-4988" b="474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1067600" cy="556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Epochs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81283" y="4689967"/>
            <a:ext cx="157277" cy="400361"/>
            <a:chOff x="0" y="0"/>
            <a:chExt cx="209702" cy="53381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09708" cy="533811"/>
            </a:xfrm>
            <a:custGeom>
              <a:avLst/>
              <a:gdLst/>
              <a:ahLst/>
              <a:cxnLst/>
              <a:rect r="r" b="b" t="t" l="l"/>
              <a:pathLst>
                <a:path h="533811" w="209708">
                  <a:moveTo>
                    <a:pt x="0" y="0"/>
                  </a:moveTo>
                  <a:lnTo>
                    <a:pt x="209708" y="0"/>
                  </a:lnTo>
                  <a:lnTo>
                    <a:pt x="209708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6602" t="0" r="-276600" b="-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209702" cy="62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22D3EE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05994" y="5433498"/>
            <a:ext cx="4704140" cy="686333"/>
            <a:chOff x="0" y="0"/>
            <a:chExt cx="6272187" cy="9151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272149" cy="915162"/>
            </a:xfrm>
            <a:custGeom>
              <a:avLst/>
              <a:gdLst/>
              <a:ahLst/>
              <a:cxnLst/>
              <a:rect r="r" b="b" t="t" l="l"/>
              <a:pathLst>
                <a:path h="915162" w="627214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967095" y="0"/>
                  </a:lnTo>
                  <a:cubicBezTo>
                    <a:pt x="6135624" y="0"/>
                    <a:pt x="6272149" y="136525"/>
                    <a:pt x="6272149" y="305054"/>
                  </a:cubicBezTo>
                  <a:lnTo>
                    <a:pt x="6272149" y="610108"/>
                  </a:lnTo>
                  <a:cubicBezTo>
                    <a:pt x="6272149" y="778637"/>
                    <a:pt x="6135624" y="915162"/>
                    <a:pt x="5967095" y="915162"/>
                  </a:cubicBezTo>
                  <a:lnTo>
                    <a:pt x="305054" y="915162"/>
                  </a:lnTo>
                  <a:cubicBezTo>
                    <a:pt x="136525" y="915162"/>
                    <a:pt x="0" y="778510"/>
                    <a:pt x="0" y="610108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977577" y="5522135"/>
            <a:ext cx="1715795" cy="360245"/>
            <a:chOff x="0" y="0"/>
            <a:chExt cx="2287727" cy="48032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287729" cy="480328"/>
            </a:xfrm>
            <a:custGeom>
              <a:avLst/>
              <a:gdLst/>
              <a:ahLst/>
              <a:cxnLst/>
              <a:rect r="r" b="b" t="t" l="l"/>
              <a:pathLst>
                <a:path h="480328" w="2287729">
                  <a:moveTo>
                    <a:pt x="0" y="0"/>
                  </a:moveTo>
                  <a:lnTo>
                    <a:pt x="2287729" y="0"/>
                  </a:lnTo>
                  <a:lnTo>
                    <a:pt x="2287729" y="480328"/>
                  </a:lnTo>
                  <a:lnTo>
                    <a:pt x="0" y="4803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174" r="0" b="-4043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2287727" cy="556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Mixed Precision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437771" y="5633676"/>
            <a:ext cx="886492" cy="286360"/>
            <a:chOff x="0" y="0"/>
            <a:chExt cx="1181989" cy="38181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81993" cy="381817"/>
            </a:xfrm>
            <a:custGeom>
              <a:avLst/>
              <a:gdLst/>
              <a:ahLst/>
              <a:cxnLst/>
              <a:rect r="r" b="b" t="t" l="l"/>
              <a:pathLst>
                <a:path h="381817" w="1181993">
                  <a:moveTo>
                    <a:pt x="0" y="0"/>
                  </a:moveTo>
                  <a:lnTo>
                    <a:pt x="1181993" y="0"/>
                  </a:lnTo>
                  <a:lnTo>
                    <a:pt x="1181993" y="381817"/>
                  </a:lnTo>
                  <a:lnTo>
                    <a:pt x="0" y="3818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8" r="0" b="-1025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181989" cy="4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6"/>
                </a:lnSpc>
              </a:pPr>
              <a:r>
                <a:rPr lang="en-US" sz="1356" b="true">
                  <a:solidFill>
                    <a:srgbClr val="22D3E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2x speed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805994" y="6291415"/>
            <a:ext cx="4704140" cy="743531"/>
            <a:chOff x="0" y="0"/>
            <a:chExt cx="6272187" cy="99137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72149" cy="991362"/>
            </a:xfrm>
            <a:custGeom>
              <a:avLst/>
              <a:gdLst/>
              <a:ahLst/>
              <a:cxnLst/>
              <a:rect r="r" b="b" t="t" l="l"/>
              <a:pathLst>
                <a:path h="991362" w="627214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967095" y="0"/>
                  </a:lnTo>
                  <a:cubicBezTo>
                    <a:pt x="6135624" y="0"/>
                    <a:pt x="6272149" y="136525"/>
                    <a:pt x="6272149" y="305054"/>
                  </a:cubicBezTo>
                  <a:lnTo>
                    <a:pt x="6272149" y="686308"/>
                  </a:lnTo>
                  <a:cubicBezTo>
                    <a:pt x="6272149" y="854837"/>
                    <a:pt x="6135624" y="991362"/>
                    <a:pt x="5967095" y="991362"/>
                  </a:cubicBezTo>
                  <a:lnTo>
                    <a:pt x="305054" y="991362"/>
                  </a:lnTo>
                  <a:cubicBezTo>
                    <a:pt x="136525" y="991362"/>
                    <a:pt x="0" y="854837"/>
                    <a:pt x="0" y="686308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977577" y="6491592"/>
            <a:ext cx="1744389" cy="360245"/>
            <a:chOff x="0" y="0"/>
            <a:chExt cx="2325853" cy="48032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325857" cy="480328"/>
            </a:xfrm>
            <a:custGeom>
              <a:avLst/>
              <a:gdLst/>
              <a:ahLst/>
              <a:cxnLst/>
              <a:rect r="r" b="b" t="t" l="l"/>
              <a:pathLst>
                <a:path h="480328" w="2325857">
                  <a:moveTo>
                    <a:pt x="0" y="0"/>
                  </a:moveTo>
                  <a:lnTo>
                    <a:pt x="2325857" y="0"/>
                  </a:lnTo>
                  <a:lnTo>
                    <a:pt x="2325857" y="480328"/>
                  </a:lnTo>
                  <a:lnTo>
                    <a:pt x="0" y="4803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721" r="0" b="-4198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76200"/>
              <a:ext cx="2325853" cy="556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Teacher Forcing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866720" y="6462998"/>
            <a:ext cx="457543" cy="400361"/>
            <a:chOff x="0" y="0"/>
            <a:chExt cx="610057" cy="53381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10061" cy="533811"/>
            </a:xfrm>
            <a:custGeom>
              <a:avLst/>
              <a:gdLst/>
              <a:ahLst/>
              <a:cxnLst/>
              <a:rect r="r" b="b" t="t" l="l"/>
              <a:pathLst>
                <a:path h="533811" w="610061">
                  <a:moveTo>
                    <a:pt x="0" y="0"/>
                  </a:moveTo>
                  <a:lnTo>
                    <a:pt x="610061" y="0"/>
                  </a:lnTo>
                  <a:lnTo>
                    <a:pt x="610061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2269" t="0" r="-62268" b="-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0"/>
              <a:ext cx="610057" cy="62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22D3EE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50%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805994" y="7206529"/>
            <a:ext cx="4704140" cy="743531"/>
            <a:chOff x="0" y="0"/>
            <a:chExt cx="6272187" cy="99137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272149" cy="991362"/>
            </a:xfrm>
            <a:custGeom>
              <a:avLst/>
              <a:gdLst/>
              <a:ahLst/>
              <a:cxnLst/>
              <a:rect r="r" b="b" t="t" l="l"/>
              <a:pathLst>
                <a:path h="991362" w="627214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967095" y="0"/>
                  </a:lnTo>
                  <a:cubicBezTo>
                    <a:pt x="6135624" y="0"/>
                    <a:pt x="6272149" y="136525"/>
                    <a:pt x="6272149" y="305054"/>
                  </a:cubicBezTo>
                  <a:lnTo>
                    <a:pt x="6272149" y="686308"/>
                  </a:lnTo>
                  <a:cubicBezTo>
                    <a:pt x="6272149" y="854837"/>
                    <a:pt x="6135624" y="991362"/>
                    <a:pt x="5967095" y="991362"/>
                  </a:cubicBezTo>
                  <a:lnTo>
                    <a:pt x="305054" y="991362"/>
                  </a:lnTo>
                  <a:cubicBezTo>
                    <a:pt x="136525" y="991362"/>
                    <a:pt x="0" y="854837"/>
                    <a:pt x="0" y="686308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977577" y="7406716"/>
            <a:ext cx="1472727" cy="360245"/>
            <a:chOff x="0" y="0"/>
            <a:chExt cx="1963636" cy="48032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63634" cy="480328"/>
            </a:xfrm>
            <a:custGeom>
              <a:avLst/>
              <a:gdLst/>
              <a:ahLst/>
              <a:cxnLst/>
              <a:rect r="r" b="b" t="t" l="l"/>
              <a:pathLst>
                <a:path h="480328" w="1963634">
                  <a:moveTo>
                    <a:pt x="0" y="0"/>
                  </a:moveTo>
                  <a:lnTo>
                    <a:pt x="1963634" y="0"/>
                  </a:lnTo>
                  <a:lnTo>
                    <a:pt x="1963634" y="480328"/>
                  </a:lnTo>
                  <a:lnTo>
                    <a:pt x="0" y="4803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027" r="0" b="-2728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76200"/>
              <a:ext cx="1963636" cy="556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Grad Clipping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094605" y="7378113"/>
            <a:ext cx="1229658" cy="400361"/>
            <a:chOff x="0" y="0"/>
            <a:chExt cx="1639545" cy="53381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639539" cy="533811"/>
            </a:xfrm>
            <a:custGeom>
              <a:avLst/>
              <a:gdLst/>
              <a:ahLst/>
              <a:cxnLst/>
              <a:rect r="r" b="b" t="t" l="l"/>
              <a:pathLst>
                <a:path h="533811" w="1639539">
                  <a:moveTo>
                    <a:pt x="0" y="0"/>
                  </a:moveTo>
                  <a:lnTo>
                    <a:pt x="1639539" y="0"/>
                  </a:lnTo>
                  <a:lnTo>
                    <a:pt x="1639539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45" r="0" b="-984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0"/>
              <a:ext cx="1639545" cy="62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22D3EE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norm=1.0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075881" y="3539871"/>
            <a:ext cx="5317065" cy="4730953"/>
            <a:chOff x="0" y="0"/>
            <a:chExt cx="7089419" cy="630793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089394" cy="6307963"/>
            </a:xfrm>
            <a:custGeom>
              <a:avLst/>
              <a:gdLst/>
              <a:ahLst/>
              <a:cxnLst/>
              <a:rect r="r" b="b" t="t" l="l"/>
              <a:pathLst>
                <a:path h="6307963" w="7089394">
                  <a:moveTo>
                    <a:pt x="0" y="611632"/>
                  </a:moveTo>
                  <a:cubicBezTo>
                    <a:pt x="0" y="273812"/>
                    <a:pt x="273812" y="0"/>
                    <a:pt x="611632" y="0"/>
                  </a:cubicBezTo>
                  <a:lnTo>
                    <a:pt x="6477762" y="0"/>
                  </a:lnTo>
                  <a:cubicBezTo>
                    <a:pt x="6815582" y="0"/>
                    <a:pt x="7089394" y="273812"/>
                    <a:pt x="7089394" y="611632"/>
                  </a:cubicBezTo>
                  <a:lnTo>
                    <a:pt x="7089394" y="5696331"/>
                  </a:lnTo>
                  <a:cubicBezTo>
                    <a:pt x="7089394" y="6034151"/>
                    <a:pt x="6815582" y="6307963"/>
                    <a:pt x="6477762" y="6307963"/>
                  </a:cubicBezTo>
                  <a:lnTo>
                    <a:pt x="611632" y="6307963"/>
                  </a:lnTo>
                  <a:cubicBezTo>
                    <a:pt x="273812" y="6307963"/>
                    <a:pt x="0" y="6034151"/>
                    <a:pt x="0" y="5696331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0EA5E9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2382338" y="3927843"/>
            <a:ext cx="343157" cy="265957"/>
            <a:chOff x="0" y="0"/>
            <a:chExt cx="457543" cy="354609"/>
          </a:xfrm>
        </p:grpSpPr>
        <p:sp>
          <p:nvSpPr>
            <p:cNvPr name="Freeform 92" id="92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" t="0" r="6" b="-7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376147" y="4512183"/>
            <a:ext cx="4716532" cy="1242079"/>
            <a:chOff x="0" y="0"/>
            <a:chExt cx="6288710" cy="165610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288659" cy="1656080"/>
            </a:xfrm>
            <a:custGeom>
              <a:avLst/>
              <a:gdLst/>
              <a:ahLst/>
              <a:cxnLst/>
              <a:rect r="r" b="b" t="t" l="l"/>
              <a:pathLst>
                <a:path h="1656080" w="6288659">
                  <a:moveTo>
                    <a:pt x="0" y="308102"/>
                  </a:moveTo>
                  <a:cubicBezTo>
                    <a:pt x="0" y="137922"/>
                    <a:pt x="137922" y="0"/>
                    <a:pt x="308102" y="0"/>
                  </a:cubicBezTo>
                  <a:lnTo>
                    <a:pt x="5980557" y="0"/>
                  </a:lnTo>
                  <a:cubicBezTo>
                    <a:pt x="6150737" y="0"/>
                    <a:pt x="6288659" y="137922"/>
                    <a:pt x="6288659" y="308102"/>
                  </a:cubicBezTo>
                  <a:lnTo>
                    <a:pt x="6288659" y="1347978"/>
                  </a:lnTo>
                  <a:cubicBezTo>
                    <a:pt x="6288659" y="1518158"/>
                    <a:pt x="6150737" y="1656080"/>
                    <a:pt x="5980557" y="1656080"/>
                  </a:cubicBezTo>
                  <a:lnTo>
                    <a:pt x="308102" y="1656080"/>
                  </a:lnTo>
                  <a:cubicBezTo>
                    <a:pt x="137922" y="1656080"/>
                    <a:pt x="0" y="1518158"/>
                    <a:pt x="0" y="1347978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2625407" y="4775759"/>
            <a:ext cx="4218003" cy="307348"/>
            <a:chOff x="0" y="0"/>
            <a:chExt cx="5624004" cy="40979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624002" cy="409793"/>
            </a:xfrm>
            <a:custGeom>
              <a:avLst/>
              <a:gdLst/>
              <a:ahLst/>
              <a:cxnLst/>
              <a:rect r="r" b="b" t="t" l="l"/>
              <a:pathLst>
                <a:path h="409793" w="5624002">
                  <a:moveTo>
                    <a:pt x="0" y="0"/>
                  </a:moveTo>
                  <a:lnTo>
                    <a:pt x="5624002" y="0"/>
                  </a:lnTo>
                  <a:lnTo>
                    <a:pt x="5624002" y="409793"/>
                  </a:lnTo>
                  <a:lnTo>
                    <a:pt x="0" y="4097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0193" r="0" b="-20463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5624004" cy="447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1"/>
                </a:lnSpc>
              </a:pPr>
              <a:r>
                <a:rPr lang="en-US" sz="14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Training Loss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625407" y="5061728"/>
            <a:ext cx="829304" cy="460407"/>
            <a:chOff x="0" y="0"/>
            <a:chExt cx="1105738" cy="61387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05736" cy="613870"/>
            </a:xfrm>
            <a:custGeom>
              <a:avLst/>
              <a:gdLst/>
              <a:ahLst/>
              <a:cxnLst/>
              <a:rect r="r" b="b" t="t" l="l"/>
              <a:pathLst>
                <a:path h="613870" w="1105736">
                  <a:moveTo>
                    <a:pt x="0" y="0"/>
                  </a:moveTo>
                  <a:lnTo>
                    <a:pt x="1105736" y="0"/>
                  </a:lnTo>
                  <a:lnTo>
                    <a:pt x="1105736" y="613870"/>
                  </a:lnTo>
                  <a:lnTo>
                    <a:pt x="0" y="613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790" t="0" r="-20790" b="61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1105738" cy="671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2"/>
                </a:lnSpc>
              </a:pPr>
              <a:r>
                <a:rPr lang="en-US" sz="2554" b="true">
                  <a:solidFill>
                    <a:srgbClr val="CBD5E1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7.30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569096" y="5210604"/>
            <a:ext cx="285969" cy="159810"/>
            <a:chOff x="0" y="0"/>
            <a:chExt cx="381292" cy="213081"/>
          </a:xfrm>
        </p:grpSpPr>
        <p:sp>
          <p:nvSpPr>
            <p:cNvPr name="Freeform 102" id="102" descr="image.png"/>
            <p:cNvSpPr/>
            <p:nvPr/>
          </p:nvSpPr>
          <p:spPr>
            <a:xfrm flipH="false" flipV="false" rot="0">
              <a:off x="0" y="0"/>
              <a:ext cx="381254" cy="213106"/>
            </a:xfrm>
            <a:custGeom>
              <a:avLst/>
              <a:gdLst/>
              <a:ahLst/>
              <a:cxnLst/>
              <a:rect r="r" b="b" t="t" l="l"/>
              <a:pathLst>
                <a:path h="213106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13106"/>
                  </a:lnTo>
                  <a:lnTo>
                    <a:pt x="0" y="213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9" b="11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969451" y="5061728"/>
            <a:ext cx="829304" cy="460407"/>
            <a:chOff x="0" y="0"/>
            <a:chExt cx="1105738" cy="61387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05736" cy="613870"/>
            </a:xfrm>
            <a:custGeom>
              <a:avLst/>
              <a:gdLst/>
              <a:ahLst/>
              <a:cxnLst/>
              <a:rect r="r" b="b" t="t" l="l"/>
              <a:pathLst>
                <a:path h="613870" w="1105736">
                  <a:moveTo>
                    <a:pt x="0" y="0"/>
                  </a:moveTo>
                  <a:lnTo>
                    <a:pt x="1105736" y="0"/>
                  </a:lnTo>
                  <a:lnTo>
                    <a:pt x="1105736" y="613870"/>
                  </a:lnTo>
                  <a:lnTo>
                    <a:pt x="0" y="613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790" t="0" r="-20790" b="61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1105738" cy="6710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2"/>
                </a:lnSpc>
              </a:pPr>
              <a:r>
                <a:rPr lang="en-US" sz="2554" b="true">
                  <a:solidFill>
                    <a:srgbClr val="22C55E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6.87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382338" y="5976842"/>
            <a:ext cx="4704140" cy="1315479"/>
            <a:chOff x="0" y="0"/>
            <a:chExt cx="6272187" cy="175397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272276" cy="1753997"/>
            </a:xfrm>
            <a:custGeom>
              <a:avLst/>
              <a:gdLst/>
              <a:ahLst/>
              <a:cxnLst/>
              <a:rect r="r" b="b" t="t" l="l"/>
              <a:pathLst>
                <a:path h="1753997" w="6272276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967222" y="0"/>
                  </a:lnTo>
                  <a:cubicBezTo>
                    <a:pt x="6135624" y="0"/>
                    <a:pt x="6272276" y="136525"/>
                    <a:pt x="6272276" y="305054"/>
                  </a:cubicBezTo>
                  <a:lnTo>
                    <a:pt x="6272276" y="1448943"/>
                  </a:lnTo>
                  <a:cubicBezTo>
                    <a:pt x="6272276" y="1617345"/>
                    <a:pt x="6135751" y="1753997"/>
                    <a:pt x="5967222" y="1753997"/>
                  </a:cubicBezTo>
                  <a:lnTo>
                    <a:pt x="305054" y="1753997"/>
                  </a:lnTo>
                  <a:cubicBezTo>
                    <a:pt x="136525" y="1753997"/>
                    <a:pt x="0" y="1617345"/>
                    <a:pt x="0" y="1448943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2611110" y="6205623"/>
            <a:ext cx="4246597" cy="307348"/>
            <a:chOff x="0" y="0"/>
            <a:chExt cx="5662130" cy="409797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662132" cy="409793"/>
            </a:xfrm>
            <a:custGeom>
              <a:avLst/>
              <a:gdLst/>
              <a:ahLst/>
              <a:cxnLst/>
              <a:rect r="r" b="b" t="t" l="l"/>
              <a:pathLst>
                <a:path h="409793" w="5662132">
                  <a:moveTo>
                    <a:pt x="0" y="0"/>
                  </a:moveTo>
                  <a:lnTo>
                    <a:pt x="5662132" y="0"/>
                  </a:lnTo>
                  <a:lnTo>
                    <a:pt x="5662132" y="409793"/>
                  </a:lnTo>
                  <a:lnTo>
                    <a:pt x="0" y="4097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2006" r="0" b="-20644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5662130" cy="447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1"/>
                </a:lnSpc>
              </a:pPr>
              <a:r>
                <a:rPr lang="en-US" sz="14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Model Saved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611110" y="6491592"/>
            <a:ext cx="4246597" cy="297939"/>
            <a:chOff x="0" y="0"/>
            <a:chExt cx="5662130" cy="39725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662132" cy="397256"/>
            </a:xfrm>
            <a:custGeom>
              <a:avLst/>
              <a:gdLst/>
              <a:ahLst/>
              <a:cxnLst/>
              <a:rect r="r" b="b" t="t" l="l"/>
              <a:pathLst>
                <a:path h="397256" w="5662132">
                  <a:moveTo>
                    <a:pt x="0" y="0"/>
                  </a:moveTo>
                  <a:lnTo>
                    <a:pt x="5662132" y="0"/>
                  </a:lnTo>
                  <a:lnTo>
                    <a:pt x="5662132" y="397256"/>
                  </a:lnTo>
                  <a:lnTo>
                    <a:pt x="0" y="3972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9731" r="0" b="-22571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57150"/>
              <a:ext cx="5662130" cy="454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2"/>
                </a:lnSpc>
              </a:pPr>
              <a:r>
                <a:rPr lang="en-US" sz="1656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lstm_summarizer.pt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611110" y="6834759"/>
            <a:ext cx="4246597" cy="307348"/>
            <a:chOff x="0" y="0"/>
            <a:chExt cx="5662130" cy="409797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662132" cy="409793"/>
            </a:xfrm>
            <a:custGeom>
              <a:avLst/>
              <a:gdLst/>
              <a:ahLst/>
              <a:cxnLst/>
              <a:rect r="r" b="b" t="t" l="l"/>
              <a:pathLst>
                <a:path h="409793" w="5662132">
                  <a:moveTo>
                    <a:pt x="0" y="0"/>
                  </a:moveTo>
                  <a:lnTo>
                    <a:pt x="5662132" y="0"/>
                  </a:lnTo>
                  <a:lnTo>
                    <a:pt x="5662132" y="409793"/>
                  </a:lnTo>
                  <a:lnTo>
                    <a:pt x="0" y="4097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2006" r="0" b="-206444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5662130" cy="447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1"/>
                </a:lnSpc>
              </a:pPr>
              <a:r>
                <a:rPr lang="en-US" sz="14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vocab + idx2word included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15095" y="8712184"/>
            <a:ext cx="343157" cy="248793"/>
            <a:chOff x="0" y="0"/>
            <a:chExt cx="457543" cy="331724"/>
          </a:xfrm>
        </p:grpSpPr>
        <p:sp>
          <p:nvSpPr>
            <p:cNvPr name="Freeform 118" id="118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" t="0" r="6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29826" y="8636394"/>
            <a:ext cx="3946331" cy="422440"/>
            <a:chOff x="0" y="0"/>
            <a:chExt cx="5261775" cy="56325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261779" cy="563250"/>
            </a:xfrm>
            <a:custGeom>
              <a:avLst/>
              <a:gdLst/>
              <a:ahLst/>
              <a:cxnLst/>
              <a:rect r="r" b="b" t="t" l="l"/>
              <a:pathLst>
                <a:path h="563250" w="5261779">
                  <a:moveTo>
                    <a:pt x="0" y="0"/>
                  </a:moveTo>
                  <a:lnTo>
                    <a:pt x="5261779" y="0"/>
                  </a:lnTo>
                  <a:lnTo>
                    <a:pt x="5261779" y="563250"/>
                  </a:lnTo>
                  <a:lnTo>
                    <a:pt x="0" y="563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638" r="0" b="-129413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04775"/>
              <a:ext cx="5261775" cy="6680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8"/>
                </a:lnSpc>
              </a:pPr>
              <a:r>
                <a:rPr lang="en-US" sz="201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But could it generate fluent text?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E1B4B">
                <a:alpha val="100000"/>
              </a:srgbClr>
            </a:gs>
            <a:gs pos="50000">
              <a:srgbClr val="0F172A">
                <a:alpha val="100000"/>
              </a:srgbClr>
            </a:gs>
            <a:gs pos="100000">
              <a:srgbClr val="7F1D1D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8895" y="994715"/>
            <a:ext cx="2428808" cy="555746"/>
            <a:chOff x="0" y="0"/>
            <a:chExt cx="3238411" cy="740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38373" cy="740918"/>
            </a:xfrm>
            <a:custGeom>
              <a:avLst/>
              <a:gdLst/>
              <a:ahLst/>
              <a:cxnLst/>
              <a:rect r="r" b="b" t="t" l="l"/>
              <a:pathLst>
                <a:path h="740918" w="3238373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2867914" y="0"/>
                  </a:lnTo>
                  <a:cubicBezTo>
                    <a:pt x="3072511" y="0"/>
                    <a:pt x="3238373" y="165862"/>
                    <a:pt x="3238373" y="370459"/>
                  </a:cubicBezTo>
                  <a:cubicBezTo>
                    <a:pt x="3238373" y="575056"/>
                    <a:pt x="3072511" y="740918"/>
                    <a:pt x="2867914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  <a:ln w="12392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58164" y="1129598"/>
            <a:ext cx="1930270" cy="327358"/>
            <a:chOff x="0" y="0"/>
            <a:chExt cx="2573693" cy="4364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3695" cy="436481"/>
            </a:xfrm>
            <a:custGeom>
              <a:avLst/>
              <a:gdLst/>
              <a:ahLst/>
              <a:cxnLst/>
              <a:rect r="r" b="b" t="t" l="l"/>
              <a:pathLst>
                <a:path h="436481" w="2573695">
                  <a:moveTo>
                    <a:pt x="0" y="0"/>
                  </a:moveTo>
                  <a:lnTo>
                    <a:pt x="2573695" y="0"/>
                  </a:lnTo>
                  <a:lnTo>
                    <a:pt x="2573695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14" r="0" b="-585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573693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CA5A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CHALLENGE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5095" y="1773031"/>
            <a:ext cx="16471659" cy="1203922"/>
            <a:chOff x="0" y="0"/>
            <a:chExt cx="21962212" cy="16052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208" cy="1605229"/>
            </a:xfrm>
            <a:custGeom>
              <a:avLst/>
              <a:gdLst/>
              <a:ahLst/>
              <a:cxnLst/>
              <a:rect r="r" b="b" t="t" l="l"/>
              <a:pathLst>
                <a:path h="1605229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605229"/>
                  </a:lnTo>
                  <a:lnTo>
                    <a:pt x="0" y="16052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050" r="0" b="-211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1962212" cy="169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25"/>
                </a:lnSpc>
              </a:pPr>
              <a:r>
                <a:rPr lang="en-US" b="true" sz="5686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HARD TRUTH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2703" y="3290602"/>
            <a:ext cx="6659204" cy="2984611"/>
            <a:chOff x="0" y="0"/>
            <a:chExt cx="8878938" cy="39794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78951" cy="3979545"/>
            </a:xfrm>
            <a:custGeom>
              <a:avLst/>
              <a:gdLst/>
              <a:ahLst/>
              <a:cxnLst/>
              <a:rect r="r" b="b" t="t" l="l"/>
              <a:pathLst>
                <a:path h="3979545" w="8878951">
                  <a:moveTo>
                    <a:pt x="0" y="615188"/>
                  </a:moveTo>
                  <a:cubicBezTo>
                    <a:pt x="0" y="275463"/>
                    <a:pt x="275463" y="0"/>
                    <a:pt x="615188" y="0"/>
                  </a:cubicBezTo>
                  <a:lnTo>
                    <a:pt x="8263763" y="0"/>
                  </a:lnTo>
                  <a:cubicBezTo>
                    <a:pt x="8603488" y="0"/>
                    <a:pt x="8878951" y="275463"/>
                    <a:pt x="8878951" y="615188"/>
                  </a:cubicBezTo>
                  <a:lnTo>
                    <a:pt x="8878951" y="3364357"/>
                  </a:lnTo>
                  <a:cubicBezTo>
                    <a:pt x="8878951" y="3704082"/>
                    <a:pt x="8603488" y="3979545"/>
                    <a:pt x="8263763" y="3979545"/>
                  </a:cubicBezTo>
                  <a:lnTo>
                    <a:pt x="615188" y="3979545"/>
                  </a:lnTo>
                  <a:cubicBezTo>
                    <a:pt x="275463" y="3979418"/>
                    <a:pt x="0" y="3704082"/>
                    <a:pt x="0" y="336435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4784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6847" y="3757689"/>
            <a:ext cx="343157" cy="291694"/>
            <a:chOff x="0" y="0"/>
            <a:chExt cx="457543" cy="388925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-1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44389" y="3674755"/>
            <a:ext cx="1058075" cy="515562"/>
            <a:chOff x="0" y="0"/>
            <a:chExt cx="1410767" cy="6874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0766" cy="687409"/>
            </a:xfrm>
            <a:custGeom>
              <a:avLst/>
              <a:gdLst/>
              <a:ahLst/>
              <a:cxnLst/>
              <a:rect r="r" b="b" t="t" l="l"/>
              <a:pathLst>
                <a:path h="687409" w="1410766">
                  <a:moveTo>
                    <a:pt x="0" y="0"/>
                  </a:moveTo>
                  <a:lnTo>
                    <a:pt x="1410766" y="0"/>
                  </a:lnTo>
                  <a:lnTo>
                    <a:pt x="1410766" y="687409"/>
                  </a:lnTo>
                  <a:lnTo>
                    <a:pt x="0" y="6874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84" t="0" r="-5484" b="112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410767" cy="754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57"/>
                </a:lnSpc>
              </a:pPr>
              <a:r>
                <a:rPr lang="en-US" sz="24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INPUT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655" y="4354897"/>
            <a:ext cx="5903300" cy="1542345"/>
            <a:chOff x="0" y="0"/>
            <a:chExt cx="7871066" cy="20564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71079" cy="2056511"/>
            </a:xfrm>
            <a:custGeom>
              <a:avLst/>
              <a:gdLst/>
              <a:ahLst/>
              <a:cxnLst/>
              <a:rect r="r" b="b" t="t" l="l"/>
              <a:pathLst>
                <a:path h="2056511" w="7871079">
                  <a:moveTo>
                    <a:pt x="0" y="461264"/>
                  </a:moveTo>
                  <a:cubicBezTo>
                    <a:pt x="0" y="206502"/>
                    <a:pt x="206502" y="0"/>
                    <a:pt x="461264" y="0"/>
                  </a:cubicBezTo>
                  <a:lnTo>
                    <a:pt x="7409815" y="0"/>
                  </a:lnTo>
                  <a:cubicBezTo>
                    <a:pt x="7664577" y="0"/>
                    <a:pt x="7871079" y="206502"/>
                    <a:pt x="7871079" y="461264"/>
                  </a:cubicBezTo>
                  <a:lnTo>
                    <a:pt x="7871079" y="1595247"/>
                  </a:lnTo>
                  <a:cubicBezTo>
                    <a:pt x="7871079" y="1850009"/>
                    <a:pt x="7664577" y="2056511"/>
                    <a:pt x="7409815" y="2056511"/>
                  </a:cubicBezTo>
                  <a:lnTo>
                    <a:pt x="461264" y="2056511"/>
                  </a:lnTo>
                  <a:cubicBezTo>
                    <a:pt x="206502" y="2056511"/>
                    <a:pt x="0" y="1850009"/>
                    <a:pt x="0" y="1595247"/>
                  </a:cubicBezTo>
                  <a:close/>
                </a:path>
              </a:pathLst>
            </a:custGeom>
            <a:solidFill>
              <a:srgbClr val="22C55E">
                <a:alpha val="392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87113" y="4661364"/>
            <a:ext cx="5290375" cy="929412"/>
            <a:chOff x="0" y="0"/>
            <a:chExt cx="7053834" cy="1239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53833" cy="1239217"/>
            </a:xfrm>
            <a:custGeom>
              <a:avLst/>
              <a:gdLst/>
              <a:ahLst/>
              <a:cxnLst/>
              <a:rect r="r" b="b" t="t" l="l"/>
              <a:pathLst>
                <a:path h="1239217" w="7053833">
                  <a:moveTo>
                    <a:pt x="0" y="0"/>
                  </a:moveTo>
                  <a:lnTo>
                    <a:pt x="7053833" y="0"/>
                  </a:lnTo>
                  <a:lnTo>
                    <a:pt x="7053833" y="1239217"/>
                  </a:lnTo>
                  <a:lnTo>
                    <a:pt x="0" y="1239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12" r="0" b="-6091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7053834" cy="1343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95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Patient with </a:t>
              </a:r>
              <a:r>
                <a:rPr lang="en-US" sz="2095" b="true">
                  <a:solidFill>
                    <a:srgbClr val="4ADE8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hypertension</a:t>
              </a:r>
              <a:r>
                <a:rPr lang="en-US" sz="2095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and </a:t>
              </a:r>
              <a:r>
                <a:rPr lang="en-US" sz="2095" b="true">
                  <a:solidFill>
                    <a:srgbClr val="4ADE8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diabetes</a:t>
              </a:r>
              <a:r>
                <a:rPr lang="en-US" sz="2095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prescribed </a:t>
              </a:r>
              <a:r>
                <a:rPr lang="en-US" sz="2095" b="true">
                  <a:solidFill>
                    <a:srgbClr val="4ADE80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metformin</a:t>
              </a:r>
              <a:r>
                <a:rPr lang="en-US" sz="2095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66594" y="4191419"/>
            <a:ext cx="1168651" cy="1168679"/>
            <a:chOff x="0" y="0"/>
            <a:chExt cx="1558201" cy="15582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58290" cy="1558290"/>
            </a:xfrm>
            <a:custGeom>
              <a:avLst/>
              <a:gdLst/>
              <a:ahLst/>
              <a:cxnLst/>
              <a:rect r="r" b="b" t="t" l="l"/>
              <a:pathLst>
                <a:path h="1558290" w="1558290">
                  <a:moveTo>
                    <a:pt x="0" y="779145"/>
                  </a:moveTo>
                  <a:cubicBezTo>
                    <a:pt x="0" y="348869"/>
                    <a:pt x="348869" y="0"/>
                    <a:pt x="779145" y="0"/>
                  </a:cubicBezTo>
                  <a:cubicBezTo>
                    <a:pt x="1209421" y="0"/>
                    <a:pt x="1558290" y="348869"/>
                    <a:pt x="1558290" y="779145"/>
                  </a:cubicBezTo>
                  <a:cubicBezTo>
                    <a:pt x="1558290" y="1209421"/>
                    <a:pt x="1209421" y="1558290"/>
                    <a:pt x="779145" y="1558290"/>
                  </a:cubicBezTo>
                  <a:cubicBezTo>
                    <a:pt x="348869" y="1558290"/>
                    <a:pt x="0" y="1209421"/>
                    <a:pt x="0" y="779145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  <a:ln w="24784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807758" y="4568047"/>
            <a:ext cx="686314" cy="415414"/>
            <a:chOff x="0" y="0"/>
            <a:chExt cx="915086" cy="553885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915035" cy="553847"/>
            </a:xfrm>
            <a:custGeom>
              <a:avLst/>
              <a:gdLst/>
              <a:ahLst/>
              <a:cxnLst/>
              <a:rect r="r" b="b" t="t" l="l"/>
              <a:pathLst>
                <a:path h="553847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553847"/>
                  </a:lnTo>
                  <a:lnTo>
                    <a:pt x="0" y="553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7" b="-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39942" y="3290602"/>
            <a:ext cx="6659204" cy="2984611"/>
            <a:chOff x="0" y="0"/>
            <a:chExt cx="8878938" cy="39794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78951" cy="3979545"/>
            </a:xfrm>
            <a:custGeom>
              <a:avLst/>
              <a:gdLst/>
              <a:ahLst/>
              <a:cxnLst/>
              <a:rect r="r" b="b" t="t" l="l"/>
              <a:pathLst>
                <a:path h="3979545" w="8878951">
                  <a:moveTo>
                    <a:pt x="0" y="615188"/>
                  </a:moveTo>
                  <a:cubicBezTo>
                    <a:pt x="0" y="275463"/>
                    <a:pt x="275463" y="0"/>
                    <a:pt x="615188" y="0"/>
                  </a:cubicBezTo>
                  <a:lnTo>
                    <a:pt x="8263763" y="0"/>
                  </a:lnTo>
                  <a:cubicBezTo>
                    <a:pt x="8603488" y="0"/>
                    <a:pt x="8878951" y="275463"/>
                    <a:pt x="8878951" y="615188"/>
                  </a:cubicBezTo>
                  <a:lnTo>
                    <a:pt x="8878951" y="3364357"/>
                  </a:lnTo>
                  <a:cubicBezTo>
                    <a:pt x="8878951" y="3704082"/>
                    <a:pt x="8603488" y="3979545"/>
                    <a:pt x="8263763" y="3979545"/>
                  </a:cubicBezTo>
                  <a:lnTo>
                    <a:pt x="615188" y="3979545"/>
                  </a:lnTo>
                  <a:cubicBezTo>
                    <a:pt x="275463" y="3979418"/>
                    <a:pt x="0" y="3704082"/>
                    <a:pt x="0" y="336435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4784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124086" y="3757689"/>
            <a:ext cx="343157" cy="291694"/>
            <a:chOff x="0" y="0"/>
            <a:chExt cx="457543" cy="388925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-13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581638" y="3674755"/>
            <a:ext cx="2487901" cy="515562"/>
            <a:chOff x="0" y="0"/>
            <a:chExt cx="3317202" cy="6874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17208" cy="687409"/>
            </a:xfrm>
            <a:custGeom>
              <a:avLst/>
              <a:gdLst/>
              <a:ahLst/>
              <a:cxnLst/>
              <a:rect r="r" b="b" t="t" l="l"/>
              <a:pathLst>
                <a:path h="687409" w="3317208">
                  <a:moveTo>
                    <a:pt x="0" y="0"/>
                  </a:moveTo>
                  <a:lnTo>
                    <a:pt x="3317208" y="0"/>
                  </a:lnTo>
                  <a:lnTo>
                    <a:pt x="3317208" y="687409"/>
                  </a:lnTo>
                  <a:lnTo>
                    <a:pt x="0" y="6874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652" r="0" b="-3840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3317202" cy="754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57"/>
                </a:lnSpc>
              </a:pPr>
              <a:r>
                <a:rPr lang="en-US" sz="24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LSTM OUTPUT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17894" y="4354897"/>
            <a:ext cx="5903300" cy="1542345"/>
            <a:chOff x="0" y="0"/>
            <a:chExt cx="7871066" cy="20564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871079" cy="2056511"/>
            </a:xfrm>
            <a:custGeom>
              <a:avLst/>
              <a:gdLst/>
              <a:ahLst/>
              <a:cxnLst/>
              <a:rect r="r" b="b" t="t" l="l"/>
              <a:pathLst>
                <a:path h="2056511" w="7871079">
                  <a:moveTo>
                    <a:pt x="0" y="461264"/>
                  </a:moveTo>
                  <a:cubicBezTo>
                    <a:pt x="0" y="206502"/>
                    <a:pt x="206502" y="0"/>
                    <a:pt x="461264" y="0"/>
                  </a:cubicBezTo>
                  <a:lnTo>
                    <a:pt x="7409815" y="0"/>
                  </a:lnTo>
                  <a:cubicBezTo>
                    <a:pt x="7664577" y="0"/>
                    <a:pt x="7871079" y="206502"/>
                    <a:pt x="7871079" y="461264"/>
                  </a:cubicBezTo>
                  <a:lnTo>
                    <a:pt x="7871079" y="1595247"/>
                  </a:lnTo>
                  <a:cubicBezTo>
                    <a:pt x="7871079" y="1850009"/>
                    <a:pt x="7664577" y="2056511"/>
                    <a:pt x="7409815" y="2056511"/>
                  </a:cubicBezTo>
                  <a:lnTo>
                    <a:pt x="461264" y="2056511"/>
                  </a:lnTo>
                  <a:cubicBezTo>
                    <a:pt x="206502" y="2056511"/>
                    <a:pt x="0" y="1850009"/>
                    <a:pt x="0" y="1595247"/>
                  </a:cubicBezTo>
                  <a:close/>
                </a:path>
              </a:pathLst>
            </a:custGeom>
            <a:solidFill>
              <a:srgbClr val="EF4444">
                <a:alpha val="392"/>
              </a:srgbClr>
            </a:solidFill>
            <a:ln w="12392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424352" y="4661364"/>
            <a:ext cx="5290375" cy="929412"/>
            <a:chOff x="0" y="0"/>
            <a:chExt cx="7053834" cy="1239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53833" cy="1239217"/>
            </a:xfrm>
            <a:custGeom>
              <a:avLst/>
              <a:gdLst/>
              <a:ahLst/>
              <a:cxnLst/>
              <a:rect r="r" b="b" t="t" l="l"/>
              <a:pathLst>
                <a:path h="1239217" w="7053833">
                  <a:moveTo>
                    <a:pt x="0" y="0"/>
                  </a:moveTo>
                  <a:lnTo>
                    <a:pt x="7053833" y="0"/>
                  </a:lnTo>
                  <a:lnTo>
                    <a:pt x="7053833" y="1239217"/>
                  </a:lnTo>
                  <a:lnTo>
                    <a:pt x="0" y="1239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12" r="0" b="-609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7053834" cy="1343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209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2095">
                  <a:solidFill>
                    <a:srgbClr val="FCA5A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patient</a:t>
              </a:r>
              <a:r>
                <a:rPr lang="en-US" sz="209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2095" b="true">
                  <a:solidFill>
                    <a:srgbClr val="F87171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hyperten</a:t>
              </a:r>
              <a:r>
                <a:rPr lang="en-US" sz="209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2095" b="true">
                  <a:solidFill>
                    <a:srgbClr val="F87171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diab</a:t>
              </a:r>
              <a:r>
                <a:rPr lang="en-US" sz="209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2095">
                  <a:solidFill>
                    <a:srgbClr val="FCA5A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prescrib</a:t>
              </a:r>
              <a:r>
                <a:rPr lang="en-US" sz="209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2095" b="true">
                  <a:solidFill>
                    <a:srgbClr val="F87171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medic</a:t>
              </a:r>
              <a:r>
                <a:rPr lang="en-US" sz="2095">
                  <a:solidFill>
                    <a:srgbClr val="00000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8895" y="6599787"/>
            <a:ext cx="16484051" cy="1971313"/>
            <a:chOff x="0" y="0"/>
            <a:chExt cx="21978734" cy="262841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78747" cy="2628392"/>
            </a:xfrm>
            <a:custGeom>
              <a:avLst/>
              <a:gdLst/>
              <a:ahLst/>
              <a:cxnLst/>
              <a:rect r="r" b="b" t="t" l="l"/>
              <a:pathLst>
                <a:path h="2628392" w="21978747">
                  <a:moveTo>
                    <a:pt x="0" y="613918"/>
                  </a:moveTo>
                  <a:cubicBezTo>
                    <a:pt x="0" y="274828"/>
                    <a:pt x="274828" y="0"/>
                    <a:pt x="613918" y="0"/>
                  </a:cubicBezTo>
                  <a:lnTo>
                    <a:pt x="21364829" y="0"/>
                  </a:lnTo>
                  <a:cubicBezTo>
                    <a:pt x="21703919" y="0"/>
                    <a:pt x="21978747" y="274828"/>
                    <a:pt x="21978747" y="613918"/>
                  </a:cubicBezTo>
                  <a:lnTo>
                    <a:pt x="21978747" y="2014474"/>
                  </a:lnTo>
                  <a:cubicBezTo>
                    <a:pt x="21978747" y="2353564"/>
                    <a:pt x="21703919" y="2628392"/>
                    <a:pt x="21364829" y="2628392"/>
                  </a:cubicBezTo>
                  <a:lnTo>
                    <a:pt x="613918" y="2628392"/>
                  </a:lnTo>
                  <a:cubicBezTo>
                    <a:pt x="274828" y="2628392"/>
                    <a:pt x="0" y="2353564"/>
                    <a:pt x="0" y="2014474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15352" y="6988550"/>
            <a:ext cx="428949" cy="350168"/>
            <a:chOff x="0" y="0"/>
            <a:chExt cx="571932" cy="46689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571881" cy="466852"/>
            </a:xfrm>
            <a:custGeom>
              <a:avLst/>
              <a:gdLst/>
              <a:ahLst/>
              <a:cxnLst/>
              <a:rect r="r" b="b" t="t" l="l"/>
              <a:pathLst>
                <a:path h="466852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66852"/>
                  </a:lnTo>
                  <a:lnTo>
                    <a:pt x="0" y="46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9" b="-8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815884" y="6906254"/>
            <a:ext cx="15270594" cy="438782"/>
            <a:chOff x="0" y="0"/>
            <a:chExt cx="20360792" cy="5850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360798" cy="585038"/>
            </a:xfrm>
            <a:custGeom>
              <a:avLst/>
              <a:gdLst/>
              <a:ahLst/>
              <a:cxnLst/>
              <a:rect r="r" b="b" t="t" l="l"/>
              <a:pathLst>
                <a:path h="585038" w="20360798">
                  <a:moveTo>
                    <a:pt x="0" y="0"/>
                  </a:moveTo>
                  <a:lnTo>
                    <a:pt x="20360798" y="0"/>
                  </a:lnTo>
                  <a:lnTo>
                    <a:pt x="20360798" y="585038"/>
                  </a:lnTo>
                  <a:lnTo>
                    <a:pt x="0" y="5850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2505" r="0" b="-6237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20360792" cy="64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0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Problem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815884" y="7421013"/>
            <a:ext cx="15270594" cy="843620"/>
            <a:chOff x="0" y="0"/>
            <a:chExt cx="20360792" cy="11248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360798" cy="1124827"/>
            </a:xfrm>
            <a:custGeom>
              <a:avLst/>
              <a:gdLst/>
              <a:ahLst/>
              <a:cxnLst/>
              <a:rect r="r" b="b" t="t" l="l"/>
              <a:pathLst>
                <a:path h="1124827" w="20360798">
                  <a:moveTo>
                    <a:pt x="0" y="0"/>
                  </a:moveTo>
                  <a:lnTo>
                    <a:pt x="20360798" y="0"/>
                  </a:lnTo>
                  <a:lnTo>
                    <a:pt x="20360798" y="1124827"/>
                  </a:lnTo>
                  <a:lnTo>
                    <a:pt x="0" y="11248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703" r="0" b="-30270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04775"/>
              <a:ext cx="20360792" cy="1229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5"/>
                </a:lnSpc>
              </a:pPr>
              <a:r>
                <a:rPr lang="en-US" sz="1915">
                  <a:solidFill>
                    <a:srgbClr val="7DD3FC"/>
                  </a:solidFill>
                  <a:latin typeface="Inter"/>
                  <a:ea typeface="Inter"/>
                  <a:cs typeface="Inter"/>
                  <a:sym typeface="Inter"/>
                </a:rPr>
                <a:t> LSTMs struggle with </a:t>
              </a:r>
              <a:r>
                <a:rPr lang="en-US" b="true" sz="1915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fluent text generation</a:t>
              </a:r>
              <a:r>
                <a:rPr lang="en-US" sz="1915">
                  <a:solidFill>
                    <a:srgbClr val="7DD3FC"/>
                  </a:solidFill>
                  <a:latin typeface="Inter"/>
                  <a:ea typeface="Inter"/>
                  <a:cs typeface="Inter"/>
                  <a:sym typeface="Inter"/>
                </a:rPr>
                <a:t>. Output is choppy, grammar is missing, context is lost. Training converged, but generated text is </a:t>
              </a:r>
              <a:r>
                <a:rPr lang="en-US" b="true" sz="1915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unusable</a:t>
              </a:r>
              <a:r>
                <a:rPr lang="en-US" sz="1915">
                  <a:solidFill>
                    <a:srgbClr val="7DD3FC"/>
                  </a:solidFill>
                  <a:latin typeface="Inter"/>
                  <a:ea typeface="Inter"/>
                  <a:cs typeface="Inter"/>
                  <a:sym typeface="Inter"/>
                </a:rPr>
                <a:t> for clinical summaries. 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5095" y="8940956"/>
            <a:ext cx="343157" cy="248793"/>
            <a:chOff x="0" y="0"/>
            <a:chExt cx="457543" cy="331724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6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29826" y="8865175"/>
            <a:ext cx="5104495" cy="403697"/>
            <a:chOff x="0" y="0"/>
            <a:chExt cx="6805994" cy="5382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05995" cy="538259"/>
            </a:xfrm>
            <a:custGeom>
              <a:avLst/>
              <a:gdLst/>
              <a:ahLst/>
              <a:cxnLst/>
              <a:rect r="r" b="b" t="t" l="l"/>
              <a:pathLst>
                <a:path h="538259" w="6805995">
                  <a:moveTo>
                    <a:pt x="0" y="0"/>
                  </a:moveTo>
                  <a:lnTo>
                    <a:pt x="6805995" y="0"/>
                  </a:lnTo>
                  <a:lnTo>
                    <a:pt x="6805995" y="538259"/>
                  </a:lnTo>
                  <a:lnTo>
                    <a:pt x="0" y="538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790" r="0" b="-19596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6805994" cy="63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Then we noticed something unexpected...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adFill rotWithShape="true">
              <a:gsLst>
                <a:gs pos="0">
                  <a:srgbClr val="818CF8">
                    <a:alpha val="18000"/>
                  </a:srgbClr>
                </a:gs>
                <a:gs pos="50000">
                  <a:srgbClr val="0F172A">
                    <a:alpha val="92000"/>
                  </a:srgbClr>
                </a:gs>
                <a:gs pos="100000">
                  <a:srgbClr val="EC4899">
                    <a:alpha val="15000"/>
                  </a:srgbClr>
                </a:gs>
              </a:gsLst>
              <a:lin ang="81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153" y="-7153"/>
            <a:ext cx="18316137" cy="10309342"/>
          </a:xfrm>
          <a:custGeom>
            <a:avLst/>
            <a:gdLst/>
            <a:ahLst/>
            <a:cxnLst/>
            <a:rect r="r" b="b" t="t" l="l"/>
            <a:pathLst>
              <a:path h="10309342" w="18316137">
                <a:moveTo>
                  <a:pt x="0" y="0"/>
                </a:moveTo>
                <a:lnTo>
                  <a:pt x="18316137" y="0"/>
                </a:lnTo>
                <a:lnTo>
                  <a:pt x="18316137" y="10309341"/>
                </a:lnTo>
                <a:lnTo>
                  <a:pt x="0" y="10309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08895" y="1909829"/>
            <a:ext cx="1813979" cy="555746"/>
            <a:chOff x="0" y="0"/>
            <a:chExt cx="2418639" cy="7409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8588" cy="740918"/>
            </a:xfrm>
            <a:custGeom>
              <a:avLst/>
              <a:gdLst/>
              <a:ahLst/>
              <a:cxnLst/>
              <a:rect r="r" b="b" t="t" l="l"/>
              <a:pathLst>
                <a:path h="740918" w="2418588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2048129" y="0"/>
                  </a:lnTo>
                  <a:cubicBezTo>
                    <a:pt x="2252726" y="0"/>
                    <a:pt x="2418588" y="165862"/>
                    <a:pt x="2418588" y="370459"/>
                  </a:cubicBezTo>
                  <a:cubicBezTo>
                    <a:pt x="2418588" y="575056"/>
                    <a:pt x="2252726" y="740918"/>
                    <a:pt x="2048129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818CF8">
                <a:alpha val="1961"/>
              </a:srgbClr>
            </a:solidFill>
            <a:ln w="1239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58164" y="2044713"/>
            <a:ext cx="1315441" cy="286360"/>
            <a:chOff x="0" y="0"/>
            <a:chExt cx="1753921" cy="3818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3926" cy="381817"/>
            </a:xfrm>
            <a:custGeom>
              <a:avLst/>
              <a:gdLst/>
              <a:ahLst/>
              <a:cxnLst/>
              <a:rect r="r" b="b" t="t" l="l"/>
              <a:pathLst>
                <a:path h="381817" w="1753926">
                  <a:moveTo>
                    <a:pt x="0" y="0"/>
                  </a:moveTo>
                  <a:lnTo>
                    <a:pt x="1753926" y="0"/>
                  </a:lnTo>
                  <a:lnTo>
                    <a:pt x="1753926" y="381817"/>
                  </a:lnTo>
                  <a:lnTo>
                    <a:pt x="0" y="3818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575" r="0" b="-394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53921" cy="4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6"/>
                </a:lnSpc>
              </a:pPr>
              <a:r>
                <a:rPr lang="en-US" b="true" sz="1356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CHAPTER 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5095" y="2688146"/>
            <a:ext cx="16471659" cy="1157984"/>
            <a:chOff x="0" y="0"/>
            <a:chExt cx="21962212" cy="15439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62208" cy="1543978"/>
            </a:xfrm>
            <a:custGeom>
              <a:avLst/>
              <a:gdLst/>
              <a:ahLst/>
              <a:cxnLst/>
              <a:rect r="r" b="b" t="t" l="l"/>
              <a:pathLst>
                <a:path h="1543978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543978"/>
                  </a:lnTo>
                  <a:lnTo>
                    <a:pt x="0" y="15439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0858" r="0" b="-2234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1962212" cy="1620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454"/>
                </a:lnSpc>
              </a:pPr>
              <a:r>
                <a:rPr lang="en-US" b="true" sz="5486">
                  <a:solidFill>
                    <a:srgbClr val="FED7A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BREAKTHROUGH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5095" y="3874941"/>
            <a:ext cx="16471659" cy="585943"/>
            <a:chOff x="0" y="0"/>
            <a:chExt cx="21962212" cy="7812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62208" cy="781260"/>
            </a:xfrm>
            <a:custGeom>
              <a:avLst/>
              <a:gdLst/>
              <a:ahLst/>
              <a:cxnLst/>
              <a:rect r="r" b="b" t="t" l="l"/>
              <a:pathLst>
                <a:path h="781260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781260"/>
                  </a:lnTo>
                  <a:lnTo>
                    <a:pt x="0" y="7812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03824" r="0" b="-49167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962212" cy="809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3"/>
                </a:lnSpc>
              </a:pPr>
              <a:r>
                <a:rPr lang="en-US" sz="2793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ATTENTION MATTERS MOST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8895" y="4726667"/>
            <a:ext cx="5317065" cy="2915021"/>
            <a:chOff x="0" y="0"/>
            <a:chExt cx="7089419" cy="38866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9394" cy="3886708"/>
            </a:xfrm>
            <a:custGeom>
              <a:avLst/>
              <a:gdLst/>
              <a:ahLst/>
              <a:cxnLst/>
              <a:rect r="r" b="b" t="t" l="l"/>
              <a:pathLst>
                <a:path h="3886708" w="7089394">
                  <a:moveTo>
                    <a:pt x="0" y="612648"/>
                  </a:moveTo>
                  <a:cubicBezTo>
                    <a:pt x="0" y="274320"/>
                    <a:pt x="274320" y="0"/>
                    <a:pt x="612648" y="0"/>
                  </a:cubicBezTo>
                  <a:lnTo>
                    <a:pt x="6476746" y="0"/>
                  </a:lnTo>
                  <a:cubicBezTo>
                    <a:pt x="6815074" y="0"/>
                    <a:pt x="7089394" y="274320"/>
                    <a:pt x="7089394" y="612648"/>
                  </a:cubicBezTo>
                  <a:lnTo>
                    <a:pt x="7089394" y="3274060"/>
                  </a:lnTo>
                  <a:cubicBezTo>
                    <a:pt x="7089394" y="3612388"/>
                    <a:pt x="6815074" y="3886708"/>
                    <a:pt x="6476746" y="3886708"/>
                  </a:cubicBezTo>
                  <a:lnTo>
                    <a:pt x="612648" y="3886708"/>
                  </a:lnTo>
                  <a:cubicBezTo>
                    <a:pt x="274320" y="3886708"/>
                    <a:pt x="0" y="3612388"/>
                    <a:pt x="0" y="327406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15352" y="5116068"/>
            <a:ext cx="343157" cy="291694"/>
            <a:chOff x="0" y="0"/>
            <a:chExt cx="457543" cy="388925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-1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72904" y="5061728"/>
            <a:ext cx="2016062" cy="400361"/>
            <a:chOff x="0" y="0"/>
            <a:chExt cx="2688082" cy="5338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88082" cy="533811"/>
            </a:xfrm>
            <a:custGeom>
              <a:avLst/>
              <a:gdLst/>
              <a:ahLst/>
              <a:cxnLst/>
              <a:rect r="r" b="b" t="t" l="l"/>
              <a:pathLst>
                <a:path h="533811" w="2688082">
                  <a:moveTo>
                    <a:pt x="0" y="0"/>
                  </a:moveTo>
                  <a:lnTo>
                    <a:pt x="2688082" y="0"/>
                  </a:lnTo>
                  <a:lnTo>
                    <a:pt x="2688082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118" r="0" b="-4812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2688082" cy="590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4"/>
                </a:lnSpc>
              </a:pPr>
              <a:r>
                <a:rPr lang="en-US" sz="18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Discovery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5352" y="5662270"/>
            <a:ext cx="4704140" cy="1672944"/>
            <a:chOff x="0" y="0"/>
            <a:chExt cx="6272187" cy="22305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72192" cy="2230595"/>
            </a:xfrm>
            <a:custGeom>
              <a:avLst/>
              <a:gdLst/>
              <a:ahLst/>
              <a:cxnLst/>
              <a:rect r="r" b="b" t="t" l="l"/>
              <a:pathLst>
                <a:path h="2230595" w="6272192">
                  <a:moveTo>
                    <a:pt x="0" y="0"/>
                  </a:moveTo>
                  <a:lnTo>
                    <a:pt x="6272192" y="0"/>
                  </a:lnTo>
                  <a:lnTo>
                    <a:pt x="6272192" y="2230595"/>
                  </a:lnTo>
                  <a:lnTo>
                    <a:pt x="0" y="22305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89" r="0" b="-478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6272187" cy="2325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4"/>
                </a:lnSpc>
              </a:pPr>
              <a:r>
                <a:rPr lang="en-US" sz="17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While LSTM couldn't generate fluent text, its </a:t>
              </a:r>
              <a:r>
                <a:rPr lang="en-US" sz="1715" b="true">
                  <a:solidFill>
                    <a:srgbClr val="C4B5F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ATTENTION WEIGHTS</a:t>
              </a:r>
              <a:r>
                <a:rPr lang="en-US" sz="17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correctly identified important sentences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99536" y="4726667"/>
            <a:ext cx="5317065" cy="2915021"/>
            <a:chOff x="0" y="0"/>
            <a:chExt cx="7089419" cy="38866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89394" cy="3886708"/>
            </a:xfrm>
            <a:custGeom>
              <a:avLst/>
              <a:gdLst/>
              <a:ahLst/>
              <a:cxnLst/>
              <a:rect r="r" b="b" t="t" l="l"/>
              <a:pathLst>
                <a:path h="3886708" w="7089394">
                  <a:moveTo>
                    <a:pt x="0" y="612648"/>
                  </a:moveTo>
                  <a:cubicBezTo>
                    <a:pt x="0" y="274320"/>
                    <a:pt x="274320" y="0"/>
                    <a:pt x="612648" y="0"/>
                  </a:cubicBezTo>
                  <a:lnTo>
                    <a:pt x="6476746" y="0"/>
                  </a:lnTo>
                  <a:cubicBezTo>
                    <a:pt x="6815074" y="0"/>
                    <a:pt x="7089394" y="274320"/>
                    <a:pt x="7089394" y="612648"/>
                  </a:cubicBezTo>
                  <a:lnTo>
                    <a:pt x="7089394" y="3274060"/>
                  </a:lnTo>
                  <a:cubicBezTo>
                    <a:pt x="7089394" y="3612388"/>
                    <a:pt x="6815074" y="3886708"/>
                    <a:pt x="6476746" y="3886708"/>
                  </a:cubicBezTo>
                  <a:lnTo>
                    <a:pt x="612648" y="3886708"/>
                  </a:lnTo>
                  <a:cubicBezTo>
                    <a:pt x="274320" y="3886708"/>
                    <a:pt x="0" y="3612388"/>
                    <a:pt x="0" y="327406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EC489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805994" y="5154673"/>
            <a:ext cx="343157" cy="214484"/>
            <a:chOff x="0" y="0"/>
            <a:chExt cx="457543" cy="285979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457581" cy="286004"/>
            </a:xfrm>
            <a:custGeom>
              <a:avLst/>
              <a:gdLst/>
              <a:ahLst/>
              <a:cxnLst/>
              <a:rect r="r" b="b" t="t" l="l"/>
              <a:pathLst>
                <a:path h="28600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286004"/>
                  </a:lnTo>
                  <a:lnTo>
                    <a:pt x="0" y="2860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6" b="8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263546" y="5061728"/>
            <a:ext cx="1315441" cy="400361"/>
            <a:chOff x="0" y="0"/>
            <a:chExt cx="1753921" cy="53381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53926" cy="533811"/>
            </a:xfrm>
            <a:custGeom>
              <a:avLst/>
              <a:gdLst/>
              <a:ahLst/>
              <a:cxnLst/>
              <a:rect r="r" b="b" t="t" l="l"/>
              <a:pathLst>
                <a:path h="533811" w="1753926">
                  <a:moveTo>
                    <a:pt x="0" y="0"/>
                  </a:moveTo>
                  <a:lnTo>
                    <a:pt x="1753926" y="0"/>
                  </a:lnTo>
                  <a:lnTo>
                    <a:pt x="1753926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020" r="0" b="-140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753921" cy="590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4"/>
                </a:lnSpc>
              </a:pPr>
              <a:r>
                <a:rPr lang="en-US" sz="18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Pivot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05994" y="5757786"/>
            <a:ext cx="200177" cy="152133"/>
            <a:chOff x="0" y="0"/>
            <a:chExt cx="266903" cy="202844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66954" cy="202819"/>
            </a:xfrm>
            <a:custGeom>
              <a:avLst/>
              <a:gdLst/>
              <a:ahLst/>
              <a:cxnLst/>
              <a:rect r="r" b="b" t="t" l="l"/>
              <a:pathLst>
                <a:path h="202819" w="266954">
                  <a:moveTo>
                    <a:pt x="0" y="0"/>
                  </a:moveTo>
                  <a:lnTo>
                    <a:pt x="266954" y="0"/>
                  </a:lnTo>
                  <a:lnTo>
                    <a:pt x="266954" y="202819"/>
                  </a:lnTo>
                  <a:lnTo>
                    <a:pt x="0" y="202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20" b="-1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120557" y="5662270"/>
            <a:ext cx="3202819" cy="343168"/>
            <a:chOff x="0" y="0"/>
            <a:chExt cx="4270426" cy="4575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70428" cy="457559"/>
            </a:xfrm>
            <a:custGeom>
              <a:avLst/>
              <a:gdLst/>
              <a:ahLst/>
              <a:cxnLst/>
              <a:rect r="r" b="b" t="t" l="l"/>
              <a:pathLst>
                <a:path h="457559" w="4270428">
                  <a:moveTo>
                    <a:pt x="0" y="0"/>
                  </a:moveTo>
                  <a:lnTo>
                    <a:pt x="4270428" y="0"/>
                  </a:lnTo>
                  <a:lnTo>
                    <a:pt x="427042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1855" r="0" b="-1318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4270426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5"/>
                </a:lnSpc>
              </a:pPr>
              <a:r>
                <a:rPr lang="en-US" sz="15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Score sentences via attention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805994" y="6215348"/>
            <a:ext cx="200177" cy="152133"/>
            <a:chOff x="0" y="0"/>
            <a:chExt cx="266903" cy="202844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266954" cy="202819"/>
            </a:xfrm>
            <a:custGeom>
              <a:avLst/>
              <a:gdLst/>
              <a:ahLst/>
              <a:cxnLst/>
              <a:rect r="r" b="b" t="t" l="l"/>
              <a:pathLst>
                <a:path h="202819" w="266954">
                  <a:moveTo>
                    <a:pt x="0" y="0"/>
                  </a:moveTo>
                  <a:lnTo>
                    <a:pt x="266954" y="0"/>
                  </a:lnTo>
                  <a:lnTo>
                    <a:pt x="266954" y="202819"/>
                  </a:lnTo>
                  <a:lnTo>
                    <a:pt x="0" y="202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20" b="-12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20557" y="6119832"/>
            <a:ext cx="3302908" cy="343168"/>
            <a:chOff x="0" y="0"/>
            <a:chExt cx="4403877" cy="45755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03878" cy="457559"/>
            </a:xfrm>
            <a:custGeom>
              <a:avLst/>
              <a:gdLst/>
              <a:ahLst/>
              <a:cxnLst/>
              <a:rect r="r" b="b" t="t" l="l"/>
              <a:pathLst>
                <a:path h="457559" w="4403878">
                  <a:moveTo>
                    <a:pt x="0" y="0"/>
                  </a:moveTo>
                  <a:lnTo>
                    <a:pt x="4403878" y="0"/>
                  </a:lnTo>
                  <a:lnTo>
                    <a:pt x="440387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538" r="0" b="-13753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4403877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5"/>
                </a:lnSpc>
              </a:pPr>
              <a:r>
                <a:rPr lang="en-US" sz="15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Select top </a:t>
              </a:r>
              <a:r>
                <a:rPr lang="en-US" sz="1535" b="true">
                  <a:solidFill>
                    <a:srgbClr val="F9A8D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55%</a:t>
              </a:r>
              <a:r>
                <a:rPr lang="en-US" sz="15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attention mass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805994" y="6672901"/>
            <a:ext cx="200177" cy="152133"/>
            <a:chOff x="0" y="0"/>
            <a:chExt cx="266903" cy="202844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66954" cy="202819"/>
            </a:xfrm>
            <a:custGeom>
              <a:avLst/>
              <a:gdLst/>
              <a:ahLst/>
              <a:cxnLst/>
              <a:rect r="r" b="b" t="t" l="l"/>
              <a:pathLst>
                <a:path h="202819" w="266954">
                  <a:moveTo>
                    <a:pt x="0" y="0"/>
                  </a:moveTo>
                  <a:lnTo>
                    <a:pt x="266954" y="0"/>
                  </a:lnTo>
                  <a:lnTo>
                    <a:pt x="266954" y="202819"/>
                  </a:lnTo>
                  <a:lnTo>
                    <a:pt x="0" y="202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20" b="-12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120557" y="6577384"/>
            <a:ext cx="2745276" cy="343168"/>
            <a:chOff x="0" y="0"/>
            <a:chExt cx="3660369" cy="45755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60368" cy="457559"/>
            </a:xfrm>
            <a:custGeom>
              <a:avLst/>
              <a:gdLst/>
              <a:ahLst/>
              <a:cxnLst/>
              <a:rect r="r" b="b" t="t" l="l"/>
              <a:pathLst>
                <a:path h="457559" w="3660368">
                  <a:moveTo>
                    <a:pt x="0" y="0"/>
                  </a:moveTo>
                  <a:lnTo>
                    <a:pt x="3660368" y="0"/>
                  </a:lnTo>
                  <a:lnTo>
                    <a:pt x="366036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5876" r="0" b="-1058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3660369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5"/>
                </a:lnSpc>
              </a:pPr>
              <a:r>
                <a:rPr lang="en-US" sz="15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Pass filtered text to BART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75881" y="4726667"/>
            <a:ext cx="5317065" cy="2915021"/>
            <a:chOff x="0" y="0"/>
            <a:chExt cx="7089419" cy="38866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89394" cy="3886708"/>
            </a:xfrm>
            <a:custGeom>
              <a:avLst/>
              <a:gdLst/>
              <a:ahLst/>
              <a:cxnLst/>
              <a:rect r="r" b="b" t="t" l="l"/>
              <a:pathLst>
                <a:path h="3886708" w="7089394">
                  <a:moveTo>
                    <a:pt x="0" y="612648"/>
                  </a:moveTo>
                  <a:cubicBezTo>
                    <a:pt x="0" y="274320"/>
                    <a:pt x="274320" y="0"/>
                    <a:pt x="612648" y="0"/>
                  </a:cubicBezTo>
                  <a:lnTo>
                    <a:pt x="6476746" y="0"/>
                  </a:lnTo>
                  <a:cubicBezTo>
                    <a:pt x="6815074" y="0"/>
                    <a:pt x="7089394" y="274320"/>
                    <a:pt x="7089394" y="612648"/>
                  </a:cubicBezTo>
                  <a:lnTo>
                    <a:pt x="7089394" y="3274060"/>
                  </a:lnTo>
                  <a:cubicBezTo>
                    <a:pt x="7089394" y="3612388"/>
                    <a:pt x="6815074" y="3886708"/>
                    <a:pt x="6476746" y="3886708"/>
                  </a:cubicBezTo>
                  <a:lnTo>
                    <a:pt x="612648" y="3886708"/>
                  </a:lnTo>
                  <a:cubicBezTo>
                    <a:pt x="274320" y="3886708"/>
                    <a:pt x="0" y="3612388"/>
                    <a:pt x="0" y="327406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382338" y="5116068"/>
            <a:ext cx="343157" cy="291694"/>
            <a:chOff x="0" y="0"/>
            <a:chExt cx="457543" cy="388925"/>
          </a:xfrm>
        </p:grpSpPr>
        <p:sp>
          <p:nvSpPr>
            <p:cNvPr name="Freeform 53" id="53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6" b="-13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839881" y="5061728"/>
            <a:ext cx="1730092" cy="400361"/>
            <a:chOff x="0" y="0"/>
            <a:chExt cx="2306790" cy="53381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06794" cy="533811"/>
            </a:xfrm>
            <a:custGeom>
              <a:avLst/>
              <a:gdLst/>
              <a:ahLst/>
              <a:cxnLst/>
              <a:rect r="r" b="b" t="t" l="l"/>
              <a:pathLst>
                <a:path h="533811" w="2306794">
                  <a:moveTo>
                    <a:pt x="0" y="0"/>
                  </a:moveTo>
                  <a:lnTo>
                    <a:pt x="2306794" y="0"/>
                  </a:lnTo>
                  <a:lnTo>
                    <a:pt x="2306794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201" r="0" b="-3420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2306790" cy="590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4"/>
                </a:lnSpc>
              </a:pPr>
              <a:r>
                <a:rPr lang="en-US" sz="18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Stage 1 Born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82338" y="5662270"/>
            <a:ext cx="4704140" cy="1258283"/>
            <a:chOff x="0" y="0"/>
            <a:chExt cx="6272187" cy="167771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272192" cy="1677713"/>
            </a:xfrm>
            <a:custGeom>
              <a:avLst/>
              <a:gdLst/>
              <a:ahLst/>
              <a:cxnLst/>
              <a:rect r="r" b="b" t="t" l="l"/>
              <a:pathLst>
                <a:path h="1677713" w="6272192">
                  <a:moveTo>
                    <a:pt x="0" y="0"/>
                  </a:moveTo>
                  <a:lnTo>
                    <a:pt x="6272192" y="0"/>
                  </a:lnTo>
                  <a:lnTo>
                    <a:pt x="6272192" y="1677713"/>
                  </a:lnTo>
                  <a:lnTo>
                    <a:pt x="0" y="167771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845" r="0" b="-2284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0"/>
              <a:ext cx="6272187" cy="17729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4"/>
                </a:lnSpc>
              </a:pPr>
              <a:r>
                <a:rPr lang="en-US" sz="17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This became our sentence selection mechanism — the </a:t>
              </a:r>
              <a:r>
                <a:rPr lang="en-US" sz="1715" b="true">
                  <a:solidFill>
                    <a:srgbClr val="C4B5F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foundation</a:t>
              </a:r>
              <a:r>
                <a:rPr lang="en-US" sz="17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of the pipeline 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15095" y="8025841"/>
            <a:ext cx="343157" cy="248793"/>
            <a:chOff x="0" y="0"/>
            <a:chExt cx="457543" cy="331724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6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429826" y="7950060"/>
            <a:ext cx="4360983" cy="400361"/>
            <a:chOff x="0" y="0"/>
            <a:chExt cx="5814644" cy="53381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14647" cy="533811"/>
            </a:xfrm>
            <a:custGeom>
              <a:avLst/>
              <a:gdLst/>
              <a:ahLst/>
              <a:cxnLst/>
              <a:rect r="r" b="b" t="t" l="l"/>
              <a:pathLst>
                <a:path h="533811" w="5814647">
                  <a:moveTo>
                    <a:pt x="0" y="0"/>
                  </a:moveTo>
                  <a:lnTo>
                    <a:pt x="5814647" y="0"/>
                  </a:lnTo>
                  <a:lnTo>
                    <a:pt x="5814647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2243" r="0" b="-16224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85725"/>
              <a:ext cx="5814644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1"/>
                </a:lnSpc>
              </a:pPr>
              <a:r>
                <a:rPr lang="en-US" sz="171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Now we needed fluent summaries...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3"/>
              <a:stretch>
                <a:fillRect l="0" t="-37063" r="0" b="-3706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adFill rotWithShape="true">
              <a:gsLst>
                <a:gs pos="0">
                  <a:srgbClr val="1E293B">
                    <a:alpha val="100000"/>
                  </a:srgbClr>
                </a:gs>
                <a:gs pos="50000">
                  <a:srgbClr val="0F172A">
                    <a:alpha val="100000"/>
                  </a:srgbClr>
                </a:gs>
                <a:gs pos="100000">
                  <a:srgbClr val="064E3B">
                    <a:alpha val="100000"/>
                  </a:srgbClr>
                </a:gs>
              </a:gsLst>
              <a:lin ang="81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8895" y="994715"/>
            <a:ext cx="1470822" cy="555746"/>
            <a:chOff x="0" y="0"/>
            <a:chExt cx="1961096" cy="740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1007" cy="740918"/>
            </a:xfrm>
            <a:custGeom>
              <a:avLst/>
              <a:gdLst/>
              <a:ahLst/>
              <a:cxnLst/>
              <a:rect r="r" b="b" t="t" l="l"/>
              <a:pathLst>
                <a:path h="740918" w="1961007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1590548" y="0"/>
                  </a:lnTo>
                  <a:cubicBezTo>
                    <a:pt x="1795145" y="0"/>
                    <a:pt x="1961007" y="165862"/>
                    <a:pt x="1961007" y="370459"/>
                  </a:cubicBezTo>
                  <a:cubicBezTo>
                    <a:pt x="1961007" y="575056"/>
                    <a:pt x="1795145" y="740918"/>
                    <a:pt x="1590548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EC4899">
                <a:alpha val="1961"/>
              </a:srgbClr>
            </a:solidFill>
            <a:ln w="12392" cap="sq">
              <a:solidFill>
                <a:srgbClr val="EC489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58164" y="1115292"/>
            <a:ext cx="972283" cy="306859"/>
            <a:chOff x="0" y="0"/>
            <a:chExt cx="1296378" cy="4091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6379" cy="409149"/>
            </a:xfrm>
            <a:custGeom>
              <a:avLst/>
              <a:gdLst/>
              <a:ahLst/>
              <a:cxnLst/>
              <a:rect r="r" b="b" t="t" l="l"/>
              <a:pathLst>
                <a:path h="409149" w="1296379">
                  <a:moveTo>
                    <a:pt x="0" y="0"/>
                  </a:moveTo>
                  <a:lnTo>
                    <a:pt x="1296379" y="0"/>
                  </a:lnTo>
                  <a:lnTo>
                    <a:pt x="1296379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142" r="0" b="-83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96378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9A8D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STAGE 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5095" y="1715843"/>
            <a:ext cx="16471659" cy="1180953"/>
            <a:chOff x="0" y="0"/>
            <a:chExt cx="21962212" cy="15746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2208" cy="1574604"/>
            </a:xfrm>
            <a:custGeom>
              <a:avLst/>
              <a:gdLst/>
              <a:ahLst/>
              <a:cxnLst/>
              <a:rect r="r" b="b" t="t" l="l"/>
              <a:pathLst>
                <a:path h="1574604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574604"/>
                  </a:lnTo>
                  <a:lnTo>
                    <a:pt x="0" y="1574604"/>
                  </a:lnTo>
                  <a:close/>
                </a:path>
              </a:pathLst>
            </a:custGeom>
            <a:solidFill>
              <a:srgbClr val="4ADE8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1962212" cy="1650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89"/>
                </a:lnSpc>
              </a:pPr>
              <a:r>
                <a:rPr lang="en-US" sz="5586" b="true">
                  <a:solidFill>
                    <a:srgbClr val="22C55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FINDING THE WORDS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5095" y="2888332"/>
            <a:ext cx="16471659" cy="493745"/>
            <a:chOff x="0" y="0"/>
            <a:chExt cx="21962212" cy="6583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208" cy="658321"/>
            </a:xfrm>
            <a:custGeom>
              <a:avLst/>
              <a:gdLst/>
              <a:ahLst/>
              <a:cxnLst/>
              <a:rect r="r" b="b" t="t" l="l"/>
              <a:pathLst>
                <a:path h="658321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3703" r="0" b="-5963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1962212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2"/>
                </a:lnSpc>
              </a:pPr>
              <a:r>
                <a:rPr lang="en-US" sz="23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BART TRANSFORMER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8895" y="3625663"/>
            <a:ext cx="5317065" cy="3358277"/>
            <a:chOff x="0" y="0"/>
            <a:chExt cx="7089419" cy="44777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89394" cy="4477639"/>
            </a:xfrm>
            <a:custGeom>
              <a:avLst/>
              <a:gdLst/>
              <a:ahLst/>
              <a:cxnLst/>
              <a:rect r="r" b="b" t="t" l="l"/>
              <a:pathLst>
                <a:path h="4477639" w="7089394">
                  <a:moveTo>
                    <a:pt x="0" y="612267"/>
                  </a:moveTo>
                  <a:cubicBezTo>
                    <a:pt x="0" y="274193"/>
                    <a:pt x="274193" y="0"/>
                    <a:pt x="612267" y="0"/>
                  </a:cubicBezTo>
                  <a:lnTo>
                    <a:pt x="6477127" y="0"/>
                  </a:lnTo>
                  <a:cubicBezTo>
                    <a:pt x="6815328" y="0"/>
                    <a:pt x="7089394" y="274193"/>
                    <a:pt x="7089394" y="612267"/>
                  </a:cubicBezTo>
                  <a:lnTo>
                    <a:pt x="7089394" y="3865372"/>
                  </a:lnTo>
                  <a:cubicBezTo>
                    <a:pt x="7089394" y="4203573"/>
                    <a:pt x="6815201" y="4477639"/>
                    <a:pt x="6477127" y="4477639"/>
                  </a:cubicBezTo>
                  <a:lnTo>
                    <a:pt x="612267" y="4477639"/>
                  </a:lnTo>
                  <a:cubicBezTo>
                    <a:pt x="274193" y="4477766"/>
                    <a:pt x="0" y="4203573"/>
                    <a:pt x="0" y="386537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EC489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15352" y="4042229"/>
            <a:ext cx="343157" cy="265957"/>
            <a:chOff x="0" y="0"/>
            <a:chExt cx="457543" cy="354609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6" b="-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15352" y="4706303"/>
            <a:ext cx="228771" cy="196091"/>
            <a:chOff x="0" y="0"/>
            <a:chExt cx="305029" cy="261455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05054" cy="261493"/>
            </a:xfrm>
            <a:custGeom>
              <a:avLst/>
              <a:gdLst/>
              <a:ahLst/>
              <a:cxnLst/>
              <a:rect r="r" b="b" t="t" l="l"/>
              <a:pathLst>
                <a:path h="261493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5" b="1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58519" y="4632770"/>
            <a:ext cx="2673782" cy="343168"/>
            <a:chOff x="0" y="0"/>
            <a:chExt cx="3565042" cy="4575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65045" cy="457559"/>
            </a:xfrm>
            <a:custGeom>
              <a:avLst/>
              <a:gdLst/>
              <a:ahLst/>
              <a:cxnLst/>
              <a:rect r="r" b="b" t="t" l="l"/>
              <a:pathLst>
                <a:path h="457559" w="3565045">
                  <a:moveTo>
                    <a:pt x="0" y="0"/>
                  </a:moveTo>
                  <a:lnTo>
                    <a:pt x="3565045" y="0"/>
                  </a:lnTo>
                  <a:lnTo>
                    <a:pt x="3565045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6" r="0" b="-1018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3565042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facebook/bart-large-cnn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5352" y="5221053"/>
            <a:ext cx="228771" cy="196091"/>
            <a:chOff x="0" y="0"/>
            <a:chExt cx="305029" cy="261455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05054" cy="261493"/>
            </a:xfrm>
            <a:custGeom>
              <a:avLst/>
              <a:gdLst/>
              <a:ahLst/>
              <a:cxnLst/>
              <a:rect r="r" b="b" t="t" l="l"/>
              <a:pathLst>
                <a:path h="261493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5" b="1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58519" y="5147520"/>
            <a:ext cx="3202819" cy="343168"/>
            <a:chOff x="0" y="0"/>
            <a:chExt cx="4270426" cy="4575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70428" cy="457559"/>
            </a:xfrm>
            <a:custGeom>
              <a:avLst/>
              <a:gdLst/>
              <a:ahLst/>
              <a:cxnLst/>
              <a:rect r="r" b="b" t="t" l="l"/>
              <a:pathLst>
                <a:path h="457559" w="4270428">
                  <a:moveTo>
                    <a:pt x="0" y="0"/>
                  </a:moveTo>
                  <a:lnTo>
                    <a:pt x="4270428" y="0"/>
                  </a:lnTo>
                  <a:lnTo>
                    <a:pt x="427042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855" r="0" b="-13185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4270426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Pre-trained on CNN/DailyMail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5352" y="5735812"/>
            <a:ext cx="228771" cy="196091"/>
            <a:chOff x="0" y="0"/>
            <a:chExt cx="305029" cy="261455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305054" cy="261493"/>
            </a:xfrm>
            <a:custGeom>
              <a:avLst/>
              <a:gdLst/>
              <a:ahLst/>
              <a:cxnLst/>
              <a:rect r="r" b="b" t="t" l="l"/>
              <a:pathLst>
                <a:path h="261493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5" b="14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58519" y="5662270"/>
            <a:ext cx="2445010" cy="343168"/>
            <a:chOff x="0" y="0"/>
            <a:chExt cx="3260014" cy="45755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60015" cy="457559"/>
            </a:xfrm>
            <a:custGeom>
              <a:avLst/>
              <a:gdLst/>
              <a:ahLst/>
              <a:cxnLst/>
              <a:rect r="r" b="b" t="t" l="l"/>
              <a:pathLst>
                <a:path h="457559" w="3260015">
                  <a:moveTo>
                    <a:pt x="0" y="0"/>
                  </a:moveTo>
                  <a:lnTo>
                    <a:pt x="3260015" y="0"/>
                  </a:lnTo>
                  <a:lnTo>
                    <a:pt x="3260015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827" r="0" b="-888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3260014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No fine-tuning needed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5352" y="6250562"/>
            <a:ext cx="228771" cy="196091"/>
            <a:chOff x="0" y="0"/>
            <a:chExt cx="305029" cy="261455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305054" cy="261493"/>
            </a:xfrm>
            <a:custGeom>
              <a:avLst/>
              <a:gdLst/>
              <a:ahLst/>
              <a:cxnLst/>
              <a:rect r="r" b="b" t="t" l="l"/>
              <a:pathLst>
                <a:path h="261493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5" b="1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58519" y="6177029"/>
            <a:ext cx="3188522" cy="343168"/>
            <a:chOff x="0" y="0"/>
            <a:chExt cx="4251363" cy="45755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51363" cy="457559"/>
            </a:xfrm>
            <a:custGeom>
              <a:avLst/>
              <a:gdLst/>
              <a:ahLst/>
              <a:cxnLst/>
              <a:rect r="r" b="b" t="t" l="l"/>
              <a:pathLst>
                <a:path h="457559" w="4251363">
                  <a:moveTo>
                    <a:pt x="0" y="0"/>
                  </a:moveTo>
                  <a:lnTo>
                    <a:pt x="4251363" y="0"/>
                  </a:lnTo>
                  <a:lnTo>
                    <a:pt x="4251363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043" r="0" b="-13104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4251363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Fluent human-like summaries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99536" y="3625663"/>
            <a:ext cx="5317065" cy="3358277"/>
            <a:chOff x="0" y="0"/>
            <a:chExt cx="7089419" cy="447770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89394" cy="4477639"/>
            </a:xfrm>
            <a:custGeom>
              <a:avLst/>
              <a:gdLst/>
              <a:ahLst/>
              <a:cxnLst/>
              <a:rect r="r" b="b" t="t" l="l"/>
              <a:pathLst>
                <a:path h="4477639" w="7089394">
                  <a:moveTo>
                    <a:pt x="0" y="612267"/>
                  </a:moveTo>
                  <a:cubicBezTo>
                    <a:pt x="0" y="274193"/>
                    <a:pt x="274193" y="0"/>
                    <a:pt x="612267" y="0"/>
                  </a:cubicBezTo>
                  <a:lnTo>
                    <a:pt x="6477127" y="0"/>
                  </a:lnTo>
                  <a:cubicBezTo>
                    <a:pt x="6815328" y="0"/>
                    <a:pt x="7089394" y="274193"/>
                    <a:pt x="7089394" y="612267"/>
                  </a:cubicBezTo>
                  <a:lnTo>
                    <a:pt x="7089394" y="3865372"/>
                  </a:lnTo>
                  <a:cubicBezTo>
                    <a:pt x="7089394" y="4203573"/>
                    <a:pt x="6815201" y="4477639"/>
                    <a:pt x="6477127" y="4477639"/>
                  </a:cubicBezTo>
                  <a:lnTo>
                    <a:pt x="612267" y="4477639"/>
                  </a:lnTo>
                  <a:cubicBezTo>
                    <a:pt x="274193" y="4477766"/>
                    <a:pt x="0" y="4203573"/>
                    <a:pt x="0" y="386537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B923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805994" y="4052954"/>
            <a:ext cx="343157" cy="244507"/>
            <a:chOff x="0" y="0"/>
            <a:chExt cx="457543" cy="326009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457581" cy="326009"/>
            </a:xfrm>
            <a:custGeom>
              <a:avLst/>
              <a:gdLst/>
              <a:ahLst/>
              <a:cxnLst/>
              <a:rect r="r" b="b" t="t" l="l"/>
              <a:pathLst>
                <a:path h="326009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26009"/>
                  </a:lnTo>
                  <a:lnTo>
                    <a:pt x="0" y="326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805994" y="4632770"/>
            <a:ext cx="543335" cy="343168"/>
            <a:chOff x="0" y="0"/>
            <a:chExt cx="724446" cy="45755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4446" cy="457559"/>
            </a:xfrm>
            <a:custGeom>
              <a:avLst/>
              <a:gdLst/>
              <a:ahLst/>
              <a:cxnLst/>
              <a:rect r="r" b="b" t="t" l="l"/>
              <a:pathLst>
                <a:path h="457559" w="724446">
                  <a:moveTo>
                    <a:pt x="0" y="0"/>
                  </a:moveTo>
                  <a:lnTo>
                    <a:pt x="724446" y="0"/>
                  </a:lnTo>
                  <a:lnTo>
                    <a:pt x="724446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35" t="0" r="-31035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724446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Input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479785" y="4632770"/>
            <a:ext cx="2016062" cy="343168"/>
            <a:chOff x="0" y="0"/>
            <a:chExt cx="2688082" cy="45755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688082" cy="457559"/>
            </a:xfrm>
            <a:custGeom>
              <a:avLst/>
              <a:gdLst/>
              <a:ahLst/>
              <a:cxnLst/>
              <a:rect r="r" b="b" t="t" l="l"/>
              <a:pathLst>
                <a:path h="457559" w="2688082">
                  <a:moveTo>
                    <a:pt x="0" y="0"/>
                  </a:moveTo>
                  <a:lnTo>
                    <a:pt x="2688082" y="0"/>
                  </a:lnTo>
                  <a:lnTo>
                    <a:pt x="2688082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471" r="0" b="-6447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2688082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LSTM-filtered text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805994" y="5147520"/>
            <a:ext cx="1272550" cy="343168"/>
            <a:chOff x="0" y="0"/>
            <a:chExt cx="1696733" cy="45755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96732" cy="457559"/>
            </a:xfrm>
            <a:custGeom>
              <a:avLst/>
              <a:gdLst/>
              <a:ahLst/>
              <a:cxnLst/>
              <a:rect r="r" b="b" t="t" l="l"/>
              <a:pathLst>
                <a:path h="457559" w="1696732">
                  <a:moveTo>
                    <a:pt x="0" y="0"/>
                  </a:moveTo>
                  <a:lnTo>
                    <a:pt x="1696732" y="0"/>
                  </a:lnTo>
                  <a:lnTo>
                    <a:pt x="1696732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55" r="0" b="-2225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1696733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Max Length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94782" y="5147520"/>
            <a:ext cx="1215352" cy="343168"/>
            <a:chOff x="0" y="0"/>
            <a:chExt cx="1620469" cy="45755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620474" cy="457559"/>
            </a:xfrm>
            <a:custGeom>
              <a:avLst/>
              <a:gdLst/>
              <a:ahLst/>
              <a:cxnLst/>
              <a:rect r="r" b="b" t="t" l="l"/>
              <a:pathLst>
                <a:path h="457559" w="1620474">
                  <a:moveTo>
                    <a:pt x="0" y="0"/>
                  </a:moveTo>
                  <a:lnTo>
                    <a:pt x="1620474" y="0"/>
                  </a:lnTo>
                  <a:lnTo>
                    <a:pt x="162047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07" r="0" b="-1900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1620469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 b="true">
                  <a:solidFill>
                    <a:srgbClr val="FB923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180 tokens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05994" y="5662270"/>
            <a:ext cx="1143867" cy="343168"/>
            <a:chOff x="0" y="0"/>
            <a:chExt cx="1525156" cy="45755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25152" cy="457559"/>
            </a:xfrm>
            <a:custGeom>
              <a:avLst/>
              <a:gdLst/>
              <a:ahLst/>
              <a:cxnLst/>
              <a:rect r="r" b="b" t="t" l="l"/>
              <a:pathLst>
                <a:path h="457559" w="1525152">
                  <a:moveTo>
                    <a:pt x="0" y="0"/>
                  </a:moveTo>
                  <a:lnTo>
                    <a:pt x="1525152" y="0"/>
                  </a:lnTo>
                  <a:lnTo>
                    <a:pt x="1525152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48" r="0" b="-1494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1525156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Beam Size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352857" y="5662270"/>
            <a:ext cx="157277" cy="343168"/>
            <a:chOff x="0" y="0"/>
            <a:chExt cx="209702" cy="45755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9708" cy="457559"/>
            </a:xfrm>
            <a:custGeom>
              <a:avLst/>
              <a:gdLst/>
              <a:ahLst/>
              <a:cxnLst/>
              <a:rect r="r" b="b" t="t" l="l"/>
              <a:pathLst>
                <a:path h="457559" w="209708">
                  <a:moveTo>
                    <a:pt x="0" y="0"/>
                  </a:moveTo>
                  <a:lnTo>
                    <a:pt x="209708" y="0"/>
                  </a:lnTo>
                  <a:lnTo>
                    <a:pt x="20970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9943" t="0" r="-22994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209702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 b="true">
                  <a:solidFill>
                    <a:srgbClr val="FB923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05994" y="6177029"/>
            <a:ext cx="4704140" cy="514750"/>
            <a:chOff x="0" y="0"/>
            <a:chExt cx="6272187" cy="68633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272149" cy="686435"/>
            </a:xfrm>
            <a:custGeom>
              <a:avLst/>
              <a:gdLst/>
              <a:ahLst/>
              <a:cxnLst/>
              <a:rect r="r" b="b" t="t" l="l"/>
              <a:pathLst>
                <a:path h="686435" w="627214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967095" y="0"/>
                  </a:lnTo>
                  <a:cubicBezTo>
                    <a:pt x="6135624" y="0"/>
                    <a:pt x="6272149" y="136525"/>
                    <a:pt x="6272149" y="305054"/>
                  </a:cubicBezTo>
                  <a:lnTo>
                    <a:pt x="6272149" y="381381"/>
                  </a:lnTo>
                  <a:cubicBezTo>
                    <a:pt x="6272149" y="549910"/>
                    <a:pt x="6135624" y="686435"/>
                    <a:pt x="5967095" y="686435"/>
                  </a:cubicBezTo>
                  <a:lnTo>
                    <a:pt x="305054" y="686435"/>
                  </a:lnTo>
                  <a:cubicBezTo>
                    <a:pt x="136525" y="686308"/>
                    <a:pt x="0" y="549783"/>
                    <a:pt x="0" y="381254"/>
                  </a:cubicBezTo>
                  <a:close/>
                </a:path>
              </a:pathLst>
            </a:custGeom>
            <a:solidFill>
              <a:srgbClr val="FB923C">
                <a:alpha val="784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920379" y="6291415"/>
            <a:ext cx="4475369" cy="292227"/>
            <a:chOff x="0" y="0"/>
            <a:chExt cx="5967158" cy="3896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967162" cy="389640"/>
            </a:xfrm>
            <a:custGeom>
              <a:avLst/>
              <a:gdLst/>
              <a:ahLst/>
              <a:cxnLst/>
              <a:rect r="r" b="b" t="t" l="l"/>
              <a:pathLst>
                <a:path h="389640" w="5967162">
                  <a:moveTo>
                    <a:pt x="0" y="0"/>
                  </a:moveTo>
                  <a:lnTo>
                    <a:pt x="5967162" y="0"/>
                  </a:lnTo>
                  <a:lnTo>
                    <a:pt x="5967162" y="389640"/>
                  </a:lnTo>
                  <a:lnTo>
                    <a:pt x="0" y="389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9475" r="0" b="-24733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5967158" cy="465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2"/>
                </a:lnSpc>
              </a:pPr>
              <a:r>
                <a:rPr lang="en-US" sz="1456" b="true">
                  <a:solidFill>
                    <a:srgbClr val="FB9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Fast Processing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075881" y="3625663"/>
            <a:ext cx="5317065" cy="3358277"/>
            <a:chOff x="0" y="0"/>
            <a:chExt cx="7089419" cy="447770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089394" cy="4477639"/>
            </a:xfrm>
            <a:custGeom>
              <a:avLst/>
              <a:gdLst/>
              <a:ahLst/>
              <a:cxnLst/>
              <a:rect r="r" b="b" t="t" l="l"/>
              <a:pathLst>
                <a:path h="4477639" w="7089394">
                  <a:moveTo>
                    <a:pt x="0" y="612267"/>
                  </a:moveTo>
                  <a:cubicBezTo>
                    <a:pt x="0" y="274193"/>
                    <a:pt x="274193" y="0"/>
                    <a:pt x="612267" y="0"/>
                  </a:cubicBezTo>
                  <a:lnTo>
                    <a:pt x="6477127" y="0"/>
                  </a:lnTo>
                  <a:cubicBezTo>
                    <a:pt x="6815328" y="0"/>
                    <a:pt x="7089394" y="274193"/>
                    <a:pt x="7089394" y="612267"/>
                  </a:cubicBezTo>
                  <a:lnTo>
                    <a:pt x="7089394" y="3865372"/>
                  </a:lnTo>
                  <a:cubicBezTo>
                    <a:pt x="7089394" y="4203573"/>
                    <a:pt x="6815201" y="4477639"/>
                    <a:pt x="6477127" y="4477639"/>
                  </a:cubicBezTo>
                  <a:lnTo>
                    <a:pt x="612267" y="4477639"/>
                  </a:lnTo>
                  <a:cubicBezTo>
                    <a:pt x="274193" y="4477766"/>
                    <a:pt x="0" y="4203573"/>
                    <a:pt x="0" y="386537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B923C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2382338" y="4035800"/>
            <a:ext cx="343157" cy="278825"/>
            <a:chOff x="0" y="0"/>
            <a:chExt cx="457543" cy="371767"/>
          </a:xfrm>
        </p:grpSpPr>
        <p:sp>
          <p:nvSpPr>
            <p:cNvPr name="Freeform 71" id="71" descr="image.png"/>
            <p:cNvSpPr/>
            <p:nvPr/>
          </p:nvSpPr>
          <p:spPr>
            <a:xfrm flipH="false" flipV="false" rot="0">
              <a:off x="0" y="0"/>
              <a:ext cx="457581" cy="371729"/>
            </a:xfrm>
            <a:custGeom>
              <a:avLst/>
              <a:gdLst/>
              <a:ahLst/>
              <a:cxnLst/>
              <a:rect r="r" b="b" t="t" l="l"/>
              <a:pathLst>
                <a:path h="371729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71729"/>
                  </a:lnTo>
                  <a:lnTo>
                    <a:pt x="0" y="371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6" b="-1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382338" y="4632770"/>
            <a:ext cx="543335" cy="343168"/>
            <a:chOff x="0" y="0"/>
            <a:chExt cx="724446" cy="45755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4446" cy="457559"/>
            </a:xfrm>
            <a:custGeom>
              <a:avLst/>
              <a:gdLst/>
              <a:ahLst/>
              <a:cxnLst/>
              <a:rect r="r" b="b" t="t" l="l"/>
              <a:pathLst>
                <a:path h="457559" w="724446">
                  <a:moveTo>
                    <a:pt x="0" y="0"/>
                  </a:moveTo>
                  <a:lnTo>
                    <a:pt x="724446" y="0"/>
                  </a:lnTo>
                  <a:lnTo>
                    <a:pt x="724446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1035" t="0" r="-31035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76200"/>
              <a:ext cx="724446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Input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6214284" y="4632770"/>
            <a:ext cx="872195" cy="343168"/>
            <a:chOff x="0" y="0"/>
            <a:chExt cx="1162926" cy="45755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62929" cy="457559"/>
            </a:xfrm>
            <a:custGeom>
              <a:avLst/>
              <a:gdLst/>
              <a:ahLst/>
              <a:cxnLst/>
              <a:rect r="r" b="b" t="t" l="l"/>
              <a:pathLst>
                <a:path h="457559" w="1162929">
                  <a:moveTo>
                    <a:pt x="0" y="0"/>
                  </a:moveTo>
                  <a:lnTo>
                    <a:pt x="1162929" y="0"/>
                  </a:lnTo>
                  <a:lnTo>
                    <a:pt x="1162929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81" t="0" r="-481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76200"/>
              <a:ext cx="1162926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text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382338" y="5147520"/>
            <a:ext cx="1272550" cy="343168"/>
            <a:chOff x="0" y="0"/>
            <a:chExt cx="1696733" cy="45755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696732" cy="457559"/>
            </a:xfrm>
            <a:custGeom>
              <a:avLst/>
              <a:gdLst/>
              <a:ahLst/>
              <a:cxnLst/>
              <a:rect r="r" b="b" t="t" l="l"/>
              <a:pathLst>
                <a:path h="457559" w="1696732">
                  <a:moveTo>
                    <a:pt x="0" y="0"/>
                  </a:moveTo>
                  <a:lnTo>
                    <a:pt x="1696732" y="0"/>
                  </a:lnTo>
                  <a:lnTo>
                    <a:pt x="1696732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255" r="0" b="-2225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76200"/>
              <a:ext cx="1696733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Max Length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5828235" y="5147520"/>
            <a:ext cx="1258252" cy="343168"/>
            <a:chOff x="0" y="0"/>
            <a:chExt cx="1677670" cy="45755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677669" cy="457559"/>
            </a:xfrm>
            <a:custGeom>
              <a:avLst/>
              <a:gdLst/>
              <a:ahLst/>
              <a:cxnLst/>
              <a:rect r="r" b="b" t="t" l="l"/>
              <a:pathLst>
                <a:path h="457559" w="1677669">
                  <a:moveTo>
                    <a:pt x="0" y="0"/>
                  </a:moveTo>
                  <a:lnTo>
                    <a:pt x="1677669" y="0"/>
                  </a:lnTo>
                  <a:lnTo>
                    <a:pt x="1677669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43" r="0" b="-2144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76200"/>
              <a:ext cx="1677670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 b="true">
                  <a:solidFill>
                    <a:srgbClr val="FB923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280 tokens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382338" y="5662270"/>
            <a:ext cx="1143867" cy="343168"/>
            <a:chOff x="0" y="0"/>
            <a:chExt cx="1525156" cy="45755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525152" cy="457559"/>
            </a:xfrm>
            <a:custGeom>
              <a:avLst/>
              <a:gdLst/>
              <a:ahLst/>
              <a:cxnLst/>
              <a:rect r="r" b="b" t="t" l="l"/>
              <a:pathLst>
                <a:path h="457559" w="1525152">
                  <a:moveTo>
                    <a:pt x="0" y="0"/>
                  </a:moveTo>
                  <a:lnTo>
                    <a:pt x="1525152" y="0"/>
                  </a:lnTo>
                  <a:lnTo>
                    <a:pt x="1525152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48" r="0" b="-1494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1525156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Beam Size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382338" y="6177029"/>
            <a:ext cx="4704140" cy="514750"/>
            <a:chOff x="0" y="0"/>
            <a:chExt cx="6272187" cy="68633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272149" cy="686435"/>
            </a:xfrm>
            <a:custGeom>
              <a:avLst/>
              <a:gdLst/>
              <a:ahLst/>
              <a:cxnLst/>
              <a:rect r="r" b="b" t="t" l="l"/>
              <a:pathLst>
                <a:path h="686435" w="627214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5967095" y="0"/>
                  </a:lnTo>
                  <a:cubicBezTo>
                    <a:pt x="6135624" y="0"/>
                    <a:pt x="6272149" y="136525"/>
                    <a:pt x="6272149" y="305054"/>
                  </a:cubicBezTo>
                  <a:lnTo>
                    <a:pt x="6272149" y="381381"/>
                  </a:lnTo>
                  <a:cubicBezTo>
                    <a:pt x="6272149" y="549910"/>
                    <a:pt x="6135624" y="686435"/>
                    <a:pt x="5967095" y="686435"/>
                  </a:cubicBezTo>
                  <a:lnTo>
                    <a:pt x="305054" y="686435"/>
                  </a:lnTo>
                  <a:cubicBezTo>
                    <a:pt x="136525" y="686308"/>
                    <a:pt x="0" y="549783"/>
                    <a:pt x="0" y="381254"/>
                  </a:cubicBezTo>
                  <a:close/>
                </a:path>
              </a:pathLst>
            </a:custGeom>
            <a:solidFill>
              <a:srgbClr val="FB923C">
                <a:alpha val="1961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496724" y="6291415"/>
            <a:ext cx="4475369" cy="292227"/>
            <a:chOff x="0" y="0"/>
            <a:chExt cx="5967158" cy="38963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67162" cy="389640"/>
            </a:xfrm>
            <a:custGeom>
              <a:avLst/>
              <a:gdLst/>
              <a:ahLst/>
              <a:cxnLst/>
              <a:rect r="r" b="b" t="t" l="l"/>
              <a:pathLst>
                <a:path h="389640" w="5967162">
                  <a:moveTo>
                    <a:pt x="0" y="0"/>
                  </a:moveTo>
                  <a:lnTo>
                    <a:pt x="5967162" y="0"/>
                  </a:lnTo>
                  <a:lnTo>
                    <a:pt x="5967162" y="389640"/>
                  </a:lnTo>
                  <a:lnTo>
                    <a:pt x="0" y="389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9475" r="0" b="-24733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76200"/>
              <a:ext cx="5967158" cy="465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2"/>
                </a:lnSpc>
              </a:pPr>
              <a:r>
                <a:rPr lang="en-US" sz="1456" b="true">
                  <a:solidFill>
                    <a:srgbClr val="FB9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Comprehensive Detail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08895" y="7257526"/>
            <a:ext cx="16484051" cy="1356465"/>
            <a:chOff x="0" y="0"/>
            <a:chExt cx="21978734" cy="18086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78747" cy="1808607"/>
            </a:xfrm>
            <a:custGeom>
              <a:avLst/>
              <a:gdLst/>
              <a:ahLst/>
              <a:cxnLst/>
              <a:rect r="r" b="b" t="t" l="l"/>
              <a:pathLst>
                <a:path h="1808607" w="21978747">
                  <a:moveTo>
                    <a:pt x="0" y="615696"/>
                  </a:moveTo>
                  <a:cubicBezTo>
                    <a:pt x="0" y="275717"/>
                    <a:pt x="275717" y="0"/>
                    <a:pt x="615696" y="0"/>
                  </a:cubicBezTo>
                  <a:lnTo>
                    <a:pt x="21363051" y="0"/>
                  </a:lnTo>
                  <a:cubicBezTo>
                    <a:pt x="21703030" y="0"/>
                    <a:pt x="21978747" y="275717"/>
                    <a:pt x="21978747" y="615696"/>
                  </a:cubicBezTo>
                  <a:lnTo>
                    <a:pt x="21978747" y="1192911"/>
                  </a:lnTo>
                  <a:cubicBezTo>
                    <a:pt x="21978747" y="1532890"/>
                    <a:pt x="21703030" y="1808607"/>
                    <a:pt x="21363051" y="1808607"/>
                  </a:cubicBezTo>
                  <a:lnTo>
                    <a:pt x="615696" y="1808607"/>
                  </a:lnTo>
                  <a:cubicBezTo>
                    <a:pt x="275717" y="1808607"/>
                    <a:pt x="0" y="1533017"/>
                    <a:pt x="0" y="1192911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EC4899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215352" y="7787059"/>
            <a:ext cx="343157" cy="326012"/>
            <a:chOff x="0" y="0"/>
            <a:chExt cx="457543" cy="434683"/>
          </a:xfrm>
        </p:grpSpPr>
        <p:sp>
          <p:nvSpPr>
            <p:cNvPr name="Freeform 95" id="95" descr="image.png"/>
            <p:cNvSpPr/>
            <p:nvPr/>
          </p:nvSpPr>
          <p:spPr>
            <a:xfrm flipH="false" flipV="false" rot="0">
              <a:off x="0" y="0"/>
              <a:ext cx="457581" cy="434721"/>
            </a:xfrm>
            <a:custGeom>
              <a:avLst/>
              <a:gdLst/>
              <a:ahLst/>
              <a:cxnLst/>
              <a:rect r="r" b="b" t="t" l="l"/>
              <a:pathLst>
                <a:path h="43472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34721"/>
                  </a:lnTo>
                  <a:lnTo>
                    <a:pt x="0" y="434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6" b="8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730092" y="7578300"/>
            <a:ext cx="13168741" cy="306859"/>
            <a:chOff x="0" y="0"/>
            <a:chExt cx="17558322" cy="40914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7558327" cy="409149"/>
            </a:xfrm>
            <a:custGeom>
              <a:avLst/>
              <a:gdLst/>
              <a:ahLst/>
              <a:cxnLst/>
              <a:rect r="r" b="b" t="t" l="l"/>
              <a:pathLst>
                <a:path h="409149" w="17558327">
                  <a:moveTo>
                    <a:pt x="0" y="0"/>
                  </a:moveTo>
                  <a:lnTo>
                    <a:pt x="17558327" y="0"/>
                  </a:lnTo>
                  <a:lnTo>
                    <a:pt x="17558327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9589" r="0" b="-78278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17558322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Example Output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730092" y="7921466"/>
            <a:ext cx="13168741" cy="400361"/>
            <a:chOff x="0" y="0"/>
            <a:chExt cx="17558322" cy="53381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7558327" cy="533811"/>
            </a:xfrm>
            <a:custGeom>
              <a:avLst/>
              <a:gdLst/>
              <a:ahLst/>
              <a:cxnLst/>
              <a:rect r="r" b="b" t="t" l="l"/>
              <a:pathLst>
                <a:path h="533811" w="17558327">
                  <a:moveTo>
                    <a:pt x="0" y="0"/>
                  </a:moveTo>
                  <a:lnTo>
                    <a:pt x="17558327" y="0"/>
                  </a:lnTo>
                  <a:lnTo>
                    <a:pt x="17558327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0908" r="0" b="-59091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85725"/>
              <a:ext cx="17558322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"</a:t>
              </a: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56-year-old male</a:t>
              </a:r>
              <a:r>
                <a:rPr lang="en-US" sz="18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diagnosed with </a:t>
              </a:r>
              <a:r>
                <a:rPr lang="en-US" sz="1815" b="true">
                  <a:solidFill>
                    <a:srgbClr val="F9A8D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Type 2 Diabetes</a:t>
              </a:r>
              <a:r>
                <a:rPr lang="en-US" sz="18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lang="en-US" sz="1815" b="true">
                  <a:solidFill>
                    <a:srgbClr val="F9A8D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hypertension</a:t>
              </a:r>
              <a:r>
                <a:rPr lang="en-US" sz="18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. Prescribed </a:t>
              </a:r>
              <a:r>
                <a:rPr lang="en-US" sz="1815" b="true">
                  <a:solidFill>
                    <a:srgbClr val="FB923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metformin</a:t>
              </a:r>
              <a:r>
                <a:rPr lang="en-US" sz="18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lang="en-US" sz="1815" b="true">
                  <a:solidFill>
                    <a:srgbClr val="FB923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lisinopril</a:t>
              </a:r>
              <a:r>
                <a:rPr lang="en-US" sz="1815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."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15095" y="8940956"/>
            <a:ext cx="343157" cy="248793"/>
            <a:chOff x="0" y="0"/>
            <a:chExt cx="457543" cy="331724"/>
          </a:xfrm>
        </p:grpSpPr>
        <p:sp>
          <p:nvSpPr>
            <p:cNvPr name="Freeform 103" id="103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6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429826" y="8865175"/>
            <a:ext cx="4904318" cy="400361"/>
            <a:chOff x="0" y="0"/>
            <a:chExt cx="6539090" cy="53381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539095" cy="533811"/>
            </a:xfrm>
            <a:custGeom>
              <a:avLst/>
              <a:gdLst/>
              <a:ahLst/>
              <a:cxnLst/>
              <a:rect r="r" b="b" t="t" l="l"/>
              <a:pathLst>
                <a:path h="533811" w="6539095">
                  <a:moveTo>
                    <a:pt x="0" y="0"/>
                  </a:moveTo>
                  <a:lnTo>
                    <a:pt x="6539095" y="0"/>
                  </a:lnTo>
                  <a:lnTo>
                    <a:pt x="6539095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8687" r="0" b="-18868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85725"/>
              <a:ext cx="6539090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But we needed medical understanding...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" y="104718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adFill rotWithShape="true">
              <a:gsLst>
                <a:gs pos="0">
                  <a:srgbClr val="FB923C">
                    <a:alpha val="15000"/>
                  </a:srgbClr>
                </a:gs>
                <a:gs pos="50000">
                  <a:srgbClr val="0F172A">
                    <a:alpha val="92000"/>
                  </a:srgbClr>
                </a:gs>
                <a:gs pos="100000">
                  <a:srgbClr val="EAB308">
                    <a:alpha val="15000"/>
                  </a:srgbClr>
                </a:gs>
              </a:gsLst>
              <a:lin ang="81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8895" y="823131"/>
            <a:ext cx="1470822" cy="555746"/>
            <a:chOff x="0" y="0"/>
            <a:chExt cx="1961096" cy="740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61007" cy="740918"/>
            </a:xfrm>
            <a:custGeom>
              <a:avLst/>
              <a:gdLst/>
              <a:ahLst/>
              <a:cxnLst/>
              <a:rect r="r" b="b" t="t" l="l"/>
              <a:pathLst>
                <a:path h="740918" w="1961007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1590548" y="0"/>
                  </a:lnTo>
                  <a:cubicBezTo>
                    <a:pt x="1795145" y="0"/>
                    <a:pt x="1961007" y="165862"/>
                    <a:pt x="1961007" y="370459"/>
                  </a:cubicBezTo>
                  <a:cubicBezTo>
                    <a:pt x="1961007" y="575056"/>
                    <a:pt x="1795145" y="740918"/>
                    <a:pt x="1590548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FB923C">
                <a:alpha val="1961"/>
              </a:srgbClr>
            </a:solidFill>
            <a:ln w="12392" cap="sq">
              <a:solidFill>
                <a:srgbClr val="FB923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58164" y="972312"/>
            <a:ext cx="972283" cy="327358"/>
            <a:chOff x="0" y="0"/>
            <a:chExt cx="1296378" cy="4364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6379" cy="436481"/>
            </a:xfrm>
            <a:custGeom>
              <a:avLst/>
              <a:gdLst/>
              <a:ahLst/>
              <a:cxnLst/>
              <a:rect r="r" b="b" t="t" l="l"/>
              <a:pathLst>
                <a:path h="436481" w="1296379">
                  <a:moveTo>
                    <a:pt x="0" y="0"/>
                  </a:moveTo>
                  <a:lnTo>
                    <a:pt x="1296379" y="0"/>
                  </a:lnTo>
                  <a:lnTo>
                    <a:pt x="129637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93" r="0" b="-154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96378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ED7A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STAGE 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5095" y="1544260"/>
            <a:ext cx="16471659" cy="1203922"/>
            <a:chOff x="0" y="0"/>
            <a:chExt cx="21962212" cy="16052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208" cy="1605229"/>
            </a:xfrm>
            <a:custGeom>
              <a:avLst/>
              <a:gdLst/>
              <a:ahLst/>
              <a:cxnLst/>
              <a:rect r="r" b="b" t="t" l="l"/>
              <a:pathLst>
                <a:path h="1605229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605229"/>
                  </a:lnTo>
                  <a:lnTo>
                    <a:pt x="0" y="16052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050" r="0" b="-2111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1962212" cy="1690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25"/>
                </a:lnSpc>
              </a:pPr>
              <a:r>
                <a:rPr lang="en-US" b="true" sz="5686">
                  <a:solidFill>
                    <a:srgbClr val="0EA5E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MEDICAL EYE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5095" y="2745343"/>
            <a:ext cx="16471659" cy="515562"/>
            <a:chOff x="0" y="0"/>
            <a:chExt cx="21962212" cy="6874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62208" cy="687409"/>
            </a:xfrm>
            <a:custGeom>
              <a:avLst/>
              <a:gdLst/>
              <a:ahLst/>
              <a:cxnLst/>
              <a:rect r="r" b="b" t="t" l="l"/>
              <a:pathLst>
                <a:path h="687409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687409"/>
                  </a:lnTo>
                  <a:lnTo>
                    <a:pt x="0" y="6874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157" r="0" b="-56690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1962212" cy="754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57"/>
                </a:lnSpc>
              </a:pPr>
              <a:r>
                <a:rPr lang="en-US" sz="24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BIOBERT NER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8895" y="3482683"/>
            <a:ext cx="16484051" cy="1184881"/>
            <a:chOff x="0" y="0"/>
            <a:chExt cx="21978734" cy="15798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8621" cy="1579753"/>
            </a:xfrm>
            <a:custGeom>
              <a:avLst/>
              <a:gdLst/>
              <a:ahLst/>
              <a:cxnLst/>
              <a:rect r="r" b="b" t="t" l="l"/>
              <a:pathLst>
                <a:path h="1579753" w="21978621">
                  <a:moveTo>
                    <a:pt x="0" y="616458"/>
                  </a:moveTo>
                  <a:cubicBezTo>
                    <a:pt x="0" y="275971"/>
                    <a:pt x="275971" y="0"/>
                    <a:pt x="616458" y="0"/>
                  </a:cubicBezTo>
                  <a:lnTo>
                    <a:pt x="21362163" y="0"/>
                  </a:lnTo>
                  <a:cubicBezTo>
                    <a:pt x="21702650" y="0"/>
                    <a:pt x="21978621" y="275971"/>
                    <a:pt x="21978621" y="616458"/>
                  </a:cubicBezTo>
                  <a:lnTo>
                    <a:pt x="21978621" y="963295"/>
                  </a:lnTo>
                  <a:cubicBezTo>
                    <a:pt x="21978621" y="1303782"/>
                    <a:pt x="21702650" y="1579753"/>
                    <a:pt x="21362163" y="1579753"/>
                  </a:cubicBezTo>
                  <a:lnTo>
                    <a:pt x="616458" y="1579753"/>
                  </a:lnTo>
                  <a:cubicBezTo>
                    <a:pt x="275971" y="1579880"/>
                    <a:pt x="0" y="1303782"/>
                    <a:pt x="0" y="96329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B923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58164" y="3921414"/>
            <a:ext cx="343157" cy="278825"/>
            <a:chOff x="0" y="0"/>
            <a:chExt cx="457543" cy="371767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57581" cy="371729"/>
            </a:xfrm>
            <a:custGeom>
              <a:avLst/>
              <a:gdLst/>
              <a:ahLst/>
              <a:cxnLst/>
              <a:rect r="r" b="b" t="t" l="l"/>
              <a:pathLst>
                <a:path h="371729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71729"/>
                  </a:lnTo>
                  <a:lnTo>
                    <a:pt x="0" y="371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-1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72904" y="3717655"/>
            <a:ext cx="5490553" cy="438782"/>
            <a:chOff x="0" y="0"/>
            <a:chExt cx="7320737" cy="5850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20735" cy="585038"/>
            </a:xfrm>
            <a:custGeom>
              <a:avLst/>
              <a:gdLst/>
              <a:ahLst/>
              <a:cxnLst/>
              <a:rect r="r" b="b" t="t" l="l"/>
              <a:pathLst>
                <a:path h="585038" w="7320735">
                  <a:moveTo>
                    <a:pt x="0" y="0"/>
                  </a:moveTo>
                  <a:lnTo>
                    <a:pt x="7320735" y="0"/>
                  </a:lnTo>
                  <a:lnTo>
                    <a:pt x="7320735" y="585038"/>
                  </a:lnTo>
                  <a:lnTo>
                    <a:pt x="0" y="5850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198" r="0" b="-1894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320737" cy="64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0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d4data/biomedical-ner-all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2904" y="4118019"/>
            <a:ext cx="5490553" cy="327358"/>
            <a:chOff x="0" y="0"/>
            <a:chExt cx="7320737" cy="4364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20735" cy="436481"/>
            </a:xfrm>
            <a:custGeom>
              <a:avLst/>
              <a:gdLst/>
              <a:ahLst/>
              <a:cxnLst/>
              <a:rect r="r" b="b" t="t" l="l"/>
              <a:pathLst>
                <a:path h="436481" w="7320735">
                  <a:moveTo>
                    <a:pt x="0" y="0"/>
                  </a:moveTo>
                  <a:lnTo>
                    <a:pt x="7320735" y="0"/>
                  </a:lnTo>
                  <a:lnTo>
                    <a:pt x="7320735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128" r="0" b="-2704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7320737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Pre-trained on medical literature • No fine-tuning required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112430" y="3803447"/>
            <a:ext cx="3031246" cy="514750"/>
            <a:chOff x="0" y="0"/>
            <a:chExt cx="4041661" cy="6863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1648" cy="686435"/>
            </a:xfrm>
            <a:custGeom>
              <a:avLst/>
              <a:gdLst/>
              <a:ahLst/>
              <a:cxnLst/>
              <a:rect r="r" b="b" t="t" l="l"/>
              <a:pathLst>
                <a:path h="686435" w="4041648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3736594" y="0"/>
                  </a:lnTo>
                  <a:cubicBezTo>
                    <a:pt x="3905123" y="0"/>
                    <a:pt x="4041648" y="136525"/>
                    <a:pt x="4041648" y="305054"/>
                  </a:cubicBezTo>
                  <a:lnTo>
                    <a:pt x="4041648" y="381381"/>
                  </a:lnTo>
                  <a:cubicBezTo>
                    <a:pt x="4041648" y="549910"/>
                    <a:pt x="3905123" y="686435"/>
                    <a:pt x="3736594" y="686435"/>
                  </a:cubicBezTo>
                  <a:lnTo>
                    <a:pt x="305054" y="686435"/>
                  </a:lnTo>
                  <a:cubicBezTo>
                    <a:pt x="136525" y="686308"/>
                    <a:pt x="0" y="549783"/>
                    <a:pt x="0" y="381254"/>
                  </a:cubicBezTo>
                  <a:close/>
                </a:path>
              </a:pathLst>
            </a:custGeom>
            <a:solidFill>
              <a:srgbClr val="FB923C">
                <a:alpha val="784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341211" y="3972744"/>
            <a:ext cx="200177" cy="176155"/>
            <a:chOff x="0" y="0"/>
            <a:chExt cx="266903" cy="234874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266954" cy="234823"/>
            </a:xfrm>
            <a:custGeom>
              <a:avLst/>
              <a:gdLst/>
              <a:ahLst/>
              <a:cxnLst/>
              <a:rect r="r" b="b" t="t" l="l"/>
              <a:pathLst>
                <a:path h="234823" w="266954">
                  <a:moveTo>
                    <a:pt x="0" y="0"/>
                  </a:moveTo>
                  <a:lnTo>
                    <a:pt x="266954" y="0"/>
                  </a:lnTo>
                  <a:lnTo>
                    <a:pt x="266954" y="234823"/>
                  </a:lnTo>
                  <a:lnTo>
                    <a:pt x="0" y="234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20" b="-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655765" y="3917833"/>
            <a:ext cx="2259130" cy="327358"/>
            <a:chOff x="0" y="0"/>
            <a:chExt cx="3012173" cy="4364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12177" cy="436481"/>
            </a:xfrm>
            <a:custGeom>
              <a:avLst/>
              <a:gdLst/>
              <a:ahLst/>
              <a:cxnLst/>
              <a:rect r="r" b="b" t="t" l="l"/>
              <a:pathLst>
                <a:path h="436481" w="3012177">
                  <a:moveTo>
                    <a:pt x="0" y="0"/>
                  </a:moveTo>
                  <a:lnTo>
                    <a:pt x="3012177" y="0"/>
                  </a:lnTo>
                  <a:lnTo>
                    <a:pt x="3012177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89" r="0" b="-781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3012173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B923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Medical Understanding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8895" y="4941141"/>
            <a:ext cx="3958723" cy="2157193"/>
            <a:chOff x="0" y="0"/>
            <a:chExt cx="5278298" cy="28762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78247" cy="2876169"/>
            </a:xfrm>
            <a:custGeom>
              <a:avLst/>
              <a:gdLst/>
              <a:ahLst/>
              <a:cxnLst/>
              <a:rect r="r" b="b" t="t" l="l"/>
              <a:pathLst>
                <a:path h="2876169" w="5278247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4664710" y="0"/>
                  </a:lnTo>
                  <a:cubicBezTo>
                    <a:pt x="5003546" y="0"/>
                    <a:pt x="5278247" y="274701"/>
                    <a:pt x="5278247" y="613537"/>
                  </a:cubicBezTo>
                  <a:lnTo>
                    <a:pt x="5278247" y="2262632"/>
                  </a:lnTo>
                  <a:cubicBezTo>
                    <a:pt x="5278247" y="2601468"/>
                    <a:pt x="5003546" y="2876169"/>
                    <a:pt x="4664710" y="2876169"/>
                  </a:cubicBezTo>
                  <a:lnTo>
                    <a:pt x="613537" y="2876169"/>
                  </a:lnTo>
                  <a:cubicBezTo>
                    <a:pt x="274701" y="2876296"/>
                    <a:pt x="0" y="2601595"/>
                    <a:pt x="0" y="226263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58164" y="5254342"/>
            <a:ext cx="285969" cy="243916"/>
            <a:chOff x="0" y="0"/>
            <a:chExt cx="381292" cy="325222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381254" cy="325247"/>
            </a:xfrm>
            <a:custGeom>
              <a:avLst/>
              <a:gdLst/>
              <a:ahLst/>
              <a:cxnLst/>
              <a:rect r="r" b="b" t="t" l="l"/>
              <a:pathLst>
                <a:path h="325247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8" b="7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58519" y="5176114"/>
            <a:ext cx="1100966" cy="403697"/>
            <a:chOff x="0" y="0"/>
            <a:chExt cx="1467955" cy="5382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7959" cy="538259"/>
            </a:xfrm>
            <a:custGeom>
              <a:avLst/>
              <a:gdLst/>
              <a:ahLst/>
              <a:cxnLst/>
              <a:rect r="r" b="b" t="t" l="l"/>
              <a:pathLst>
                <a:path h="538259" w="1467959">
                  <a:moveTo>
                    <a:pt x="0" y="0"/>
                  </a:moveTo>
                  <a:lnTo>
                    <a:pt x="1467959" y="0"/>
                  </a:lnTo>
                  <a:lnTo>
                    <a:pt x="1467959" y="538259"/>
                  </a:lnTo>
                  <a:lnTo>
                    <a:pt x="0" y="538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" r="0" b="-272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1467955" cy="63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DISEASE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8164" y="5748061"/>
            <a:ext cx="3460194" cy="327358"/>
            <a:chOff x="0" y="0"/>
            <a:chExt cx="4613592" cy="43647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Type 2 Diabetes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58164" y="6148426"/>
            <a:ext cx="3460194" cy="327358"/>
            <a:chOff x="0" y="0"/>
            <a:chExt cx="4613592" cy="43647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Hypertension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58164" y="6548790"/>
            <a:ext cx="3460194" cy="327358"/>
            <a:chOff x="0" y="0"/>
            <a:chExt cx="4613592" cy="4364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Pneumonia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084007" y="4941141"/>
            <a:ext cx="3958723" cy="2157193"/>
            <a:chOff x="0" y="0"/>
            <a:chExt cx="5278298" cy="287625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78247" cy="2876169"/>
            </a:xfrm>
            <a:custGeom>
              <a:avLst/>
              <a:gdLst/>
              <a:ahLst/>
              <a:cxnLst/>
              <a:rect r="r" b="b" t="t" l="l"/>
              <a:pathLst>
                <a:path h="2876169" w="5278247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4664710" y="0"/>
                  </a:lnTo>
                  <a:cubicBezTo>
                    <a:pt x="5003546" y="0"/>
                    <a:pt x="5278247" y="274701"/>
                    <a:pt x="5278247" y="613537"/>
                  </a:cubicBezTo>
                  <a:lnTo>
                    <a:pt x="5278247" y="2262632"/>
                  </a:lnTo>
                  <a:cubicBezTo>
                    <a:pt x="5278247" y="2601468"/>
                    <a:pt x="5003546" y="2876169"/>
                    <a:pt x="4664710" y="2876169"/>
                  </a:cubicBezTo>
                  <a:lnTo>
                    <a:pt x="613537" y="2876169"/>
                  </a:lnTo>
                  <a:cubicBezTo>
                    <a:pt x="274701" y="2876296"/>
                    <a:pt x="0" y="2601595"/>
                    <a:pt x="0" y="226263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5333267" y="5262753"/>
            <a:ext cx="285969" cy="227095"/>
            <a:chOff x="0" y="0"/>
            <a:chExt cx="381292" cy="302793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381254" cy="302768"/>
            </a:xfrm>
            <a:custGeom>
              <a:avLst/>
              <a:gdLst/>
              <a:ahLst/>
              <a:cxnLst/>
              <a:rect r="r" b="b" t="t" l="l"/>
              <a:pathLst>
                <a:path h="302768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02768"/>
                  </a:lnTo>
                  <a:lnTo>
                    <a:pt x="0" y="302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8" b="-8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733621" y="5176114"/>
            <a:ext cx="743512" cy="403697"/>
            <a:chOff x="0" y="0"/>
            <a:chExt cx="991349" cy="5382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91349" cy="538259"/>
            </a:xfrm>
            <a:custGeom>
              <a:avLst/>
              <a:gdLst/>
              <a:ahLst/>
              <a:cxnLst/>
              <a:rect r="r" b="b" t="t" l="l"/>
              <a:pathLst>
                <a:path h="538259" w="991349">
                  <a:moveTo>
                    <a:pt x="0" y="0"/>
                  </a:moveTo>
                  <a:lnTo>
                    <a:pt x="991349" y="0"/>
                  </a:lnTo>
                  <a:lnTo>
                    <a:pt x="991349" y="538259"/>
                  </a:lnTo>
                  <a:lnTo>
                    <a:pt x="0" y="538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88" t="0" r="-19088" b="82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991349" cy="63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DRUG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333267" y="5748061"/>
            <a:ext cx="3460194" cy="327358"/>
            <a:chOff x="0" y="0"/>
            <a:chExt cx="4613592" cy="43647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Metformin 500mg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333267" y="6148426"/>
            <a:ext cx="3460194" cy="327358"/>
            <a:chOff x="0" y="0"/>
            <a:chExt cx="4613592" cy="43647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Lisinopril 10mg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333267" y="6548790"/>
            <a:ext cx="3460194" cy="327358"/>
            <a:chOff x="0" y="0"/>
            <a:chExt cx="4613592" cy="43647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Aspirin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259110" y="4941141"/>
            <a:ext cx="3958723" cy="2157193"/>
            <a:chOff x="0" y="0"/>
            <a:chExt cx="5278298" cy="287625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78247" cy="2876169"/>
            </a:xfrm>
            <a:custGeom>
              <a:avLst/>
              <a:gdLst/>
              <a:ahLst/>
              <a:cxnLst/>
              <a:rect r="r" b="b" t="t" l="l"/>
              <a:pathLst>
                <a:path h="2876169" w="5278247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4664710" y="0"/>
                  </a:lnTo>
                  <a:cubicBezTo>
                    <a:pt x="5003546" y="0"/>
                    <a:pt x="5278247" y="274701"/>
                    <a:pt x="5278247" y="613537"/>
                  </a:cubicBezTo>
                  <a:lnTo>
                    <a:pt x="5278247" y="2262632"/>
                  </a:lnTo>
                  <a:cubicBezTo>
                    <a:pt x="5278247" y="2601468"/>
                    <a:pt x="5003546" y="2876169"/>
                    <a:pt x="4664710" y="2876169"/>
                  </a:cubicBezTo>
                  <a:lnTo>
                    <a:pt x="613537" y="2876169"/>
                  </a:lnTo>
                  <a:cubicBezTo>
                    <a:pt x="274701" y="2876296"/>
                    <a:pt x="0" y="2601595"/>
                    <a:pt x="0" y="226263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B923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508379" y="5252237"/>
            <a:ext cx="285969" cy="248126"/>
            <a:chOff x="0" y="0"/>
            <a:chExt cx="381292" cy="330835"/>
          </a:xfrm>
        </p:grpSpPr>
        <p:sp>
          <p:nvSpPr>
            <p:cNvPr name="Freeform 67" id="67" descr="image.png"/>
            <p:cNvSpPr/>
            <p:nvPr/>
          </p:nvSpPr>
          <p:spPr>
            <a:xfrm flipH="false" flipV="false" rot="0">
              <a:off x="0" y="0"/>
              <a:ext cx="381254" cy="330835"/>
            </a:xfrm>
            <a:custGeom>
              <a:avLst/>
              <a:gdLst/>
              <a:ahLst/>
              <a:cxnLst/>
              <a:rect r="r" b="b" t="t" l="l"/>
              <a:pathLst>
                <a:path h="330835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30835"/>
                  </a:lnTo>
                  <a:lnTo>
                    <a:pt x="0" y="33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8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908734" y="5176114"/>
            <a:ext cx="1358341" cy="403697"/>
            <a:chOff x="0" y="0"/>
            <a:chExt cx="1811122" cy="5382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811119" cy="538259"/>
            </a:xfrm>
            <a:custGeom>
              <a:avLst/>
              <a:gdLst/>
              <a:ahLst/>
              <a:cxnLst/>
              <a:rect r="r" b="b" t="t" l="l"/>
              <a:pathLst>
                <a:path h="538259" w="1811119">
                  <a:moveTo>
                    <a:pt x="0" y="0"/>
                  </a:moveTo>
                  <a:lnTo>
                    <a:pt x="1811119" y="0"/>
                  </a:lnTo>
                  <a:lnTo>
                    <a:pt x="1811119" y="538259"/>
                  </a:lnTo>
                  <a:lnTo>
                    <a:pt x="0" y="538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5" r="0" b="-151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0"/>
              <a:ext cx="1811122" cy="63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SYMPTOM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08379" y="5748061"/>
            <a:ext cx="3460194" cy="327358"/>
            <a:chOff x="0" y="0"/>
            <a:chExt cx="4613592" cy="43647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Chest pain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08379" y="6148426"/>
            <a:ext cx="3460194" cy="327358"/>
            <a:chOff x="0" y="0"/>
            <a:chExt cx="4613592" cy="43647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Shortness of breath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08379" y="6548790"/>
            <a:ext cx="3460194" cy="327358"/>
            <a:chOff x="0" y="0"/>
            <a:chExt cx="4613592" cy="43647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Dizziness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434222" y="4941141"/>
            <a:ext cx="3958723" cy="2157193"/>
            <a:chOff x="0" y="0"/>
            <a:chExt cx="5278298" cy="287625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278247" cy="2876169"/>
            </a:xfrm>
            <a:custGeom>
              <a:avLst/>
              <a:gdLst/>
              <a:ahLst/>
              <a:cxnLst/>
              <a:rect r="r" b="b" t="t" l="l"/>
              <a:pathLst>
                <a:path h="2876169" w="5278247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4664710" y="0"/>
                  </a:lnTo>
                  <a:cubicBezTo>
                    <a:pt x="5003546" y="0"/>
                    <a:pt x="5278247" y="274701"/>
                    <a:pt x="5278247" y="613537"/>
                  </a:cubicBezTo>
                  <a:lnTo>
                    <a:pt x="5278247" y="2262632"/>
                  </a:lnTo>
                  <a:cubicBezTo>
                    <a:pt x="5278247" y="2601468"/>
                    <a:pt x="5003546" y="2876169"/>
                    <a:pt x="4664710" y="2876169"/>
                  </a:cubicBezTo>
                  <a:lnTo>
                    <a:pt x="613537" y="2876169"/>
                  </a:lnTo>
                  <a:cubicBezTo>
                    <a:pt x="274701" y="2876296"/>
                    <a:pt x="0" y="2601595"/>
                    <a:pt x="0" y="226263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3683482" y="5262753"/>
            <a:ext cx="285969" cy="227095"/>
            <a:chOff x="0" y="0"/>
            <a:chExt cx="381292" cy="302793"/>
          </a:xfrm>
        </p:grpSpPr>
        <p:sp>
          <p:nvSpPr>
            <p:cNvPr name="Freeform 83" id="83" descr="image.png"/>
            <p:cNvSpPr/>
            <p:nvPr/>
          </p:nvSpPr>
          <p:spPr>
            <a:xfrm flipH="false" flipV="false" rot="0">
              <a:off x="0" y="0"/>
              <a:ext cx="381254" cy="302768"/>
            </a:xfrm>
            <a:custGeom>
              <a:avLst/>
              <a:gdLst/>
              <a:ahLst/>
              <a:cxnLst/>
              <a:rect r="r" b="b" t="t" l="l"/>
              <a:pathLst>
                <a:path h="302768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02768"/>
                  </a:lnTo>
                  <a:lnTo>
                    <a:pt x="0" y="302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8" b="-8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083836" y="5176114"/>
            <a:ext cx="1601410" cy="403697"/>
            <a:chOff x="0" y="0"/>
            <a:chExt cx="2135213" cy="53826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35214" cy="538259"/>
            </a:xfrm>
            <a:custGeom>
              <a:avLst/>
              <a:gdLst/>
              <a:ahLst/>
              <a:cxnLst/>
              <a:rect r="r" b="b" t="t" l="l"/>
              <a:pathLst>
                <a:path h="538259" w="2135214">
                  <a:moveTo>
                    <a:pt x="0" y="0"/>
                  </a:moveTo>
                  <a:lnTo>
                    <a:pt x="2135214" y="0"/>
                  </a:lnTo>
                  <a:lnTo>
                    <a:pt x="2135214" y="538259"/>
                  </a:lnTo>
                  <a:lnTo>
                    <a:pt x="0" y="538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07" r="0" b="-2688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0"/>
              <a:ext cx="2135213" cy="63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TREATMENT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683482" y="5748061"/>
            <a:ext cx="3460194" cy="327358"/>
            <a:chOff x="0" y="0"/>
            <a:chExt cx="4613592" cy="43647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Cardiology consult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683482" y="6148426"/>
            <a:ext cx="3460194" cy="327358"/>
            <a:chOff x="0" y="0"/>
            <a:chExt cx="4613592" cy="43647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Oxygen therapy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683482" y="6548790"/>
            <a:ext cx="3460194" cy="327358"/>
            <a:chOff x="0" y="0"/>
            <a:chExt cx="4613592" cy="43647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613589" cy="436481"/>
            </a:xfrm>
            <a:custGeom>
              <a:avLst/>
              <a:gdLst/>
              <a:ahLst/>
              <a:cxnLst/>
              <a:rect r="r" b="b" t="t" l="l"/>
              <a:pathLst>
                <a:path h="436481" w="4613589">
                  <a:moveTo>
                    <a:pt x="0" y="0"/>
                  </a:moveTo>
                  <a:lnTo>
                    <a:pt x="4613589" y="0"/>
                  </a:lnTo>
                  <a:lnTo>
                    <a:pt x="461358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78" r="0" b="-14963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461359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• Bed rest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08895" y="7371921"/>
            <a:ext cx="16484051" cy="1413662"/>
            <a:chOff x="0" y="0"/>
            <a:chExt cx="21978734" cy="188488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1978747" cy="1884807"/>
            </a:xfrm>
            <a:custGeom>
              <a:avLst/>
              <a:gdLst/>
              <a:ahLst/>
              <a:cxnLst/>
              <a:rect r="r" b="b" t="t" l="l"/>
              <a:pathLst>
                <a:path h="1884807" w="21978747">
                  <a:moveTo>
                    <a:pt x="0" y="615442"/>
                  </a:moveTo>
                  <a:cubicBezTo>
                    <a:pt x="0" y="275590"/>
                    <a:pt x="275590" y="0"/>
                    <a:pt x="615442" y="0"/>
                  </a:cubicBezTo>
                  <a:lnTo>
                    <a:pt x="21363305" y="0"/>
                  </a:lnTo>
                  <a:cubicBezTo>
                    <a:pt x="21703157" y="0"/>
                    <a:pt x="21978747" y="275590"/>
                    <a:pt x="21978747" y="615442"/>
                  </a:cubicBezTo>
                  <a:lnTo>
                    <a:pt x="21978747" y="1269365"/>
                  </a:lnTo>
                  <a:cubicBezTo>
                    <a:pt x="21978747" y="1609217"/>
                    <a:pt x="21703157" y="1884807"/>
                    <a:pt x="21363305" y="1884807"/>
                  </a:cubicBezTo>
                  <a:lnTo>
                    <a:pt x="615442" y="1884807"/>
                  </a:lnTo>
                  <a:cubicBezTo>
                    <a:pt x="275590" y="1884934"/>
                    <a:pt x="0" y="1609344"/>
                    <a:pt x="0" y="126936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EAB308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158164" y="7696257"/>
            <a:ext cx="343157" cy="278825"/>
            <a:chOff x="0" y="0"/>
            <a:chExt cx="457543" cy="371767"/>
          </a:xfrm>
        </p:grpSpPr>
        <p:sp>
          <p:nvSpPr>
            <p:cNvPr name="Freeform 99" id="99" descr="image.png"/>
            <p:cNvSpPr/>
            <p:nvPr/>
          </p:nvSpPr>
          <p:spPr>
            <a:xfrm flipH="false" flipV="false" rot="0">
              <a:off x="0" y="0"/>
              <a:ext cx="457581" cy="371729"/>
            </a:xfrm>
            <a:custGeom>
              <a:avLst/>
              <a:gdLst/>
              <a:ahLst/>
              <a:cxnLst/>
              <a:rect r="r" b="b" t="t" l="l"/>
              <a:pathLst>
                <a:path h="371729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71729"/>
                  </a:lnTo>
                  <a:lnTo>
                    <a:pt x="0" y="371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6" b="-1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672904" y="7606894"/>
            <a:ext cx="15470772" cy="403697"/>
            <a:chOff x="0" y="0"/>
            <a:chExt cx="20627696" cy="53826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0627699" cy="538259"/>
            </a:xfrm>
            <a:custGeom>
              <a:avLst/>
              <a:gdLst/>
              <a:ahLst/>
              <a:cxnLst/>
              <a:rect r="r" b="b" t="t" l="l"/>
              <a:pathLst>
                <a:path h="538259" w="20627699">
                  <a:moveTo>
                    <a:pt x="0" y="0"/>
                  </a:moveTo>
                  <a:lnTo>
                    <a:pt x="20627699" y="0"/>
                  </a:lnTo>
                  <a:lnTo>
                    <a:pt x="20627699" y="538259"/>
                  </a:lnTo>
                  <a:lnTo>
                    <a:pt x="0" y="538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7137" r="0" b="-696312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0"/>
              <a:ext cx="20627696" cy="63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Raw Output is Messy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672904" y="8121644"/>
            <a:ext cx="2387822" cy="400364"/>
            <a:chOff x="0" y="0"/>
            <a:chExt cx="3183763" cy="53381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183763" cy="533908"/>
            </a:xfrm>
            <a:custGeom>
              <a:avLst/>
              <a:gdLst/>
              <a:ahLst/>
              <a:cxnLst/>
              <a:rect r="r" b="b" t="t" l="l"/>
              <a:pathLst>
                <a:path h="533908" w="3183763">
                  <a:moveTo>
                    <a:pt x="0" y="266954"/>
                  </a:moveTo>
                  <a:cubicBezTo>
                    <a:pt x="0" y="119507"/>
                    <a:pt x="119507" y="0"/>
                    <a:pt x="266954" y="0"/>
                  </a:cubicBezTo>
                  <a:lnTo>
                    <a:pt x="2916809" y="0"/>
                  </a:lnTo>
                  <a:cubicBezTo>
                    <a:pt x="3064256" y="0"/>
                    <a:pt x="3183763" y="119507"/>
                    <a:pt x="3183763" y="266954"/>
                  </a:cubicBezTo>
                  <a:cubicBezTo>
                    <a:pt x="3183763" y="414401"/>
                    <a:pt x="3064256" y="533908"/>
                    <a:pt x="2916809" y="533908"/>
                  </a:cubicBezTo>
                  <a:lnTo>
                    <a:pt x="266954" y="533908"/>
                  </a:lnTo>
                  <a:cubicBezTo>
                    <a:pt x="119507" y="533781"/>
                    <a:pt x="0" y="414274"/>
                    <a:pt x="0" y="266954"/>
                  </a:cubicBezTo>
                  <a:close/>
                </a:path>
              </a:pathLst>
            </a:custGeom>
            <a:solidFill>
              <a:srgbClr val="EAB308">
                <a:alpha val="1961"/>
              </a:srgbClr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672904" y="8121644"/>
            <a:ext cx="2387822" cy="400361"/>
            <a:chOff x="0" y="0"/>
            <a:chExt cx="3183763" cy="53381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183757" cy="533811"/>
            </a:xfrm>
            <a:custGeom>
              <a:avLst/>
              <a:gdLst/>
              <a:ahLst/>
              <a:cxnLst/>
              <a:rect r="r" b="b" t="t" l="l"/>
              <a:pathLst>
                <a:path h="533811" w="3183757">
                  <a:moveTo>
                    <a:pt x="0" y="0"/>
                  </a:moveTo>
                  <a:lnTo>
                    <a:pt x="3183757" y="0"/>
                  </a:lnTo>
                  <a:lnTo>
                    <a:pt x="3183757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12" r="0" b="-6621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57150"/>
              <a:ext cx="3183763" cy="590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FDE047"/>
                  </a:solidFill>
                  <a:latin typeface="Inter"/>
                  <a:ea typeface="Inter"/>
                  <a:cs typeface="Inter"/>
                  <a:sym typeface="Inter"/>
                </a:rPr>
                <a:t>"hyper ##ten ##sion"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4175103" y="8121644"/>
            <a:ext cx="1186758" cy="400364"/>
            <a:chOff x="0" y="0"/>
            <a:chExt cx="1582344" cy="533819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582420" cy="533908"/>
            </a:xfrm>
            <a:custGeom>
              <a:avLst/>
              <a:gdLst/>
              <a:ahLst/>
              <a:cxnLst/>
              <a:rect r="r" b="b" t="t" l="l"/>
              <a:pathLst>
                <a:path h="533908" w="1582420">
                  <a:moveTo>
                    <a:pt x="0" y="266954"/>
                  </a:moveTo>
                  <a:cubicBezTo>
                    <a:pt x="0" y="119507"/>
                    <a:pt x="119507" y="0"/>
                    <a:pt x="266954" y="0"/>
                  </a:cubicBezTo>
                  <a:lnTo>
                    <a:pt x="1315466" y="0"/>
                  </a:lnTo>
                  <a:cubicBezTo>
                    <a:pt x="1462913" y="0"/>
                    <a:pt x="1582420" y="119507"/>
                    <a:pt x="1582420" y="266954"/>
                  </a:cubicBezTo>
                  <a:cubicBezTo>
                    <a:pt x="1582420" y="414401"/>
                    <a:pt x="1462913" y="533908"/>
                    <a:pt x="1315466" y="533908"/>
                  </a:cubicBezTo>
                  <a:lnTo>
                    <a:pt x="266954" y="533908"/>
                  </a:lnTo>
                  <a:cubicBezTo>
                    <a:pt x="119507" y="533781"/>
                    <a:pt x="0" y="414274"/>
                    <a:pt x="0" y="266954"/>
                  </a:cubicBezTo>
                  <a:close/>
                </a:path>
              </a:pathLst>
            </a:custGeom>
            <a:solidFill>
              <a:srgbClr val="EAB308">
                <a:alpha val="1961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4175103" y="8121644"/>
            <a:ext cx="1186758" cy="400361"/>
            <a:chOff x="0" y="0"/>
            <a:chExt cx="1582344" cy="53381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582346" cy="533811"/>
            </a:xfrm>
            <a:custGeom>
              <a:avLst/>
              <a:gdLst/>
              <a:ahLst/>
              <a:cxnLst/>
              <a:rect r="r" b="b" t="t" l="l"/>
              <a:pathLst>
                <a:path h="533811" w="1582346">
                  <a:moveTo>
                    <a:pt x="0" y="0"/>
                  </a:moveTo>
                  <a:lnTo>
                    <a:pt x="1582346" y="0"/>
                  </a:lnTo>
                  <a:lnTo>
                    <a:pt x="1582346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57" r="0" b="-775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1582344" cy="590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FDE047"/>
                  </a:solidFill>
                  <a:latin typeface="Inter"/>
                  <a:ea typeface="Inter"/>
                  <a:cs typeface="Inter"/>
                  <a:sym typeface="Inter"/>
                </a:rPr>
                <a:t>"patient"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461959" y="8121644"/>
            <a:ext cx="1873082" cy="400364"/>
            <a:chOff x="0" y="0"/>
            <a:chExt cx="2497442" cy="53381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497455" cy="533908"/>
            </a:xfrm>
            <a:custGeom>
              <a:avLst/>
              <a:gdLst/>
              <a:ahLst/>
              <a:cxnLst/>
              <a:rect r="r" b="b" t="t" l="l"/>
              <a:pathLst>
                <a:path h="533908" w="2497455">
                  <a:moveTo>
                    <a:pt x="0" y="266954"/>
                  </a:moveTo>
                  <a:cubicBezTo>
                    <a:pt x="0" y="119507"/>
                    <a:pt x="119507" y="0"/>
                    <a:pt x="266954" y="0"/>
                  </a:cubicBezTo>
                  <a:lnTo>
                    <a:pt x="2230501" y="0"/>
                  </a:lnTo>
                  <a:cubicBezTo>
                    <a:pt x="2377948" y="0"/>
                    <a:pt x="2497455" y="119507"/>
                    <a:pt x="2497455" y="266954"/>
                  </a:cubicBezTo>
                  <a:cubicBezTo>
                    <a:pt x="2497455" y="414401"/>
                    <a:pt x="2377948" y="533908"/>
                    <a:pt x="2230501" y="533908"/>
                  </a:cubicBezTo>
                  <a:lnTo>
                    <a:pt x="266954" y="533908"/>
                  </a:lnTo>
                  <a:cubicBezTo>
                    <a:pt x="119507" y="533781"/>
                    <a:pt x="0" y="414274"/>
                    <a:pt x="0" y="266954"/>
                  </a:cubicBezTo>
                  <a:close/>
                </a:path>
              </a:pathLst>
            </a:custGeom>
            <a:solidFill>
              <a:srgbClr val="EAB308">
                <a:alpha val="1961"/>
              </a:srgbClr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5461959" y="8121644"/>
            <a:ext cx="1873082" cy="400361"/>
            <a:chOff x="0" y="0"/>
            <a:chExt cx="2497442" cy="53381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497437" cy="533811"/>
            </a:xfrm>
            <a:custGeom>
              <a:avLst/>
              <a:gdLst/>
              <a:ahLst/>
              <a:cxnLst/>
              <a:rect r="r" b="b" t="t" l="l"/>
              <a:pathLst>
                <a:path h="533811" w="2497437">
                  <a:moveTo>
                    <a:pt x="0" y="0"/>
                  </a:moveTo>
                  <a:lnTo>
                    <a:pt x="2497437" y="0"/>
                  </a:lnTo>
                  <a:lnTo>
                    <a:pt x="2497437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60" r="0" b="-4116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57150"/>
              <a:ext cx="2497442" cy="590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>
                  <a:solidFill>
                    <a:srgbClr val="FDE047"/>
                  </a:solidFill>
                  <a:latin typeface="Inter"/>
                  <a:ea typeface="Inter"/>
                  <a:cs typeface="Inter"/>
                  <a:sym typeface="Inter"/>
                </a:rPr>
                <a:t>"no history of..."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15095" y="9112539"/>
            <a:ext cx="343157" cy="248793"/>
            <a:chOff x="0" y="0"/>
            <a:chExt cx="457543" cy="331724"/>
          </a:xfrm>
        </p:grpSpPr>
        <p:sp>
          <p:nvSpPr>
            <p:cNvPr name="Freeform 119" id="119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" t="0" r="6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429826" y="9036758"/>
            <a:ext cx="3360106" cy="403697"/>
            <a:chOff x="0" y="0"/>
            <a:chExt cx="4480141" cy="538263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480138" cy="538259"/>
            </a:xfrm>
            <a:custGeom>
              <a:avLst/>
              <a:gdLst/>
              <a:ahLst/>
              <a:cxnLst/>
              <a:rect r="r" b="b" t="t" l="l"/>
              <a:pathLst>
                <a:path h="538259" w="4480138">
                  <a:moveTo>
                    <a:pt x="0" y="0"/>
                  </a:moveTo>
                  <a:lnTo>
                    <a:pt x="4480138" y="0"/>
                  </a:lnTo>
                  <a:lnTo>
                    <a:pt x="4480138" y="538259"/>
                  </a:lnTo>
                  <a:lnTo>
                    <a:pt x="0" y="538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594" r="0" b="-11176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95250"/>
              <a:ext cx="4480141" cy="63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We had to clean the noise...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E293B">
                <a:alpha val="100000"/>
              </a:srgbClr>
            </a:gs>
            <a:gs pos="50000">
              <a:srgbClr val="0F172A">
                <a:alpha val="100000"/>
              </a:srgbClr>
            </a:gs>
            <a:gs pos="100000">
              <a:srgbClr val="064E3B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8895" y="1051903"/>
            <a:ext cx="2228631" cy="555746"/>
            <a:chOff x="0" y="0"/>
            <a:chExt cx="2971508" cy="740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71419" cy="741045"/>
            </a:xfrm>
            <a:custGeom>
              <a:avLst/>
              <a:gdLst/>
              <a:ahLst/>
              <a:cxnLst/>
              <a:rect r="r" b="b" t="t" l="l"/>
              <a:pathLst>
                <a:path h="741045" w="2971419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2600960" y="0"/>
                  </a:lnTo>
                  <a:cubicBezTo>
                    <a:pt x="2805557" y="0"/>
                    <a:pt x="2971419" y="165862"/>
                    <a:pt x="2971419" y="370459"/>
                  </a:cubicBezTo>
                  <a:cubicBezTo>
                    <a:pt x="2971419" y="575056"/>
                    <a:pt x="2805684" y="741045"/>
                    <a:pt x="2600960" y="741045"/>
                  </a:cubicBezTo>
                  <a:lnTo>
                    <a:pt x="370459" y="741045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58164" y="1186786"/>
            <a:ext cx="1730092" cy="327358"/>
            <a:chOff x="0" y="0"/>
            <a:chExt cx="2306790" cy="4364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6794" cy="436481"/>
            </a:xfrm>
            <a:custGeom>
              <a:avLst/>
              <a:gdLst/>
              <a:ahLst/>
              <a:cxnLst/>
              <a:rect r="r" b="b" t="t" l="l"/>
              <a:pathLst>
                <a:path h="436481" w="2306794">
                  <a:moveTo>
                    <a:pt x="0" y="0"/>
                  </a:moveTo>
                  <a:lnTo>
                    <a:pt x="2306794" y="0"/>
                  </a:lnTo>
                  <a:lnTo>
                    <a:pt x="2306794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299" r="0" b="-4665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306790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SOLUTION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5095" y="1773031"/>
            <a:ext cx="16471659" cy="971070"/>
            <a:chOff x="0" y="0"/>
            <a:chExt cx="21962212" cy="1294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208" cy="1294764"/>
            </a:xfrm>
            <a:custGeom>
              <a:avLst/>
              <a:gdLst/>
              <a:ahLst/>
              <a:cxnLst/>
              <a:rect r="r" b="b" t="t" l="l"/>
              <a:pathLst>
                <a:path h="1294764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294764"/>
                  </a:lnTo>
                  <a:lnTo>
                    <a:pt x="0" y="1294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337" r="0" b="-27468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1962212" cy="1361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62"/>
                </a:lnSpc>
              </a:pPr>
              <a:r>
                <a:rPr lang="en-US" b="true" sz="4608">
                  <a:solidFill>
                    <a:srgbClr val="0EA5E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CLEANING THE MESS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5095" y="2688145"/>
            <a:ext cx="16471659" cy="438782"/>
            <a:chOff x="0" y="0"/>
            <a:chExt cx="21962212" cy="5850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2208" cy="585038"/>
            </a:xfrm>
            <a:custGeom>
              <a:avLst/>
              <a:gdLst/>
              <a:ahLst/>
              <a:cxnLst/>
              <a:rect r="r" b="b" t="t" l="l"/>
              <a:pathLst>
                <a:path h="585038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585038"/>
                  </a:lnTo>
                  <a:lnTo>
                    <a:pt x="0" y="5850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5841" r="0" b="-67708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962212" cy="642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0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MULTI-LAYER FILTERING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2703" y="3362096"/>
            <a:ext cx="6616303" cy="3113294"/>
            <a:chOff x="0" y="0"/>
            <a:chExt cx="8821738" cy="41510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21801" cy="4151122"/>
            </a:xfrm>
            <a:custGeom>
              <a:avLst/>
              <a:gdLst/>
              <a:ahLst/>
              <a:cxnLst/>
              <a:rect r="r" b="b" t="t" l="l"/>
              <a:pathLst>
                <a:path h="4151122" w="8821801">
                  <a:moveTo>
                    <a:pt x="0" y="614934"/>
                  </a:moveTo>
                  <a:cubicBezTo>
                    <a:pt x="0" y="275336"/>
                    <a:pt x="275336" y="0"/>
                    <a:pt x="614934" y="0"/>
                  </a:cubicBezTo>
                  <a:lnTo>
                    <a:pt x="8206867" y="0"/>
                  </a:lnTo>
                  <a:cubicBezTo>
                    <a:pt x="8546465" y="0"/>
                    <a:pt x="8821801" y="275336"/>
                    <a:pt x="8821801" y="614934"/>
                  </a:cubicBezTo>
                  <a:lnTo>
                    <a:pt x="8821801" y="3536188"/>
                  </a:lnTo>
                  <a:cubicBezTo>
                    <a:pt x="8821801" y="3875786"/>
                    <a:pt x="8546465" y="4151122"/>
                    <a:pt x="8206867" y="4151122"/>
                  </a:cubicBezTo>
                  <a:lnTo>
                    <a:pt x="614934" y="4151122"/>
                  </a:lnTo>
                  <a:cubicBezTo>
                    <a:pt x="275336" y="4151122"/>
                    <a:pt x="0" y="3875786"/>
                    <a:pt x="0" y="353618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4784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29658" y="3771986"/>
            <a:ext cx="343157" cy="291694"/>
            <a:chOff x="0" y="0"/>
            <a:chExt cx="457543" cy="388925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-1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87201" y="3689061"/>
            <a:ext cx="1329738" cy="515562"/>
            <a:chOff x="0" y="0"/>
            <a:chExt cx="1772983" cy="6874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72989" cy="687409"/>
            </a:xfrm>
            <a:custGeom>
              <a:avLst/>
              <a:gdLst/>
              <a:ahLst/>
              <a:cxnLst/>
              <a:rect r="r" b="b" t="t" l="l"/>
              <a:pathLst>
                <a:path h="687409" w="1772989">
                  <a:moveTo>
                    <a:pt x="0" y="0"/>
                  </a:moveTo>
                  <a:lnTo>
                    <a:pt x="1772989" y="0"/>
                  </a:lnTo>
                  <a:lnTo>
                    <a:pt x="1772989" y="687409"/>
                  </a:lnTo>
                  <a:lnTo>
                    <a:pt x="0" y="6874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0" r="0" b="53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772983" cy="754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57"/>
                </a:lnSpc>
              </a:pPr>
              <a:r>
                <a:rPr lang="en-US" sz="24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BEFORE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9658" y="4375394"/>
            <a:ext cx="2673782" cy="514750"/>
            <a:chOff x="0" y="0"/>
            <a:chExt cx="3565042" cy="6863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65017" cy="686435"/>
            </a:xfrm>
            <a:custGeom>
              <a:avLst/>
              <a:gdLst/>
              <a:ahLst/>
              <a:cxnLst/>
              <a:rect r="r" b="b" t="t" l="l"/>
              <a:pathLst>
                <a:path h="686435" w="3565017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3259963" y="0"/>
                  </a:lnTo>
                  <a:cubicBezTo>
                    <a:pt x="3428492" y="0"/>
                    <a:pt x="3565017" y="136525"/>
                    <a:pt x="3565017" y="305054"/>
                  </a:cubicBezTo>
                  <a:lnTo>
                    <a:pt x="3565017" y="381381"/>
                  </a:lnTo>
                  <a:cubicBezTo>
                    <a:pt x="3565017" y="549910"/>
                    <a:pt x="3428492" y="686435"/>
                    <a:pt x="3259963" y="686435"/>
                  </a:cubicBezTo>
                  <a:lnTo>
                    <a:pt x="305054" y="686435"/>
                  </a:lnTo>
                  <a:cubicBezTo>
                    <a:pt x="136525" y="686308"/>
                    <a:pt x="0" y="549783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10757" y="4375394"/>
            <a:ext cx="2673782" cy="514752"/>
            <a:chOff x="0" y="0"/>
            <a:chExt cx="3565042" cy="6863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65045" cy="686339"/>
            </a:xfrm>
            <a:custGeom>
              <a:avLst/>
              <a:gdLst/>
              <a:ahLst/>
              <a:cxnLst/>
              <a:rect r="r" b="b" t="t" l="l"/>
              <a:pathLst>
                <a:path h="686339" w="3565045">
                  <a:moveTo>
                    <a:pt x="0" y="0"/>
                  </a:moveTo>
                  <a:lnTo>
                    <a:pt x="3565045" y="0"/>
                  </a:lnTo>
                  <a:lnTo>
                    <a:pt x="3565045" y="686339"/>
                  </a:lnTo>
                  <a:lnTo>
                    <a:pt x="0" y="686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211" r="0" b="-5121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3565042" cy="762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"hyper ##ten ##sion"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17826" y="4375394"/>
            <a:ext cx="1301144" cy="514750"/>
            <a:chOff x="0" y="0"/>
            <a:chExt cx="1734858" cy="6863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34947" cy="686435"/>
            </a:xfrm>
            <a:custGeom>
              <a:avLst/>
              <a:gdLst/>
              <a:ahLst/>
              <a:cxnLst/>
              <a:rect r="r" b="b" t="t" l="l"/>
              <a:pathLst>
                <a:path h="686435" w="1734947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1429893" y="0"/>
                  </a:lnTo>
                  <a:cubicBezTo>
                    <a:pt x="1598422" y="0"/>
                    <a:pt x="1734947" y="136525"/>
                    <a:pt x="1734947" y="305054"/>
                  </a:cubicBezTo>
                  <a:lnTo>
                    <a:pt x="1734947" y="381381"/>
                  </a:lnTo>
                  <a:cubicBezTo>
                    <a:pt x="1734947" y="549910"/>
                    <a:pt x="1598422" y="686435"/>
                    <a:pt x="1429893" y="686435"/>
                  </a:cubicBezTo>
                  <a:lnTo>
                    <a:pt x="305054" y="686435"/>
                  </a:lnTo>
                  <a:cubicBezTo>
                    <a:pt x="136525" y="686308"/>
                    <a:pt x="0" y="549783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198925" y="4375394"/>
            <a:ext cx="1301144" cy="514752"/>
            <a:chOff x="0" y="0"/>
            <a:chExt cx="1734858" cy="686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34861" cy="686339"/>
            </a:xfrm>
            <a:custGeom>
              <a:avLst/>
              <a:gdLst/>
              <a:ahLst/>
              <a:cxnLst/>
              <a:rect r="r" b="b" t="t" l="l"/>
              <a:pathLst>
                <a:path h="686339" w="1734861">
                  <a:moveTo>
                    <a:pt x="0" y="0"/>
                  </a:moveTo>
                  <a:lnTo>
                    <a:pt x="1734861" y="0"/>
                  </a:lnTo>
                  <a:lnTo>
                    <a:pt x="1734861" y="686339"/>
                  </a:lnTo>
                  <a:lnTo>
                    <a:pt x="0" y="686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8" t="0" r="-75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734858" cy="762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"patient"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29658" y="5004530"/>
            <a:ext cx="2902553" cy="514750"/>
            <a:chOff x="0" y="0"/>
            <a:chExt cx="3870071" cy="68633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70071" cy="686435"/>
            </a:xfrm>
            <a:custGeom>
              <a:avLst/>
              <a:gdLst/>
              <a:ahLst/>
              <a:cxnLst/>
              <a:rect r="r" b="b" t="t" l="l"/>
              <a:pathLst>
                <a:path h="686435" w="3870071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3565017" y="0"/>
                  </a:lnTo>
                  <a:cubicBezTo>
                    <a:pt x="3733546" y="0"/>
                    <a:pt x="3870071" y="136525"/>
                    <a:pt x="3870071" y="305054"/>
                  </a:cubicBezTo>
                  <a:lnTo>
                    <a:pt x="3870071" y="381381"/>
                  </a:lnTo>
                  <a:cubicBezTo>
                    <a:pt x="3870071" y="549910"/>
                    <a:pt x="3733546" y="686435"/>
                    <a:pt x="3565017" y="686435"/>
                  </a:cubicBezTo>
                  <a:lnTo>
                    <a:pt x="305054" y="686435"/>
                  </a:lnTo>
                  <a:cubicBezTo>
                    <a:pt x="136525" y="686308"/>
                    <a:pt x="0" y="549783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10757" y="5004530"/>
            <a:ext cx="2902553" cy="514752"/>
            <a:chOff x="0" y="0"/>
            <a:chExt cx="3870071" cy="6863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70075" cy="686339"/>
            </a:xfrm>
            <a:custGeom>
              <a:avLst/>
              <a:gdLst/>
              <a:ahLst/>
              <a:cxnLst/>
              <a:rect r="r" b="b" t="t" l="l"/>
              <a:pathLst>
                <a:path h="686339" w="3870075">
                  <a:moveTo>
                    <a:pt x="0" y="0"/>
                  </a:moveTo>
                  <a:lnTo>
                    <a:pt x="3870075" y="0"/>
                  </a:lnTo>
                  <a:lnTo>
                    <a:pt x="3870075" y="686339"/>
                  </a:lnTo>
                  <a:lnTo>
                    <a:pt x="0" y="686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871" r="0" b="-598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3870071" cy="762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"no history of diabetes"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246597" y="5004530"/>
            <a:ext cx="1258252" cy="514750"/>
            <a:chOff x="0" y="0"/>
            <a:chExt cx="1677670" cy="6863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77670" cy="686435"/>
            </a:xfrm>
            <a:custGeom>
              <a:avLst/>
              <a:gdLst/>
              <a:ahLst/>
              <a:cxnLst/>
              <a:rect r="r" b="b" t="t" l="l"/>
              <a:pathLst>
                <a:path h="686435" w="1677670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1372616" y="0"/>
                  </a:lnTo>
                  <a:cubicBezTo>
                    <a:pt x="1541145" y="0"/>
                    <a:pt x="1677670" y="136525"/>
                    <a:pt x="1677670" y="305054"/>
                  </a:cubicBezTo>
                  <a:lnTo>
                    <a:pt x="1677670" y="381381"/>
                  </a:lnTo>
                  <a:cubicBezTo>
                    <a:pt x="1677670" y="549910"/>
                    <a:pt x="1541145" y="686435"/>
                    <a:pt x="1372616" y="686435"/>
                  </a:cubicBezTo>
                  <a:lnTo>
                    <a:pt x="305054" y="686435"/>
                  </a:lnTo>
                  <a:cubicBezTo>
                    <a:pt x="136525" y="686308"/>
                    <a:pt x="0" y="549783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427696" y="5004530"/>
            <a:ext cx="1258252" cy="514752"/>
            <a:chOff x="0" y="0"/>
            <a:chExt cx="1677670" cy="686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77669" cy="686339"/>
            </a:xfrm>
            <a:custGeom>
              <a:avLst/>
              <a:gdLst/>
              <a:ahLst/>
              <a:cxnLst/>
              <a:rect r="r" b="b" t="t" l="l"/>
              <a:pathLst>
                <a:path h="686339" w="1677669">
                  <a:moveTo>
                    <a:pt x="0" y="0"/>
                  </a:moveTo>
                  <a:lnTo>
                    <a:pt x="1677669" y="0"/>
                  </a:lnTo>
                  <a:lnTo>
                    <a:pt x="1677669" y="686339"/>
                  </a:lnTo>
                  <a:lnTo>
                    <a:pt x="0" y="686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8" t="0" r="-2488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1677670" cy="762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"##met"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619236" y="5004530"/>
            <a:ext cx="957986" cy="514750"/>
            <a:chOff x="0" y="0"/>
            <a:chExt cx="1277315" cy="68633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77366" cy="686435"/>
            </a:xfrm>
            <a:custGeom>
              <a:avLst/>
              <a:gdLst/>
              <a:ahLst/>
              <a:cxnLst/>
              <a:rect r="r" b="b" t="t" l="l"/>
              <a:pathLst>
                <a:path h="686435" w="1277366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972312" y="0"/>
                  </a:lnTo>
                  <a:cubicBezTo>
                    <a:pt x="1140841" y="0"/>
                    <a:pt x="1277366" y="136525"/>
                    <a:pt x="1277366" y="305054"/>
                  </a:cubicBezTo>
                  <a:lnTo>
                    <a:pt x="1277366" y="381381"/>
                  </a:lnTo>
                  <a:cubicBezTo>
                    <a:pt x="1277366" y="549910"/>
                    <a:pt x="1140841" y="686435"/>
                    <a:pt x="972312" y="686435"/>
                  </a:cubicBezTo>
                  <a:lnTo>
                    <a:pt x="305054" y="686435"/>
                  </a:lnTo>
                  <a:cubicBezTo>
                    <a:pt x="136525" y="686308"/>
                    <a:pt x="0" y="549783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800334" y="5004530"/>
            <a:ext cx="957986" cy="514752"/>
            <a:chOff x="0" y="0"/>
            <a:chExt cx="1277315" cy="6863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77316" cy="686339"/>
            </a:xfrm>
            <a:custGeom>
              <a:avLst/>
              <a:gdLst/>
              <a:ahLst/>
              <a:cxnLst/>
              <a:rect r="r" b="b" t="t" l="l"/>
              <a:pathLst>
                <a:path h="686339" w="1277316">
                  <a:moveTo>
                    <a:pt x="0" y="0"/>
                  </a:moveTo>
                  <a:lnTo>
                    <a:pt x="1277316" y="0"/>
                  </a:lnTo>
                  <a:lnTo>
                    <a:pt x="1277316" y="686339"/>
                  </a:lnTo>
                  <a:lnTo>
                    <a:pt x="0" y="686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940" t="0" r="-1894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1277315" cy="762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"test"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29658" y="5633676"/>
            <a:ext cx="1301144" cy="514750"/>
            <a:chOff x="0" y="0"/>
            <a:chExt cx="1734858" cy="68633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4947" cy="686435"/>
            </a:xfrm>
            <a:custGeom>
              <a:avLst/>
              <a:gdLst/>
              <a:ahLst/>
              <a:cxnLst/>
              <a:rect r="r" b="b" t="t" l="l"/>
              <a:pathLst>
                <a:path h="686435" w="1734947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1429893" y="0"/>
                  </a:lnTo>
                  <a:cubicBezTo>
                    <a:pt x="1598422" y="0"/>
                    <a:pt x="1734947" y="136525"/>
                    <a:pt x="1734947" y="305054"/>
                  </a:cubicBezTo>
                  <a:lnTo>
                    <a:pt x="1734947" y="381381"/>
                  </a:lnTo>
                  <a:cubicBezTo>
                    <a:pt x="1734947" y="549910"/>
                    <a:pt x="1598422" y="686435"/>
                    <a:pt x="1429893" y="686435"/>
                  </a:cubicBezTo>
                  <a:lnTo>
                    <a:pt x="305054" y="686435"/>
                  </a:lnTo>
                  <a:cubicBezTo>
                    <a:pt x="136525" y="686308"/>
                    <a:pt x="0" y="549783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10757" y="5633676"/>
            <a:ext cx="1301144" cy="514752"/>
            <a:chOff x="0" y="0"/>
            <a:chExt cx="1734858" cy="6863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34861" cy="686339"/>
            </a:xfrm>
            <a:custGeom>
              <a:avLst/>
              <a:gdLst/>
              <a:ahLst/>
              <a:cxnLst/>
              <a:rect r="r" b="b" t="t" l="l"/>
              <a:pathLst>
                <a:path h="686339" w="1734861">
                  <a:moveTo>
                    <a:pt x="0" y="0"/>
                  </a:moveTo>
                  <a:lnTo>
                    <a:pt x="1734861" y="0"/>
                  </a:lnTo>
                  <a:lnTo>
                    <a:pt x="1734861" y="686339"/>
                  </a:lnTo>
                  <a:lnTo>
                    <a:pt x="0" y="6863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8" t="0" r="-75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734858" cy="762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735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"normal"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792583" y="4679423"/>
            <a:ext cx="686314" cy="478631"/>
            <a:chOff x="0" y="0"/>
            <a:chExt cx="915086" cy="638175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915035" cy="638175"/>
            </a:xfrm>
            <a:custGeom>
              <a:avLst/>
              <a:gdLst/>
              <a:ahLst/>
              <a:cxnLst/>
              <a:rect r="r" b="b" t="t" l="l"/>
              <a:pathLst>
                <a:path h="638175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638175"/>
                  </a:lnTo>
                  <a:lnTo>
                    <a:pt x="0" y="638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7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752475" y="3362096"/>
            <a:ext cx="6616303" cy="3113294"/>
            <a:chOff x="0" y="0"/>
            <a:chExt cx="8821738" cy="415105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21801" cy="4151122"/>
            </a:xfrm>
            <a:custGeom>
              <a:avLst/>
              <a:gdLst/>
              <a:ahLst/>
              <a:cxnLst/>
              <a:rect r="r" b="b" t="t" l="l"/>
              <a:pathLst>
                <a:path h="4151122" w="8821801">
                  <a:moveTo>
                    <a:pt x="0" y="614934"/>
                  </a:moveTo>
                  <a:cubicBezTo>
                    <a:pt x="0" y="275336"/>
                    <a:pt x="275336" y="0"/>
                    <a:pt x="614934" y="0"/>
                  </a:cubicBezTo>
                  <a:lnTo>
                    <a:pt x="8206867" y="0"/>
                  </a:lnTo>
                  <a:cubicBezTo>
                    <a:pt x="8546465" y="0"/>
                    <a:pt x="8821801" y="275336"/>
                    <a:pt x="8821801" y="614934"/>
                  </a:cubicBezTo>
                  <a:lnTo>
                    <a:pt x="8821801" y="3536188"/>
                  </a:lnTo>
                  <a:cubicBezTo>
                    <a:pt x="8821801" y="3875786"/>
                    <a:pt x="8546465" y="4151122"/>
                    <a:pt x="8206867" y="4151122"/>
                  </a:cubicBezTo>
                  <a:lnTo>
                    <a:pt x="614934" y="4151122"/>
                  </a:lnTo>
                  <a:cubicBezTo>
                    <a:pt x="275336" y="4151122"/>
                    <a:pt x="0" y="3875786"/>
                    <a:pt x="0" y="353618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4784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079430" y="3771986"/>
            <a:ext cx="343157" cy="291694"/>
            <a:chOff x="0" y="0"/>
            <a:chExt cx="457543" cy="388925"/>
          </a:xfrm>
        </p:grpSpPr>
        <p:sp>
          <p:nvSpPr>
            <p:cNvPr name="Freeform 55" id="55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-13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536973" y="3689061"/>
            <a:ext cx="1115263" cy="515562"/>
            <a:chOff x="0" y="0"/>
            <a:chExt cx="1487018" cy="68741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87024" cy="687409"/>
            </a:xfrm>
            <a:custGeom>
              <a:avLst/>
              <a:gdLst/>
              <a:ahLst/>
              <a:cxnLst/>
              <a:rect r="r" b="b" t="t" l="l"/>
              <a:pathLst>
                <a:path h="687409" w="1487024">
                  <a:moveTo>
                    <a:pt x="0" y="0"/>
                  </a:moveTo>
                  <a:lnTo>
                    <a:pt x="1487024" y="0"/>
                  </a:lnTo>
                  <a:lnTo>
                    <a:pt x="1487024" y="687409"/>
                  </a:lnTo>
                  <a:lnTo>
                    <a:pt x="0" y="6874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9" t="0" r="-2639" b="1124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487018" cy="754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57"/>
                </a:lnSpc>
              </a:pPr>
              <a:r>
                <a:rPr lang="en-US" sz="24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AFTER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79430" y="4375394"/>
            <a:ext cx="2144744" cy="629145"/>
            <a:chOff x="0" y="0"/>
            <a:chExt cx="2859659" cy="8388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859659" cy="838835"/>
            </a:xfrm>
            <a:custGeom>
              <a:avLst/>
              <a:gdLst/>
              <a:ahLst/>
              <a:cxnLst/>
              <a:rect r="r" b="b" t="t" l="l"/>
              <a:pathLst>
                <a:path h="838835" w="285965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2554605" y="0"/>
                  </a:lnTo>
                  <a:cubicBezTo>
                    <a:pt x="2723007" y="0"/>
                    <a:pt x="2859659" y="136525"/>
                    <a:pt x="2859659" y="305054"/>
                  </a:cubicBezTo>
                  <a:lnTo>
                    <a:pt x="2859659" y="533781"/>
                  </a:lnTo>
                  <a:cubicBezTo>
                    <a:pt x="2859659" y="702183"/>
                    <a:pt x="2723134" y="838835"/>
                    <a:pt x="2554605" y="838835"/>
                  </a:cubicBezTo>
                  <a:lnTo>
                    <a:pt x="305054" y="838835"/>
                  </a:lnTo>
                  <a:cubicBezTo>
                    <a:pt x="136525" y="838835"/>
                    <a:pt x="0" y="702310"/>
                    <a:pt x="0" y="533781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336776" y="4448739"/>
            <a:ext cx="1572806" cy="461369"/>
            <a:chOff x="0" y="0"/>
            <a:chExt cx="2859659" cy="83885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859662" cy="838850"/>
            </a:xfrm>
            <a:custGeom>
              <a:avLst/>
              <a:gdLst/>
              <a:ahLst/>
              <a:cxnLst/>
              <a:rect r="r" b="b" t="t" l="l"/>
              <a:pathLst>
                <a:path h="838850" w="2859662">
                  <a:moveTo>
                    <a:pt x="0" y="0"/>
                  </a:moveTo>
                  <a:lnTo>
                    <a:pt x="2859662" y="0"/>
                  </a:lnTo>
                  <a:lnTo>
                    <a:pt x="2859662" y="838850"/>
                  </a:lnTo>
                  <a:lnTo>
                    <a:pt x="0" y="838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4" r="0" b="-1642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85725"/>
              <a:ext cx="2859659" cy="92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Hypertension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338560" y="4375394"/>
            <a:ext cx="1744389" cy="629145"/>
            <a:chOff x="0" y="0"/>
            <a:chExt cx="2325853" cy="8388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25878" cy="838835"/>
            </a:xfrm>
            <a:custGeom>
              <a:avLst/>
              <a:gdLst/>
              <a:ahLst/>
              <a:cxnLst/>
              <a:rect r="r" b="b" t="t" l="l"/>
              <a:pathLst>
                <a:path h="838835" w="2325878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2020824" y="0"/>
                  </a:lnTo>
                  <a:cubicBezTo>
                    <a:pt x="2189226" y="0"/>
                    <a:pt x="2325878" y="136525"/>
                    <a:pt x="2325878" y="305054"/>
                  </a:cubicBezTo>
                  <a:lnTo>
                    <a:pt x="2325878" y="533781"/>
                  </a:lnTo>
                  <a:cubicBezTo>
                    <a:pt x="2325878" y="702183"/>
                    <a:pt x="2189353" y="838835"/>
                    <a:pt x="2020824" y="838835"/>
                  </a:cubicBezTo>
                  <a:lnTo>
                    <a:pt x="305054" y="838835"/>
                  </a:lnTo>
                  <a:cubicBezTo>
                    <a:pt x="136525" y="838835"/>
                    <a:pt x="0" y="702310"/>
                    <a:pt x="0" y="533781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519659" y="4375394"/>
            <a:ext cx="1744389" cy="629142"/>
            <a:chOff x="0" y="0"/>
            <a:chExt cx="2325853" cy="83885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325857" cy="838850"/>
            </a:xfrm>
            <a:custGeom>
              <a:avLst/>
              <a:gdLst/>
              <a:ahLst/>
              <a:cxnLst/>
              <a:rect r="r" b="b" t="t" l="l"/>
              <a:pathLst>
                <a:path h="838850" w="2325857">
                  <a:moveTo>
                    <a:pt x="0" y="0"/>
                  </a:moveTo>
                  <a:lnTo>
                    <a:pt x="2325857" y="0"/>
                  </a:lnTo>
                  <a:lnTo>
                    <a:pt x="2325857" y="838850"/>
                  </a:lnTo>
                  <a:lnTo>
                    <a:pt x="0" y="838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4" r="0" b="-402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0"/>
              <a:ext cx="2325853" cy="934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93C5F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Metformin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197345" y="4375394"/>
            <a:ext cx="1558519" cy="629145"/>
            <a:chOff x="0" y="0"/>
            <a:chExt cx="2078025" cy="8388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78101" cy="838835"/>
            </a:xfrm>
            <a:custGeom>
              <a:avLst/>
              <a:gdLst/>
              <a:ahLst/>
              <a:cxnLst/>
              <a:rect r="r" b="b" t="t" l="l"/>
              <a:pathLst>
                <a:path h="838835" w="2078101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1773047" y="0"/>
                  </a:lnTo>
                  <a:cubicBezTo>
                    <a:pt x="1941449" y="0"/>
                    <a:pt x="2078101" y="136525"/>
                    <a:pt x="2078101" y="305054"/>
                  </a:cubicBezTo>
                  <a:lnTo>
                    <a:pt x="2078101" y="533781"/>
                  </a:lnTo>
                  <a:cubicBezTo>
                    <a:pt x="2078101" y="702183"/>
                    <a:pt x="1941576" y="838835"/>
                    <a:pt x="1773047" y="838835"/>
                  </a:cubicBezTo>
                  <a:lnTo>
                    <a:pt x="305054" y="838835"/>
                  </a:lnTo>
                  <a:cubicBezTo>
                    <a:pt x="136525" y="838835"/>
                    <a:pt x="0" y="702310"/>
                    <a:pt x="0" y="533781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378444" y="4375394"/>
            <a:ext cx="1558519" cy="629142"/>
            <a:chOff x="0" y="0"/>
            <a:chExt cx="2078025" cy="83885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78021" cy="838850"/>
            </a:xfrm>
            <a:custGeom>
              <a:avLst/>
              <a:gdLst/>
              <a:ahLst/>
              <a:cxnLst/>
              <a:rect r="r" b="b" t="t" l="l"/>
              <a:pathLst>
                <a:path h="838850" w="2078021">
                  <a:moveTo>
                    <a:pt x="0" y="0"/>
                  </a:moveTo>
                  <a:lnTo>
                    <a:pt x="2078021" y="0"/>
                  </a:lnTo>
                  <a:lnTo>
                    <a:pt x="2078021" y="838850"/>
                  </a:lnTo>
                  <a:lnTo>
                    <a:pt x="0" y="838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3" t="0" r="-1793" b="-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0"/>
              <a:ext cx="2078025" cy="934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 b="true">
                  <a:solidFill>
                    <a:srgbClr val="FCA5A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Diabetes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15095" y="6844017"/>
            <a:ext cx="285969" cy="210274"/>
            <a:chOff x="0" y="0"/>
            <a:chExt cx="381292" cy="280365"/>
          </a:xfrm>
        </p:grpSpPr>
        <p:sp>
          <p:nvSpPr>
            <p:cNvPr name="Freeform 75" id="75" descr="image.png"/>
            <p:cNvSpPr/>
            <p:nvPr/>
          </p:nvSpPr>
          <p:spPr>
            <a:xfrm flipH="false" flipV="false" rot="0">
              <a:off x="0" y="0"/>
              <a:ext cx="381254" cy="280416"/>
            </a:xfrm>
            <a:custGeom>
              <a:avLst/>
              <a:gdLst/>
              <a:ahLst/>
              <a:cxnLst/>
              <a:rect r="r" b="b" t="t" l="l"/>
              <a:pathLst>
                <a:path h="280416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80416"/>
                  </a:lnTo>
                  <a:lnTo>
                    <a:pt x="0" y="28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8" b="18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08895" y="7314724"/>
            <a:ext cx="2657580" cy="1242079"/>
            <a:chOff x="0" y="0"/>
            <a:chExt cx="3543440" cy="165610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543427" cy="1656080"/>
            </a:xfrm>
            <a:custGeom>
              <a:avLst/>
              <a:gdLst/>
              <a:ahLst/>
              <a:cxnLst/>
              <a:rect r="r" b="b" t="t" l="l"/>
              <a:pathLst>
                <a:path h="1656080" w="3543427">
                  <a:moveTo>
                    <a:pt x="0" y="462153"/>
                  </a:moveTo>
                  <a:cubicBezTo>
                    <a:pt x="0" y="206883"/>
                    <a:pt x="206883" y="0"/>
                    <a:pt x="462153" y="0"/>
                  </a:cubicBezTo>
                  <a:lnTo>
                    <a:pt x="3081274" y="0"/>
                  </a:lnTo>
                  <a:cubicBezTo>
                    <a:pt x="3336544" y="0"/>
                    <a:pt x="3543427" y="206883"/>
                    <a:pt x="3543427" y="462153"/>
                  </a:cubicBezTo>
                  <a:lnTo>
                    <a:pt x="3543427" y="1193927"/>
                  </a:lnTo>
                  <a:cubicBezTo>
                    <a:pt x="3543427" y="1449197"/>
                    <a:pt x="3336544" y="1656080"/>
                    <a:pt x="3081274" y="1656080"/>
                  </a:cubicBezTo>
                  <a:lnTo>
                    <a:pt x="462153" y="1656080"/>
                  </a:lnTo>
                  <a:cubicBezTo>
                    <a:pt x="206883" y="1656080"/>
                    <a:pt x="0" y="1449197"/>
                    <a:pt x="0" y="119392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100966" y="7506805"/>
            <a:ext cx="314563" cy="343167"/>
            <a:chOff x="0" y="0"/>
            <a:chExt cx="419418" cy="45755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19481" cy="457581"/>
            </a:xfrm>
            <a:custGeom>
              <a:avLst/>
              <a:gdLst/>
              <a:ahLst/>
              <a:cxnLst/>
              <a:rect r="r" b="b" t="t" l="l"/>
              <a:pathLst>
                <a:path h="457581" w="419481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266954" y="0"/>
                  </a:lnTo>
                  <a:cubicBezTo>
                    <a:pt x="351155" y="0"/>
                    <a:pt x="419481" y="68326"/>
                    <a:pt x="419481" y="152527"/>
                  </a:cubicBezTo>
                  <a:lnTo>
                    <a:pt x="419481" y="305054"/>
                  </a:lnTo>
                  <a:cubicBezTo>
                    <a:pt x="419481" y="389255"/>
                    <a:pt x="351155" y="457581"/>
                    <a:pt x="266954" y="457581"/>
                  </a:cubicBezTo>
                  <a:lnTo>
                    <a:pt x="152527" y="457581"/>
                  </a:lnTo>
                  <a:cubicBezTo>
                    <a:pt x="68326" y="457581"/>
                    <a:pt x="0" y="389255"/>
                    <a:pt x="0" y="305054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00966" y="7506805"/>
            <a:ext cx="314563" cy="343168"/>
            <a:chOff x="0" y="0"/>
            <a:chExt cx="419418" cy="45755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19416" cy="457559"/>
            </a:xfrm>
            <a:custGeom>
              <a:avLst/>
              <a:gdLst/>
              <a:ahLst/>
              <a:cxnLst/>
              <a:rect r="r" b="b" t="t" l="l"/>
              <a:pathLst>
                <a:path h="457559" w="419416">
                  <a:moveTo>
                    <a:pt x="0" y="0"/>
                  </a:moveTo>
                  <a:lnTo>
                    <a:pt x="419416" y="0"/>
                  </a:lnTo>
                  <a:lnTo>
                    <a:pt x="419416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970" t="0" r="-89971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419418" cy="514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29915" y="7535399"/>
            <a:ext cx="929392" cy="327358"/>
            <a:chOff x="0" y="0"/>
            <a:chExt cx="1239190" cy="43647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39186" cy="436481"/>
            </a:xfrm>
            <a:custGeom>
              <a:avLst/>
              <a:gdLst/>
              <a:ahLst/>
              <a:cxnLst/>
              <a:rect r="r" b="b" t="t" l="l"/>
              <a:pathLst>
                <a:path h="436481" w="1239186">
                  <a:moveTo>
                    <a:pt x="0" y="0"/>
                  </a:moveTo>
                  <a:lnTo>
                    <a:pt x="1239186" y="0"/>
                  </a:lnTo>
                  <a:lnTo>
                    <a:pt x="1239186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0" r="0" b="100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1239190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Chunking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00966" y="7907160"/>
            <a:ext cx="2273427" cy="329151"/>
            <a:chOff x="0" y="0"/>
            <a:chExt cx="3031236" cy="4388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31242" cy="438864"/>
            </a:xfrm>
            <a:custGeom>
              <a:avLst/>
              <a:gdLst/>
              <a:ahLst/>
              <a:cxnLst/>
              <a:rect r="r" b="b" t="t" l="l"/>
              <a:pathLst>
                <a:path h="438864" w="3031242">
                  <a:moveTo>
                    <a:pt x="0" y="0"/>
                  </a:moveTo>
                  <a:lnTo>
                    <a:pt x="3031242" y="0"/>
                  </a:lnTo>
                  <a:lnTo>
                    <a:pt x="3031242" y="438864"/>
                  </a:lnTo>
                  <a:lnTo>
                    <a:pt x="0" y="438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29" r="0" b="-6933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3031236" cy="476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6"/>
                </a:lnSpc>
              </a:pPr>
              <a:r>
                <a:rPr lang="en-US" sz="1576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512-char chunks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3668468" y="7314724"/>
            <a:ext cx="2657580" cy="1242079"/>
            <a:chOff x="0" y="0"/>
            <a:chExt cx="3543440" cy="165610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543427" cy="1656080"/>
            </a:xfrm>
            <a:custGeom>
              <a:avLst/>
              <a:gdLst/>
              <a:ahLst/>
              <a:cxnLst/>
              <a:rect r="r" b="b" t="t" l="l"/>
              <a:pathLst>
                <a:path h="1656080" w="3543427">
                  <a:moveTo>
                    <a:pt x="0" y="462153"/>
                  </a:moveTo>
                  <a:cubicBezTo>
                    <a:pt x="0" y="206883"/>
                    <a:pt x="206883" y="0"/>
                    <a:pt x="462153" y="0"/>
                  </a:cubicBezTo>
                  <a:lnTo>
                    <a:pt x="3081274" y="0"/>
                  </a:lnTo>
                  <a:cubicBezTo>
                    <a:pt x="3336544" y="0"/>
                    <a:pt x="3543427" y="206883"/>
                    <a:pt x="3543427" y="462153"/>
                  </a:cubicBezTo>
                  <a:lnTo>
                    <a:pt x="3543427" y="1193927"/>
                  </a:lnTo>
                  <a:cubicBezTo>
                    <a:pt x="3543427" y="1449197"/>
                    <a:pt x="3336544" y="1656080"/>
                    <a:pt x="3081274" y="1656080"/>
                  </a:cubicBezTo>
                  <a:lnTo>
                    <a:pt x="462153" y="1656080"/>
                  </a:lnTo>
                  <a:cubicBezTo>
                    <a:pt x="206883" y="1656080"/>
                    <a:pt x="0" y="1449197"/>
                    <a:pt x="0" y="119392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3860540" y="7506805"/>
            <a:ext cx="357454" cy="343167"/>
            <a:chOff x="0" y="0"/>
            <a:chExt cx="476606" cy="45755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76631" cy="457581"/>
            </a:xfrm>
            <a:custGeom>
              <a:avLst/>
              <a:gdLst/>
              <a:ahLst/>
              <a:cxnLst/>
              <a:rect r="r" b="b" t="t" l="l"/>
              <a:pathLst>
                <a:path h="457581" w="476631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324104" y="0"/>
                  </a:lnTo>
                  <a:cubicBezTo>
                    <a:pt x="408305" y="0"/>
                    <a:pt x="476631" y="68326"/>
                    <a:pt x="476631" y="152527"/>
                  </a:cubicBezTo>
                  <a:lnTo>
                    <a:pt x="476631" y="305054"/>
                  </a:lnTo>
                  <a:cubicBezTo>
                    <a:pt x="476631" y="389255"/>
                    <a:pt x="408305" y="457581"/>
                    <a:pt x="324104" y="457581"/>
                  </a:cubicBezTo>
                  <a:lnTo>
                    <a:pt x="152527" y="457581"/>
                  </a:lnTo>
                  <a:cubicBezTo>
                    <a:pt x="68326" y="457581"/>
                    <a:pt x="0" y="389255"/>
                    <a:pt x="0" y="305054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3860540" y="7506805"/>
            <a:ext cx="357454" cy="343168"/>
            <a:chOff x="0" y="0"/>
            <a:chExt cx="476606" cy="45755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76610" cy="457559"/>
            </a:xfrm>
            <a:custGeom>
              <a:avLst/>
              <a:gdLst/>
              <a:ahLst/>
              <a:cxnLst/>
              <a:rect r="r" b="b" t="t" l="l"/>
              <a:pathLst>
                <a:path h="457559" w="476610">
                  <a:moveTo>
                    <a:pt x="0" y="0"/>
                  </a:moveTo>
                  <a:lnTo>
                    <a:pt x="476610" y="0"/>
                  </a:lnTo>
                  <a:lnTo>
                    <a:pt x="476610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4" t="0" r="-7317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57150"/>
              <a:ext cx="476606" cy="514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4332389" y="7535399"/>
            <a:ext cx="1615707" cy="327358"/>
            <a:chOff x="0" y="0"/>
            <a:chExt cx="2154276" cy="43647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154279" cy="436481"/>
            </a:xfrm>
            <a:custGeom>
              <a:avLst/>
              <a:gdLst/>
              <a:ahLst/>
              <a:cxnLst/>
              <a:rect r="r" b="b" t="t" l="l"/>
              <a:pathLst>
                <a:path h="436481" w="2154279">
                  <a:moveTo>
                    <a:pt x="0" y="0"/>
                  </a:moveTo>
                  <a:lnTo>
                    <a:pt x="2154279" y="0"/>
                  </a:lnTo>
                  <a:lnTo>
                    <a:pt x="2154279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91" r="0" b="-39847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2154276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Subword Merger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3860540" y="7907160"/>
            <a:ext cx="2273427" cy="329151"/>
            <a:chOff x="0" y="0"/>
            <a:chExt cx="3031236" cy="43886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031242" cy="438864"/>
            </a:xfrm>
            <a:custGeom>
              <a:avLst/>
              <a:gdLst/>
              <a:ahLst/>
              <a:cxnLst/>
              <a:rect r="r" b="b" t="t" l="l"/>
              <a:pathLst>
                <a:path h="438864" w="3031242">
                  <a:moveTo>
                    <a:pt x="0" y="0"/>
                  </a:moveTo>
                  <a:lnTo>
                    <a:pt x="3031242" y="0"/>
                  </a:lnTo>
                  <a:lnTo>
                    <a:pt x="3031242" y="438864"/>
                  </a:lnTo>
                  <a:lnTo>
                    <a:pt x="0" y="438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29" r="0" b="-6933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3031236" cy="476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6"/>
                </a:lnSpc>
              </a:pPr>
              <a:r>
                <a:rPr lang="en-US" sz="1576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Glue ## tokens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442339" y="7314724"/>
            <a:ext cx="2657580" cy="1242079"/>
            <a:chOff x="0" y="0"/>
            <a:chExt cx="3543440" cy="165610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543427" cy="1656080"/>
            </a:xfrm>
            <a:custGeom>
              <a:avLst/>
              <a:gdLst/>
              <a:ahLst/>
              <a:cxnLst/>
              <a:rect r="r" b="b" t="t" l="l"/>
              <a:pathLst>
                <a:path h="1656080" w="3543427">
                  <a:moveTo>
                    <a:pt x="0" y="462153"/>
                  </a:moveTo>
                  <a:cubicBezTo>
                    <a:pt x="0" y="206883"/>
                    <a:pt x="206883" y="0"/>
                    <a:pt x="462153" y="0"/>
                  </a:cubicBezTo>
                  <a:lnTo>
                    <a:pt x="3081274" y="0"/>
                  </a:lnTo>
                  <a:cubicBezTo>
                    <a:pt x="3336544" y="0"/>
                    <a:pt x="3543427" y="206883"/>
                    <a:pt x="3543427" y="462153"/>
                  </a:cubicBezTo>
                  <a:lnTo>
                    <a:pt x="3543427" y="1193927"/>
                  </a:lnTo>
                  <a:cubicBezTo>
                    <a:pt x="3543427" y="1449197"/>
                    <a:pt x="3336544" y="1656080"/>
                    <a:pt x="3081274" y="1656080"/>
                  </a:cubicBezTo>
                  <a:lnTo>
                    <a:pt x="462153" y="1656080"/>
                  </a:lnTo>
                  <a:cubicBezTo>
                    <a:pt x="206883" y="1656080"/>
                    <a:pt x="0" y="1449197"/>
                    <a:pt x="0" y="119392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6634420" y="7506805"/>
            <a:ext cx="357454" cy="343167"/>
            <a:chOff x="0" y="0"/>
            <a:chExt cx="476606" cy="4575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76631" cy="457581"/>
            </a:xfrm>
            <a:custGeom>
              <a:avLst/>
              <a:gdLst/>
              <a:ahLst/>
              <a:cxnLst/>
              <a:rect r="r" b="b" t="t" l="l"/>
              <a:pathLst>
                <a:path h="457581" w="476631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324104" y="0"/>
                  </a:lnTo>
                  <a:cubicBezTo>
                    <a:pt x="408305" y="0"/>
                    <a:pt x="476631" y="68326"/>
                    <a:pt x="476631" y="152527"/>
                  </a:cubicBezTo>
                  <a:lnTo>
                    <a:pt x="476631" y="305054"/>
                  </a:lnTo>
                  <a:cubicBezTo>
                    <a:pt x="476631" y="389255"/>
                    <a:pt x="408305" y="457581"/>
                    <a:pt x="324104" y="457581"/>
                  </a:cubicBezTo>
                  <a:lnTo>
                    <a:pt x="152527" y="457581"/>
                  </a:lnTo>
                  <a:cubicBezTo>
                    <a:pt x="68326" y="457581"/>
                    <a:pt x="0" y="389255"/>
                    <a:pt x="0" y="305054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634420" y="7506805"/>
            <a:ext cx="357454" cy="343168"/>
            <a:chOff x="0" y="0"/>
            <a:chExt cx="476606" cy="45755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76610" cy="457559"/>
            </a:xfrm>
            <a:custGeom>
              <a:avLst/>
              <a:gdLst/>
              <a:ahLst/>
              <a:cxnLst/>
              <a:rect r="r" b="b" t="t" l="l"/>
              <a:pathLst>
                <a:path h="457559" w="476610">
                  <a:moveTo>
                    <a:pt x="0" y="0"/>
                  </a:moveTo>
                  <a:lnTo>
                    <a:pt x="476610" y="0"/>
                  </a:lnTo>
                  <a:lnTo>
                    <a:pt x="476610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4" t="0" r="-73173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476606" cy="514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106260" y="7535399"/>
            <a:ext cx="1672904" cy="327358"/>
            <a:chOff x="0" y="0"/>
            <a:chExt cx="2230539" cy="43647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230537" cy="436481"/>
            </a:xfrm>
            <a:custGeom>
              <a:avLst/>
              <a:gdLst/>
              <a:ahLst/>
              <a:cxnLst/>
              <a:rect r="r" b="b" t="t" l="l"/>
              <a:pathLst>
                <a:path h="436481" w="2230537">
                  <a:moveTo>
                    <a:pt x="0" y="0"/>
                  </a:moveTo>
                  <a:lnTo>
                    <a:pt x="2230537" y="0"/>
                  </a:lnTo>
                  <a:lnTo>
                    <a:pt x="2230537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895" r="0" b="-4325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57150"/>
              <a:ext cx="2230539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Confidence Filter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634420" y="7907160"/>
            <a:ext cx="2273427" cy="329151"/>
            <a:chOff x="0" y="0"/>
            <a:chExt cx="3031236" cy="43886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031242" cy="438864"/>
            </a:xfrm>
            <a:custGeom>
              <a:avLst/>
              <a:gdLst/>
              <a:ahLst/>
              <a:cxnLst/>
              <a:rect r="r" b="b" t="t" l="l"/>
              <a:pathLst>
                <a:path h="438864" w="3031242">
                  <a:moveTo>
                    <a:pt x="0" y="0"/>
                  </a:moveTo>
                  <a:lnTo>
                    <a:pt x="3031242" y="0"/>
                  </a:lnTo>
                  <a:lnTo>
                    <a:pt x="3031242" y="438864"/>
                  </a:lnTo>
                  <a:lnTo>
                    <a:pt x="0" y="438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29" r="0" b="-6933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031236" cy="476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6"/>
                </a:lnSpc>
              </a:pPr>
              <a:r>
                <a:rPr lang="en-US" sz="1576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Score &gt; 80%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201912" y="7314724"/>
            <a:ext cx="2657580" cy="1242079"/>
            <a:chOff x="0" y="0"/>
            <a:chExt cx="3543440" cy="165610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543427" cy="1656080"/>
            </a:xfrm>
            <a:custGeom>
              <a:avLst/>
              <a:gdLst/>
              <a:ahLst/>
              <a:cxnLst/>
              <a:rect r="r" b="b" t="t" l="l"/>
              <a:pathLst>
                <a:path h="1656080" w="3543427">
                  <a:moveTo>
                    <a:pt x="0" y="462153"/>
                  </a:moveTo>
                  <a:cubicBezTo>
                    <a:pt x="0" y="206883"/>
                    <a:pt x="206883" y="0"/>
                    <a:pt x="462153" y="0"/>
                  </a:cubicBezTo>
                  <a:lnTo>
                    <a:pt x="3081274" y="0"/>
                  </a:lnTo>
                  <a:cubicBezTo>
                    <a:pt x="3336544" y="0"/>
                    <a:pt x="3543427" y="206883"/>
                    <a:pt x="3543427" y="462153"/>
                  </a:cubicBezTo>
                  <a:lnTo>
                    <a:pt x="3543427" y="1193927"/>
                  </a:lnTo>
                  <a:cubicBezTo>
                    <a:pt x="3543427" y="1449197"/>
                    <a:pt x="3336544" y="1656080"/>
                    <a:pt x="3081274" y="1656080"/>
                  </a:cubicBezTo>
                  <a:lnTo>
                    <a:pt x="462153" y="1656080"/>
                  </a:lnTo>
                  <a:cubicBezTo>
                    <a:pt x="206883" y="1656080"/>
                    <a:pt x="0" y="1449197"/>
                    <a:pt x="0" y="119392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9393993" y="7621191"/>
            <a:ext cx="357454" cy="343167"/>
            <a:chOff x="0" y="0"/>
            <a:chExt cx="476606" cy="4575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76631" cy="457581"/>
            </a:xfrm>
            <a:custGeom>
              <a:avLst/>
              <a:gdLst/>
              <a:ahLst/>
              <a:cxnLst/>
              <a:rect r="r" b="b" t="t" l="l"/>
              <a:pathLst>
                <a:path h="457581" w="476631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324104" y="0"/>
                  </a:lnTo>
                  <a:cubicBezTo>
                    <a:pt x="408305" y="0"/>
                    <a:pt x="476631" y="68326"/>
                    <a:pt x="476631" y="152527"/>
                  </a:cubicBezTo>
                  <a:lnTo>
                    <a:pt x="476631" y="305054"/>
                  </a:lnTo>
                  <a:cubicBezTo>
                    <a:pt x="476631" y="389255"/>
                    <a:pt x="408305" y="457581"/>
                    <a:pt x="324104" y="457581"/>
                  </a:cubicBezTo>
                  <a:lnTo>
                    <a:pt x="152527" y="457581"/>
                  </a:lnTo>
                  <a:cubicBezTo>
                    <a:pt x="68326" y="457581"/>
                    <a:pt x="0" y="389255"/>
                    <a:pt x="0" y="305054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393993" y="7621191"/>
            <a:ext cx="357454" cy="343168"/>
            <a:chOff x="0" y="0"/>
            <a:chExt cx="476606" cy="457557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76610" cy="457559"/>
            </a:xfrm>
            <a:custGeom>
              <a:avLst/>
              <a:gdLst/>
              <a:ahLst/>
              <a:cxnLst/>
              <a:rect r="r" b="b" t="t" l="l"/>
              <a:pathLst>
                <a:path h="457559" w="476610">
                  <a:moveTo>
                    <a:pt x="0" y="0"/>
                  </a:moveTo>
                  <a:lnTo>
                    <a:pt x="476610" y="0"/>
                  </a:lnTo>
                  <a:lnTo>
                    <a:pt x="476610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4" t="0" r="-7317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57150"/>
              <a:ext cx="476606" cy="514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865833" y="7506805"/>
            <a:ext cx="1801587" cy="632158"/>
            <a:chOff x="0" y="0"/>
            <a:chExt cx="2402116" cy="84287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402115" cy="842874"/>
            </a:xfrm>
            <a:custGeom>
              <a:avLst/>
              <a:gdLst/>
              <a:ahLst/>
              <a:cxnLst/>
              <a:rect r="r" b="b" t="t" l="l"/>
              <a:pathLst>
                <a:path h="842874" w="2402115">
                  <a:moveTo>
                    <a:pt x="0" y="0"/>
                  </a:moveTo>
                  <a:lnTo>
                    <a:pt x="2402115" y="0"/>
                  </a:lnTo>
                  <a:lnTo>
                    <a:pt x="2402115" y="842874"/>
                  </a:lnTo>
                  <a:lnTo>
                    <a:pt x="0" y="8428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2" r="0" b="-768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57150"/>
              <a:ext cx="2402116" cy="900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Stopword Removal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393993" y="8135941"/>
            <a:ext cx="2273427" cy="329151"/>
            <a:chOff x="0" y="0"/>
            <a:chExt cx="3031236" cy="43886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031242" cy="438864"/>
            </a:xfrm>
            <a:custGeom>
              <a:avLst/>
              <a:gdLst/>
              <a:ahLst/>
              <a:cxnLst/>
              <a:rect r="r" b="b" t="t" l="l"/>
              <a:pathLst>
                <a:path h="438864" w="3031242">
                  <a:moveTo>
                    <a:pt x="0" y="0"/>
                  </a:moveTo>
                  <a:lnTo>
                    <a:pt x="3031242" y="0"/>
                  </a:lnTo>
                  <a:lnTo>
                    <a:pt x="3031242" y="438864"/>
                  </a:lnTo>
                  <a:lnTo>
                    <a:pt x="0" y="438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29" r="0" b="-6933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3031236" cy="476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6"/>
                </a:lnSpc>
              </a:pPr>
              <a:r>
                <a:rPr lang="en-US" sz="1576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patient, history, test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1961495" y="7314724"/>
            <a:ext cx="2657580" cy="1242079"/>
            <a:chOff x="0" y="0"/>
            <a:chExt cx="3543440" cy="165610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543427" cy="1656080"/>
            </a:xfrm>
            <a:custGeom>
              <a:avLst/>
              <a:gdLst/>
              <a:ahLst/>
              <a:cxnLst/>
              <a:rect r="r" b="b" t="t" l="l"/>
              <a:pathLst>
                <a:path h="1656080" w="3543427">
                  <a:moveTo>
                    <a:pt x="0" y="462153"/>
                  </a:moveTo>
                  <a:cubicBezTo>
                    <a:pt x="0" y="206883"/>
                    <a:pt x="206883" y="0"/>
                    <a:pt x="462153" y="0"/>
                  </a:cubicBezTo>
                  <a:lnTo>
                    <a:pt x="3081274" y="0"/>
                  </a:lnTo>
                  <a:cubicBezTo>
                    <a:pt x="3336544" y="0"/>
                    <a:pt x="3543427" y="206883"/>
                    <a:pt x="3543427" y="462153"/>
                  </a:cubicBezTo>
                  <a:lnTo>
                    <a:pt x="3543427" y="1193927"/>
                  </a:lnTo>
                  <a:cubicBezTo>
                    <a:pt x="3543427" y="1449197"/>
                    <a:pt x="3336544" y="1656080"/>
                    <a:pt x="3081274" y="1656080"/>
                  </a:cubicBezTo>
                  <a:lnTo>
                    <a:pt x="462153" y="1656080"/>
                  </a:lnTo>
                  <a:cubicBezTo>
                    <a:pt x="206883" y="1656080"/>
                    <a:pt x="0" y="1449197"/>
                    <a:pt x="0" y="119392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2153567" y="7506805"/>
            <a:ext cx="357454" cy="343167"/>
            <a:chOff x="0" y="0"/>
            <a:chExt cx="476606" cy="45755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76631" cy="457581"/>
            </a:xfrm>
            <a:custGeom>
              <a:avLst/>
              <a:gdLst/>
              <a:ahLst/>
              <a:cxnLst/>
              <a:rect r="r" b="b" t="t" l="l"/>
              <a:pathLst>
                <a:path h="457581" w="476631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324104" y="0"/>
                  </a:lnTo>
                  <a:cubicBezTo>
                    <a:pt x="408305" y="0"/>
                    <a:pt x="476631" y="68326"/>
                    <a:pt x="476631" y="152527"/>
                  </a:cubicBezTo>
                  <a:lnTo>
                    <a:pt x="476631" y="305054"/>
                  </a:lnTo>
                  <a:cubicBezTo>
                    <a:pt x="476631" y="389255"/>
                    <a:pt x="408305" y="457581"/>
                    <a:pt x="324104" y="457581"/>
                  </a:cubicBezTo>
                  <a:lnTo>
                    <a:pt x="152527" y="457581"/>
                  </a:lnTo>
                  <a:cubicBezTo>
                    <a:pt x="68326" y="457581"/>
                    <a:pt x="0" y="389255"/>
                    <a:pt x="0" y="305054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2153567" y="7506805"/>
            <a:ext cx="357454" cy="343168"/>
            <a:chOff x="0" y="0"/>
            <a:chExt cx="476606" cy="457557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76610" cy="457559"/>
            </a:xfrm>
            <a:custGeom>
              <a:avLst/>
              <a:gdLst/>
              <a:ahLst/>
              <a:cxnLst/>
              <a:rect r="r" b="b" t="t" l="l"/>
              <a:pathLst>
                <a:path h="457559" w="476610">
                  <a:moveTo>
                    <a:pt x="0" y="0"/>
                  </a:moveTo>
                  <a:lnTo>
                    <a:pt x="476610" y="0"/>
                  </a:lnTo>
                  <a:lnTo>
                    <a:pt x="476610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4" t="0" r="-73173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57150"/>
              <a:ext cx="476606" cy="514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2625407" y="7535399"/>
            <a:ext cx="1415529" cy="327358"/>
            <a:chOff x="0" y="0"/>
            <a:chExt cx="1887372" cy="436478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887376" cy="436481"/>
            </a:xfrm>
            <a:custGeom>
              <a:avLst/>
              <a:gdLst/>
              <a:ahLst/>
              <a:cxnLst/>
              <a:rect r="r" b="b" t="t" l="l"/>
              <a:pathLst>
                <a:path h="436481" w="1887376">
                  <a:moveTo>
                    <a:pt x="0" y="0"/>
                  </a:moveTo>
                  <a:lnTo>
                    <a:pt x="1887376" y="0"/>
                  </a:lnTo>
                  <a:lnTo>
                    <a:pt x="1887376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76" r="0" b="-27932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57150"/>
              <a:ext cx="1887372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Negation Filter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153567" y="7907160"/>
            <a:ext cx="2273427" cy="329151"/>
            <a:chOff x="0" y="0"/>
            <a:chExt cx="3031236" cy="43886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031242" cy="438864"/>
            </a:xfrm>
            <a:custGeom>
              <a:avLst/>
              <a:gdLst/>
              <a:ahLst/>
              <a:cxnLst/>
              <a:rect r="r" b="b" t="t" l="l"/>
              <a:pathLst>
                <a:path h="438864" w="3031242">
                  <a:moveTo>
                    <a:pt x="0" y="0"/>
                  </a:moveTo>
                  <a:lnTo>
                    <a:pt x="3031242" y="0"/>
                  </a:lnTo>
                  <a:lnTo>
                    <a:pt x="3031242" y="438864"/>
                  </a:lnTo>
                  <a:lnTo>
                    <a:pt x="0" y="438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29" r="0" b="-69336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3031236" cy="476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6"/>
                </a:lnSpc>
              </a:pPr>
              <a:r>
                <a:rPr lang="en-US" sz="1576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"no history of..." → drop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4735365" y="7314724"/>
            <a:ext cx="2657580" cy="1242079"/>
            <a:chOff x="0" y="0"/>
            <a:chExt cx="3543440" cy="1656105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543427" cy="1656080"/>
            </a:xfrm>
            <a:custGeom>
              <a:avLst/>
              <a:gdLst/>
              <a:ahLst/>
              <a:cxnLst/>
              <a:rect r="r" b="b" t="t" l="l"/>
              <a:pathLst>
                <a:path h="1656080" w="3543427">
                  <a:moveTo>
                    <a:pt x="0" y="462153"/>
                  </a:moveTo>
                  <a:cubicBezTo>
                    <a:pt x="0" y="206883"/>
                    <a:pt x="206883" y="0"/>
                    <a:pt x="462153" y="0"/>
                  </a:cubicBezTo>
                  <a:lnTo>
                    <a:pt x="3081274" y="0"/>
                  </a:lnTo>
                  <a:cubicBezTo>
                    <a:pt x="3336544" y="0"/>
                    <a:pt x="3543427" y="206883"/>
                    <a:pt x="3543427" y="462153"/>
                  </a:cubicBezTo>
                  <a:lnTo>
                    <a:pt x="3543427" y="1193927"/>
                  </a:lnTo>
                  <a:cubicBezTo>
                    <a:pt x="3543427" y="1449197"/>
                    <a:pt x="3336544" y="1656080"/>
                    <a:pt x="3081274" y="1656080"/>
                  </a:cubicBezTo>
                  <a:lnTo>
                    <a:pt x="462153" y="1656080"/>
                  </a:lnTo>
                  <a:cubicBezTo>
                    <a:pt x="206883" y="1656080"/>
                    <a:pt x="0" y="1449197"/>
                    <a:pt x="0" y="1193927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14927437" y="7506805"/>
            <a:ext cx="357454" cy="343167"/>
            <a:chOff x="0" y="0"/>
            <a:chExt cx="476606" cy="45755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76631" cy="457581"/>
            </a:xfrm>
            <a:custGeom>
              <a:avLst/>
              <a:gdLst/>
              <a:ahLst/>
              <a:cxnLst/>
              <a:rect r="r" b="b" t="t" l="l"/>
              <a:pathLst>
                <a:path h="457581" w="476631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324104" y="0"/>
                  </a:lnTo>
                  <a:cubicBezTo>
                    <a:pt x="408305" y="0"/>
                    <a:pt x="476631" y="68326"/>
                    <a:pt x="476631" y="152527"/>
                  </a:cubicBezTo>
                  <a:lnTo>
                    <a:pt x="476631" y="305054"/>
                  </a:lnTo>
                  <a:cubicBezTo>
                    <a:pt x="476631" y="389255"/>
                    <a:pt x="408305" y="457581"/>
                    <a:pt x="324104" y="457581"/>
                  </a:cubicBezTo>
                  <a:lnTo>
                    <a:pt x="152527" y="457581"/>
                  </a:lnTo>
                  <a:cubicBezTo>
                    <a:pt x="68326" y="457581"/>
                    <a:pt x="0" y="389255"/>
                    <a:pt x="0" y="305054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4927437" y="7506805"/>
            <a:ext cx="357454" cy="343168"/>
            <a:chOff x="0" y="0"/>
            <a:chExt cx="476606" cy="457557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76610" cy="457559"/>
            </a:xfrm>
            <a:custGeom>
              <a:avLst/>
              <a:gdLst/>
              <a:ahLst/>
              <a:cxnLst/>
              <a:rect r="r" b="b" t="t" l="l"/>
              <a:pathLst>
                <a:path h="457559" w="476610">
                  <a:moveTo>
                    <a:pt x="0" y="0"/>
                  </a:moveTo>
                  <a:lnTo>
                    <a:pt x="476610" y="0"/>
                  </a:lnTo>
                  <a:lnTo>
                    <a:pt x="476610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174" t="0" r="-73173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57150"/>
              <a:ext cx="476606" cy="5147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5399287" y="7535399"/>
            <a:ext cx="1344044" cy="327358"/>
            <a:chOff x="0" y="0"/>
            <a:chExt cx="1792059" cy="43647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792054" cy="436481"/>
            </a:xfrm>
            <a:custGeom>
              <a:avLst/>
              <a:gdLst/>
              <a:ahLst/>
              <a:cxnLst/>
              <a:rect r="r" b="b" t="t" l="l"/>
              <a:pathLst>
                <a:path h="436481" w="1792054">
                  <a:moveTo>
                    <a:pt x="0" y="0"/>
                  </a:moveTo>
                  <a:lnTo>
                    <a:pt x="1792054" y="0"/>
                  </a:lnTo>
                  <a:lnTo>
                    <a:pt x="1792054" y="436481"/>
                  </a:lnTo>
                  <a:lnTo>
                    <a:pt x="0" y="4364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21" r="0" b="-23677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57150"/>
              <a:ext cx="1792059" cy="493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7"/>
                </a:lnSpc>
              </a:pPr>
              <a:r>
                <a:rPr lang="en-US" sz="15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Deduplication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4927437" y="7907160"/>
            <a:ext cx="2273427" cy="329151"/>
            <a:chOff x="0" y="0"/>
            <a:chExt cx="3031236" cy="43886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031242" cy="438864"/>
            </a:xfrm>
            <a:custGeom>
              <a:avLst/>
              <a:gdLst/>
              <a:ahLst/>
              <a:cxnLst/>
              <a:rect r="r" b="b" t="t" l="l"/>
              <a:pathLst>
                <a:path h="438864" w="3031242">
                  <a:moveTo>
                    <a:pt x="0" y="0"/>
                  </a:moveTo>
                  <a:lnTo>
                    <a:pt x="3031242" y="0"/>
                  </a:lnTo>
                  <a:lnTo>
                    <a:pt x="3031242" y="438864"/>
                  </a:lnTo>
                  <a:lnTo>
                    <a:pt x="0" y="4388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29" r="0" b="-69336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3031236" cy="476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6"/>
                </a:lnSpc>
              </a:pPr>
              <a:r>
                <a:rPr lang="en-US" sz="1576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Keep highest score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15095" y="8883767"/>
            <a:ext cx="343157" cy="248793"/>
            <a:chOff x="0" y="0"/>
            <a:chExt cx="457543" cy="331724"/>
          </a:xfrm>
        </p:grpSpPr>
        <p:sp>
          <p:nvSpPr>
            <p:cNvPr name="Freeform 155" id="155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6" b="0"/>
              </a:stretch>
            </a:blip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429826" y="8807977"/>
            <a:ext cx="3374403" cy="403697"/>
            <a:chOff x="0" y="0"/>
            <a:chExt cx="4499204" cy="538263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499201" cy="538259"/>
            </a:xfrm>
            <a:custGeom>
              <a:avLst/>
              <a:gdLst/>
              <a:ahLst/>
              <a:cxnLst/>
              <a:rect r="r" b="b" t="t" l="l"/>
              <a:pathLst>
                <a:path h="538259" w="4499201">
                  <a:moveTo>
                    <a:pt x="0" y="0"/>
                  </a:moveTo>
                  <a:lnTo>
                    <a:pt x="4499201" y="0"/>
                  </a:lnTo>
                  <a:lnTo>
                    <a:pt x="4499201" y="538259"/>
                  </a:lnTo>
                  <a:lnTo>
                    <a:pt x="0" y="5382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284" r="0" b="-112459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95250"/>
              <a:ext cx="4499204" cy="63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191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Now we could assess risk...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8895" y="651539"/>
            <a:ext cx="1470822" cy="555746"/>
            <a:chOff x="0" y="0"/>
            <a:chExt cx="1961096" cy="740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1007" cy="740918"/>
            </a:xfrm>
            <a:custGeom>
              <a:avLst/>
              <a:gdLst/>
              <a:ahLst/>
              <a:cxnLst/>
              <a:rect r="r" b="b" t="t" l="l"/>
              <a:pathLst>
                <a:path h="740918" w="1961007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1590548" y="0"/>
                  </a:lnTo>
                  <a:cubicBezTo>
                    <a:pt x="1795145" y="0"/>
                    <a:pt x="1961007" y="165862"/>
                    <a:pt x="1961007" y="370459"/>
                  </a:cubicBezTo>
                  <a:cubicBezTo>
                    <a:pt x="1961007" y="575056"/>
                    <a:pt x="1795145" y="740918"/>
                    <a:pt x="1590548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58164" y="800729"/>
            <a:ext cx="972283" cy="306859"/>
            <a:chOff x="0" y="0"/>
            <a:chExt cx="1296378" cy="4091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6379" cy="409149"/>
            </a:xfrm>
            <a:custGeom>
              <a:avLst/>
              <a:gdLst/>
              <a:ahLst/>
              <a:cxnLst/>
              <a:rect r="r" b="b" t="t" l="l"/>
              <a:pathLst>
                <a:path h="409149" w="1296379">
                  <a:moveTo>
                    <a:pt x="0" y="0"/>
                  </a:moveTo>
                  <a:lnTo>
                    <a:pt x="1296379" y="0"/>
                  </a:lnTo>
                  <a:lnTo>
                    <a:pt x="1296379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42" r="0" b="-833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96378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STAGE 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5095" y="1372676"/>
            <a:ext cx="16471659" cy="1180953"/>
            <a:chOff x="0" y="0"/>
            <a:chExt cx="21962212" cy="15746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208" cy="1574604"/>
            </a:xfrm>
            <a:custGeom>
              <a:avLst/>
              <a:gdLst/>
              <a:ahLst/>
              <a:cxnLst/>
              <a:rect r="r" b="b" t="t" l="l"/>
              <a:pathLst>
                <a:path h="1574604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574604"/>
                  </a:lnTo>
                  <a:lnTo>
                    <a:pt x="0" y="1574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368" r="0" b="-2171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962212" cy="1650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89"/>
                </a:lnSpc>
              </a:pPr>
              <a:r>
                <a:rPr lang="en-US" b="true" sz="5586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THINKING LIKE A DOCTOR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5095" y="2573760"/>
            <a:ext cx="16471659" cy="493745"/>
            <a:chOff x="0" y="0"/>
            <a:chExt cx="21962212" cy="658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62208" cy="658321"/>
            </a:xfrm>
            <a:custGeom>
              <a:avLst/>
              <a:gdLst/>
              <a:ahLst/>
              <a:cxnLst/>
              <a:rect r="r" b="b" t="t" l="l"/>
              <a:pathLst>
                <a:path h="658321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703" r="0" b="-5963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962212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2"/>
                </a:lnSpc>
              </a:pPr>
              <a:r>
                <a:rPr lang="en-US" sz="23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RISK &amp; CONFIDENCE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8895" y="3311100"/>
            <a:ext cx="8105242" cy="5646068"/>
            <a:chOff x="0" y="0"/>
            <a:chExt cx="10806989" cy="75280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07065" cy="7528052"/>
            </a:xfrm>
            <a:custGeom>
              <a:avLst/>
              <a:gdLst/>
              <a:ahLst/>
              <a:cxnLst/>
              <a:rect r="r" b="b" t="t" l="l"/>
              <a:pathLst>
                <a:path h="7528052" w="10807065">
                  <a:moveTo>
                    <a:pt x="0" y="611378"/>
                  </a:moveTo>
                  <a:cubicBezTo>
                    <a:pt x="0" y="273685"/>
                    <a:pt x="273685" y="0"/>
                    <a:pt x="611378" y="0"/>
                  </a:cubicBezTo>
                  <a:lnTo>
                    <a:pt x="10195687" y="0"/>
                  </a:lnTo>
                  <a:cubicBezTo>
                    <a:pt x="10533380" y="0"/>
                    <a:pt x="10807065" y="273685"/>
                    <a:pt x="10807065" y="611378"/>
                  </a:cubicBezTo>
                  <a:lnTo>
                    <a:pt x="10807065" y="6916674"/>
                  </a:lnTo>
                  <a:cubicBezTo>
                    <a:pt x="10807065" y="7254367"/>
                    <a:pt x="10533380" y="7528052"/>
                    <a:pt x="10195687" y="7528052"/>
                  </a:cubicBezTo>
                  <a:lnTo>
                    <a:pt x="611378" y="7528052"/>
                  </a:lnTo>
                  <a:cubicBezTo>
                    <a:pt x="273685" y="7528052"/>
                    <a:pt x="0" y="7254367"/>
                    <a:pt x="0" y="6916674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15352" y="3699062"/>
            <a:ext cx="343157" cy="265957"/>
            <a:chOff x="0" y="0"/>
            <a:chExt cx="457543" cy="354609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-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9161" y="4283402"/>
            <a:ext cx="7504709" cy="1299277"/>
            <a:chOff x="0" y="0"/>
            <a:chExt cx="10006279" cy="17323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06203" cy="1732280"/>
            </a:xfrm>
            <a:custGeom>
              <a:avLst/>
              <a:gdLst/>
              <a:ahLst/>
              <a:cxnLst/>
              <a:rect r="r" b="b" t="t" l="l"/>
              <a:pathLst>
                <a:path h="1732280" w="10006203">
                  <a:moveTo>
                    <a:pt x="0" y="461899"/>
                  </a:moveTo>
                  <a:cubicBezTo>
                    <a:pt x="0" y="206883"/>
                    <a:pt x="206883" y="0"/>
                    <a:pt x="461899" y="0"/>
                  </a:cubicBezTo>
                  <a:lnTo>
                    <a:pt x="9544304" y="0"/>
                  </a:lnTo>
                  <a:cubicBezTo>
                    <a:pt x="9799448" y="0"/>
                    <a:pt x="10006203" y="206883"/>
                    <a:pt x="10006203" y="461899"/>
                  </a:cubicBezTo>
                  <a:lnTo>
                    <a:pt x="10006203" y="1270381"/>
                  </a:lnTo>
                  <a:cubicBezTo>
                    <a:pt x="10006203" y="1525524"/>
                    <a:pt x="9799320" y="1732280"/>
                    <a:pt x="9544304" y="1732280"/>
                  </a:cubicBezTo>
                  <a:lnTo>
                    <a:pt x="461899" y="1732280"/>
                  </a:lnTo>
                  <a:cubicBezTo>
                    <a:pt x="206883" y="1732407"/>
                    <a:pt x="0" y="1525524"/>
                    <a:pt x="0" y="1270381"/>
                  </a:cubicBezTo>
                  <a:close/>
                </a:path>
              </a:pathLst>
            </a:custGeom>
            <a:solidFill>
              <a:srgbClr val="EF4444">
                <a:alpha val="1176"/>
              </a:srgbClr>
            </a:solidFill>
            <a:ln w="12392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01232" y="4576420"/>
            <a:ext cx="285969" cy="227095"/>
            <a:chOff x="0" y="0"/>
            <a:chExt cx="381292" cy="302793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81254" cy="302768"/>
            </a:xfrm>
            <a:custGeom>
              <a:avLst/>
              <a:gdLst/>
              <a:ahLst/>
              <a:cxnLst/>
              <a:rect r="r" b="b" t="t" l="l"/>
              <a:pathLst>
                <a:path h="302768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02768"/>
                  </a:lnTo>
                  <a:lnTo>
                    <a:pt x="0" y="302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8" b="-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01587" y="4489780"/>
            <a:ext cx="1301144" cy="400361"/>
            <a:chOff x="0" y="0"/>
            <a:chExt cx="1734858" cy="5338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4861" cy="533811"/>
            </a:xfrm>
            <a:custGeom>
              <a:avLst/>
              <a:gdLst/>
              <a:ahLst/>
              <a:cxnLst/>
              <a:rect r="r" b="b" t="t" l="l"/>
              <a:pathLst>
                <a:path h="533811" w="1734861">
                  <a:moveTo>
                    <a:pt x="0" y="0"/>
                  </a:moveTo>
                  <a:lnTo>
                    <a:pt x="1734861" y="0"/>
                  </a:lnTo>
                  <a:lnTo>
                    <a:pt x="1734861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4" r="0" b="-133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734858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HIGH RISK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192051" y="4489780"/>
            <a:ext cx="1329738" cy="400364"/>
            <a:chOff x="0" y="0"/>
            <a:chExt cx="1772983" cy="5338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73047" cy="533908"/>
            </a:xfrm>
            <a:custGeom>
              <a:avLst/>
              <a:gdLst/>
              <a:ahLst/>
              <a:cxnLst/>
              <a:rect r="r" b="b" t="t" l="l"/>
              <a:pathLst>
                <a:path h="533908" w="1773047">
                  <a:moveTo>
                    <a:pt x="0" y="266954"/>
                  </a:moveTo>
                  <a:cubicBezTo>
                    <a:pt x="0" y="119507"/>
                    <a:pt x="119507" y="0"/>
                    <a:pt x="266954" y="0"/>
                  </a:cubicBezTo>
                  <a:lnTo>
                    <a:pt x="1506093" y="0"/>
                  </a:lnTo>
                  <a:cubicBezTo>
                    <a:pt x="1653540" y="0"/>
                    <a:pt x="1773047" y="119507"/>
                    <a:pt x="1773047" y="266954"/>
                  </a:cubicBezTo>
                  <a:cubicBezTo>
                    <a:pt x="1773047" y="414401"/>
                    <a:pt x="1653540" y="533908"/>
                    <a:pt x="1506093" y="533908"/>
                  </a:cubicBezTo>
                  <a:lnTo>
                    <a:pt x="266954" y="533908"/>
                  </a:lnTo>
                  <a:cubicBezTo>
                    <a:pt x="119507" y="533781"/>
                    <a:pt x="0" y="414274"/>
                    <a:pt x="0" y="266954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192051" y="4489780"/>
            <a:ext cx="1329738" cy="400361"/>
            <a:chOff x="0" y="0"/>
            <a:chExt cx="1772983" cy="5338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72989" cy="533811"/>
            </a:xfrm>
            <a:custGeom>
              <a:avLst/>
              <a:gdLst/>
              <a:ahLst/>
              <a:cxnLst/>
              <a:rect r="r" b="b" t="t" l="l"/>
              <a:pathLst>
                <a:path h="533811" w="1772989">
                  <a:moveTo>
                    <a:pt x="0" y="0"/>
                  </a:moveTo>
                  <a:lnTo>
                    <a:pt x="1772989" y="0"/>
                  </a:lnTo>
                  <a:lnTo>
                    <a:pt x="1772989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6" r="0" b="-1471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772983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CA5A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Score ≥60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1232" y="5004530"/>
            <a:ext cx="829304" cy="400364"/>
            <a:chOff x="0" y="0"/>
            <a:chExt cx="1105738" cy="5338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5789" cy="533781"/>
            </a:xfrm>
            <a:custGeom>
              <a:avLst/>
              <a:gdLst/>
              <a:ahLst/>
              <a:cxnLst/>
              <a:rect r="r" b="b" t="t" l="l"/>
              <a:pathLst>
                <a:path h="533781" w="1105789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953262" y="0"/>
                  </a:lnTo>
                  <a:cubicBezTo>
                    <a:pt x="1037463" y="0"/>
                    <a:pt x="1105789" y="68326"/>
                    <a:pt x="1105789" y="152527"/>
                  </a:cubicBezTo>
                  <a:lnTo>
                    <a:pt x="1105789" y="381254"/>
                  </a:lnTo>
                  <a:cubicBezTo>
                    <a:pt x="1105789" y="465455"/>
                    <a:pt x="1037463" y="533781"/>
                    <a:pt x="953262" y="533781"/>
                  </a:cubicBezTo>
                  <a:lnTo>
                    <a:pt x="152527" y="533781"/>
                  </a:lnTo>
                  <a:cubicBezTo>
                    <a:pt x="68326" y="533781"/>
                    <a:pt x="0" y="465582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01232" y="5004530"/>
            <a:ext cx="829304" cy="400361"/>
            <a:chOff x="0" y="0"/>
            <a:chExt cx="1105738" cy="53381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5736" cy="533811"/>
            </a:xfrm>
            <a:custGeom>
              <a:avLst/>
              <a:gdLst/>
              <a:ahLst/>
              <a:cxnLst/>
              <a:rect r="r" b="b" t="t" l="l"/>
              <a:pathLst>
                <a:path h="533811" w="1105736">
                  <a:moveTo>
                    <a:pt x="0" y="0"/>
                  </a:moveTo>
                  <a:lnTo>
                    <a:pt x="1105736" y="0"/>
                  </a:lnTo>
                  <a:lnTo>
                    <a:pt x="1105736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41" t="0" r="-11941" b="-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105738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sepsis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344922" y="5004530"/>
            <a:ext cx="815007" cy="400364"/>
            <a:chOff x="0" y="0"/>
            <a:chExt cx="1086676" cy="5338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6739" cy="533781"/>
            </a:xfrm>
            <a:custGeom>
              <a:avLst/>
              <a:gdLst/>
              <a:ahLst/>
              <a:cxnLst/>
              <a:rect r="r" b="b" t="t" l="l"/>
              <a:pathLst>
                <a:path h="533781" w="1086739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934212" y="0"/>
                  </a:lnTo>
                  <a:cubicBezTo>
                    <a:pt x="1018413" y="0"/>
                    <a:pt x="1086739" y="68326"/>
                    <a:pt x="1086739" y="152527"/>
                  </a:cubicBezTo>
                  <a:lnTo>
                    <a:pt x="1086739" y="381254"/>
                  </a:lnTo>
                  <a:cubicBezTo>
                    <a:pt x="1086739" y="465455"/>
                    <a:pt x="1018413" y="533781"/>
                    <a:pt x="934212" y="533781"/>
                  </a:cubicBezTo>
                  <a:lnTo>
                    <a:pt x="152527" y="533781"/>
                  </a:lnTo>
                  <a:cubicBezTo>
                    <a:pt x="68326" y="533781"/>
                    <a:pt x="0" y="465582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344922" y="5004530"/>
            <a:ext cx="815007" cy="400361"/>
            <a:chOff x="0" y="0"/>
            <a:chExt cx="1086676" cy="5338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6671" cy="533811"/>
            </a:xfrm>
            <a:custGeom>
              <a:avLst/>
              <a:gdLst/>
              <a:ahLst/>
              <a:cxnLst/>
              <a:rect r="r" b="b" t="t" l="l"/>
              <a:pathLst>
                <a:path h="533811" w="1086671">
                  <a:moveTo>
                    <a:pt x="0" y="0"/>
                  </a:moveTo>
                  <a:lnTo>
                    <a:pt x="1086671" y="0"/>
                  </a:lnTo>
                  <a:lnTo>
                    <a:pt x="1086671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7" t="0" r="-13028" b="-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086676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stroke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274314" y="5004530"/>
            <a:ext cx="886492" cy="400364"/>
            <a:chOff x="0" y="0"/>
            <a:chExt cx="1181989" cy="5338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81989" cy="533781"/>
            </a:xfrm>
            <a:custGeom>
              <a:avLst/>
              <a:gdLst/>
              <a:ahLst/>
              <a:cxnLst/>
              <a:rect r="r" b="b" t="t" l="l"/>
              <a:pathLst>
                <a:path h="533781" w="1181989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1029462" y="0"/>
                  </a:lnTo>
                  <a:cubicBezTo>
                    <a:pt x="1113663" y="0"/>
                    <a:pt x="1181989" y="68326"/>
                    <a:pt x="1181989" y="152527"/>
                  </a:cubicBezTo>
                  <a:lnTo>
                    <a:pt x="1181989" y="381254"/>
                  </a:lnTo>
                  <a:cubicBezTo>
                    <a:pt x="1181989" y="465455"/>
                    <a:pt x="1113663" y="533781"/>
                    <a:pt x="1029462" y="533781"/>
                  </a:cubicBezTo>
                  <a:lnTo>
                    <a:pt x="152527" y="533781"/>
                  </a:lnTo>
                  <a:cubicBezTo>
                    <a:pt x="68326" y="533781"/>
                    <a:pt x="0" y="465582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274314" y="5004530"/>
            <a:ext cx="886492" cy="400361"/>
            <a:chOff x="0" y="0"/>
            <a:chExt cx="1181989" cy="5338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81993" cy="533811"/>
            </a:xfrm>
            <a:custGeom>
              <a:avLst/>
              <a:gdLst/>
              <a:ahLst/>
              <a:cxnLst/>
              <a:rect r="r" b="b" t="t" l="l"/>
              <a:pathLst>
                <a:path h="533811" w="1181993">
                  <a:moveTo>
                    <a:pt x="0" y="0"/>
                  </a:moveTo>
                  <a:lnTo>
                    <a:pt x="1181993" y="0"/>
                  </a:lnTo>
                  <a:lnTo>
                    <a:pt x="1181993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5" t="0" r="-7945" b="-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181989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cancer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275191" y="5004530"/>
            <a:ext cx="2201942" cy="400364"/>
            <a:chOff x="0" y="0"/>
            <a:chExt cx="2935922" cy="5338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35986" cy="533781"/>
            </a:xfrm>
            <a:custGeom>
              <a:avLst/>
              <a:gdLst/>
              <a:ahLst/>
              <a:cxnLst/>
              <a:rect r="r" b="b" t="t" l="l"/>
              <a:pathLst>
                <a:path h="533781" w="2935986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2783459" y="0"/>
                  </a:lnTo>
                  <a:cubicBezTo>
                    <a:pt x="2867660" y="0"/>
                    <a:pt x="2935986" y="68326"/>
                    <a:pt x="2935986" y="152527"/>
                  </a:cubicBezTo>
                  <a:lnTo>
                    <a:pt x="2935986" y="381254"/>
                  </a:lnTo>
                  <a:cubicBezTo>
                    <a:pt x="2935986" y="465455"/>
                    <a:pt x="2867660" y="533781"/>
                    <a:pt x="2783459" y="533781"/>
                  </a:cubicBezTo>
                  <a:lnTo>
                    <a:pt x="152527" y="533781"/>
                  </a:lnTo>
                  <a:cubicBezTo>
                    <a:pt x="68326" y="533781"/>
                    <a:pt x="0" y="465582"/>
                    <a:pt x="0" y="381254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275191" y="5004530"/>
            <a:ext cx="2201942" cy="400361"/>
            <a:chOff x="0" y="0"/>
            <a:chExt cx="2935922" cy="53381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935920" cy="533811"/>
            </a:xfrm>
            <a:custGeom>
              <a:avLst/>
              <a:gdLst/>
              <a:ahLst/>
              <a:cxnLst/>
              <a:rect r="r" b="b" t="t" l="l"/>
              <a:pathLst>
                <a:path h="533811" w="2935920">
                  <a:moveTo>
                    <a:pt x="0" y="0"/>
                  </a:moveTo>
                  <a:lnTo>
                    <a:pt x="2935920" y="0"/>
                  </a:lnTo>
                  <a:lnTo>
                    <a:pt x="2935920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5" r="0" b="-5716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935922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CA5A5"/>
                  </a:solidFill>
                  <a:latin typeface="Inter"/>
                  <a:ea typeface="Inter"/>
                  <a:cs typeface="Inter"/>
                  <a:sym typeface="Inter"/>
                </a:rPr>
                <a:t>myocardial infarction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09161" y="5741870"/>
            <a:ext cx="7504709" cy="1299277"/>
            <a:chOff x="0" y="0"/>
            <a:chExt cx="10006279" cy="173236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06203" cy="1732280"/>
            </a:xfrm>
            <a:custGeom>
              <a:avLst/>
              <a:gdLst/>
              <a:ahLst/>
              <a:cxnLst/>
              <a:rect r="r" b="b" t="t" l="l"/>
              <a:pathLst>
                <a:path h="1732280" w="10006203">
                  <a:moveTo>
                    <a:pt x="0" y="461899"/>
                  </a:moveTo>
                  <a:cubicBezTo>
                    <a:pt x="0" y="206883"/>
                    <a:pt x="206883" y="0"/>
                    <a:pt x="461899" y="0"/>
                  </a:cubicBezTo>
                  <a:lnTo>
                    <a:pt x="9544304" y="0"/>
                  </a:lnTo>
                  <a:cubicBezTo>
                    <a:pt x="9799448" y="0"/>
                    <a:pt x="10006203" y="206883"/>
                    <a:pt x="10006203" y="461899"/>
                  </a:cubicBezTo>
                  <a:lnTo>
                    <a:pt x="10006203" y="1270381"/>
                  </a:lnTo>
                  <a:cubicBezTo>
                    <a:pt x="10006203" y="1525524"/>
                    <a:pt x="9799320" y="1732280"/>
                    <a:pt x="9544304" y="1732280"/>
                  </a:cubicBezTo>
                  <a:lnTo>
                    <a:pt x="461899" y="1732280"/>
                  </a:lnTo>
                  <a:cubicBezTo>
                    <a:pt x="206883" y="1732407"/>
                    <a:pt x="0" y="1525524"/>
                    <a:pt x="0" y="1270381"/>
                  </a:cubicBezTo>
                  <a:close/>
                </a:path>
              </a:pathLst>
            </a:custGeom>
            <a:solidFill>
              <a:srgbClr val="FB923C">
                <a:alpha val="1176"/>
              </a:srgbClr>
            </a:solidFill>
            <a:ln w="12392" cap="sq">
              <a:solidFill>
                <a:srgbClr val="FB923C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401232" y="6030678"/>
            <a:ext cx="285969" cy="235506"/>
            <a:chOff x="0" y="0"/>
            <a:chExt cx="381292" cy="314008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381254" cy="314071"/>
            </a:xfrm>
            <a:custGeom>
              <a:avLst/>
              <a:gdLst/>
              <a:ahLst/>
              <a:cxnLst/>
              <a:rect r="r" b="b" t="t" l="l"/>
              <a:pathLst>
                <a:path h="314071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14071"/>
                  </a:lnTo>
                  <a:lnTo>
                    <a:pt x="0" y="314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-8" b="2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801587" y="5948248"/>
            <a:ext cx="2101853" cy="400361"/>
            <a:chOff x="0" y="0"/>
            <a:chExt cx="2802471" cy="53381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802468" cy="533811"/>
            </a:xfrm>
            <a:custGeom>
              <a:avLst/>
              <a:gdLst/>
              <a:ahLst/>
              <a:cxnLst/>
              <a:rect r="r" b="b" t="t" l="l"/>
              <a:pathLst>
                <a:path h="533811" w="2802468">
                  <a:moveTo>
                    <a:pt x="0" y="0"/>
                  </a:moveTo>
                  <a:lnTo>
                    <a:pt x="2802468" y="0"/>
                  </a:lnTo>
                  <a:lnTo>
                    <a:pt x="2802468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4" r="0" b="-5229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2802471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MODERATE RISK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948983" y="5948248"/>
            <a:ext cx="1572816" cy="400364"/>
            <a:chOff x="0" y="0"/>
            <a:chExt cx="2097088" cy="5338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97151" cy="533908"/>
            </a:xfrm>
            <a:custGeom>
              <a:avLst/>
              <a:gdLst/>
              <a:ahLst/>
              <a:cxnLst/>
              <a:rect r="r" b="b" t="t" l="l"/>
              <a:pathLst>
                <a:path h="533908" w="2097151">
                  <a:moveTo>
                    <a:pt x="0" y="266954"/>
                  </a:moveTo>
                  <a:cubicBezTo>
                    <a:pt x="0" y="119507"/>
                    <a:pt x="119507" y="0"/>
                    <a:pt x="266954" y="0"/>
                  </a:cubicBezTo>
                  <a:lnTo>
                    <a:pt x="1830197" y="0"/>
                  </a:lnTo>
                  <a:cubicBezTo>
                    <a:pt x="1977644" y="0"/>
                    <a:pt x="2097151" y="119507"/>
                    <a:pt x="2097151" y="266954"/>
                  </a:cubicBezTo>
                  <a:cubicBezTo>
                    <a:pt x="2097151" y="414401"/>
                    <a:pt x="1977644" y="533908"/>
                    <a:pt x="1830197" y="533908"/>
                  </a:cubicBezTo>
                  <a:lnTo>
                    <a:pt x="266954" y="533908"/>
                  </a:lnTo>
                  <a:cubicBezTo>
                    <a:pt x="119507" y="533781"/>
                    <a:pt x="0" y="414274"/>
                    <a:pt x="0" y="266954"/>
                  </a:cubicBezTo>
                  <a:close/>
                </a:path>
              </a:pathLst>
            </a:custGeom>
            <a:solidFill>
              <a:srgbClr val="FB923C">
                <a:alpha val="3922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948983" y="5948248"/>
            <a:ext cx="1572816" cy="400361"/>
            <a:chOff x="0" y="0"/>
            <a:chExt cx="2097088" cy="53381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97084" cy="533811"/>
            </a:xfrm>
            <a:custGeom>
              <a:avLst/>
              <a:gdLst/>
              <a:ahLst/>
              <a:cxnLst/>
              <a:rect r="r" b="b" t="t" l="l"/>
              <a:pathLst>
                <a:path h="533811" w="2097084">
                  <a:moveTo>
                    <a:pt x="0" y="0"/>
                  </a:moveTo>
                  <a:lnTo>
                    <a:pt x="2097084" y="0"/>
                  </a:lnTo>
                  <a:lnTo>
                    <a:pt x="2097084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6" r="0" b="-2654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097088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ED7A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Score 30-59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01232" y="6462998"/>
            <a:ext cx="1043778" cy="400364"/>
            <a:chOff x="0" y="0"/>
            <a:chExt cx="1391704" cy="5338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91666" cy="533781"/>
            </a:xfrm>
            <a:custGeom>
              <a:avLst/>
              <a:gdLst/>
              <a:ahLst/>
              <a:cxnLst/>
              <a:rect r="r" b="b" t="t" l="l"/>
              <a:pathLst>
                <a:path h="533781" w="1391666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1239139" y="0"/>
                  </a:lnTo>
                  <a:cubicBezTo>
                    <a:pt x="1323340" y="0"/>
                    <a:pt x="1391666" y="68326"/>
                    <a:pt x="1391666" y="152527"/>
                  </a:cubicBezTo>
                  <a:lnTo>
                    <a:pt x="1391666" y="381254"/>
                  </a:lnTo>
                  <a:cubicBezTo>
                    <a:pt x="1391666" y="465455"/>
                    <a:pt x="1323340" y="533781"/>
                    <a:pt x="1239139" y="533781"/>
                  </a:cubicBezTo>
                  <a:lnTo>
                    <a:pt x="152527" y="533781"/>
                  </a:lnTo>
                  <a:cubicBezTo>
                    <a:pt x="68326" y="533781"/>
                    <a:pt x="0" y="465582"/>
                    <a:pt x="0" y="381254"/>
                  </a:cubicBezTo>
                  <a:close/>
                </a:path>
              </a:pathLst>
            </a:custGeom>
            <a:solidFill>
              <a:srgbClr val="FB923C">
                <a:alpha val="1961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01232" y="6462998"/>
            <a:ext cx="1043778" cy="400361"/>
            <a:chOff x="0" y="0"/>
            <a:chExt cx="1391704" cy="53381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91701" cy="533811"/>
            </a:xfrm>
            <a:custGeom>
              <a:avLst/>
              <a:gdLst/>
              <a:ahLst/>
              <a:cxnLst/>
              <a:rect r="r" b="b" t="t" l="l"/>
              <a:pathLst>
                <a:path h="533811" w="1391701">
                  <a:moveTo>
                    <a:pt x="0" y="0"/>
                  </a:moveTo>
                  <a:lnTo>
                    <a:pt x="1391701" y="0"/>
                  </a:lnTo>
                  <a:lnTo>
                    <a:pt x="1391701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8" r="0" b="-8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391704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ED7AA"/>
                  </a:solidFill>
                  <a:latin typeface="Inter"/>
                  <a:ea typeface="Inter"/>
                  <a:cs typeface="Inter"/>
                  <a:sym typeface="Inter"/>
                </a:rPr>
                <a:t>diabetes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559396" y="6462998"/>
            <a:ext cx="1472727" cy="400364"/>
            <a:chOff x="0" y="0"/>
            <a:chExt cx="1963636" cy="53381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63674" cy="533781"/>
            </a:xfrm>
            <a:custGeom>
              <a:avLst/>
              <a:gdLst/>
              <a:ahLst/>
              <a:cxnLst/>
              <a:rect r="r" b="b" t="t" l="l"/>
              <a:pathLst>
                <a:path h="533781" w="1963674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1811147" y="0"/>
                  </a:lnTo>
                  <a:cubicBezTo>
                    <a:pt x="1895348" y="0"/>
                    <a:pt x="1963674" y="68326"/>
                    <a:pt x="1963674" y="152527"/>
                  </a:cubicBezTo>
                  <a:lnTo>
                    <a:pt x="1963674" y="381254"/>
                  </a:lnTo>
                  <a:cubicBezTo>
                    <a:pt x="1963674" y="465455"/>
                    <a:pt x="1895348" y="533781"/>
                    <a:pt x="1811147" y="533781"/>
                  </a:cubicBezTo>
                  <a:lnTo>
                    <a:pt x="152527" y="533781"/>
                  </a:lnTo>
                  <a:cubicBezTo>
                    <a:pt x="68326" y="533781"/>
                    <a:pt x="0" y="465582"/>
                    <a:pt x="0" y="381254"/>
                  </a:cubicBezTo>
                  <a:close/>
                </a:path>
              </a:pathLst>
            </a:custGeom>
            <a:solidFill>
              <a:srgbClr val="FB923C">
                <a:alpha val="1961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559396" y="6462998"/>
            <a:ext cx="1472727" cy="400361"/>
            <a:chOff x="0" y="0"/>
            <a:chExt cx="1963636" cy="53381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63634" cy="533811"/>
            </a:xfrm>
            <a:custGeom>
              <a:avLst/>
              <a:gdLst/>
              <a:ahLst/>
              <a:cxnLst/>
              <a:rect r="r" b="b" t="t" l="l"/>
              <a:pathLst>
                <a:path h="533811" w="1963634">
                  <a:moveTo>
                    <a:pt x="0" y="0"/>
                  </a:moveTo>
                  <a:lnTo>
                    <a:pt x="1963634" y="0"/>
                  </a:lnTo>
                  <a:lnTo>
                    <a:pt x="1963634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75" r="0" b="-2167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963636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ED7AA"/>
                  </a:solidFill>
                  <a:latin typeface="Inter"/>
                  <a:ea typeface="Inter"/>
                  <a:cs typeface="Inter"/>
                  <a:sym typeface="Inter"/>
                </a:rPr>
                <a:t>hypertension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132212" y="6462998"/>
            <a:ext cx="1272550" cy="400364"/>
            <a:chOff x="0" y="0"/>
            <a:chExt cx="1696733" cy="53381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96720" cy="533781"/>
            </a:xfrm>
            <a:custGeom>
              <a:avLst/>
              <a:gdLst/>
              <a:ahLst/>
              <a:cxnLst/>
              <a:rect r="r" b="b" t="t" l="l"/>
              <a:pathLst>
                <a:path h="533781" w="1696720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1544193" y="0"/>
                  </a:lnTo>
                  <a:cubicBezTo>
                    <a:pt x="1628394" y="0"/>
                    <a:pt x="1696720" y="68326"/>
                    <a:pt x="1696720" y="152527"/>
                  </a:cubicBezTo>
                  <a:lnTo>
                    <a:pt x="1696720" y="381254"/>
                  </a:lnTo>
                  <a:cubicBezTo>
                    <a:pt x="1696720" y="465455"/>
                    <a:pt x="1628394" y="533781"/>
                    <a:pt x="1544193" y="533781"/>
                  </a:cubicBezTo>
                  <a:lnTo>
                    <a:pt x="152527" y="533781"/>
                  </a:lnTo>
                  <a:cubicBezTo>
                    <a:pt x="68326" y="533781"/>
                    <a:pt x="0" y="465582"/>
                    <a:pt x="0" y="381254"/>
                  </a:cubicBezTo>
                  <a:close/>
                </a:path>
              </a:pathLst>
            </a:custGeom>
            <a:solidFill>
              <a:srgbClr val="FB923C">
                <a:alpha val="1961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132212" y="6462998"/>
            <a:ext cx="1272550" cy="400361"/>
            <a:chOff x="0" y="0"/>
            <a:chExt cx="1696733" cy="53381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696732" cy="533811"/>
            </a:xfrm>
            <a:custGeom>
              <a:avLst/>
              <a:gdLst/>
              <a:ahLst/>
              <a:cxnLst/>
              <a:rect r="r" b="b" t="t" l="l"/>
              <a:pathLst>
                <a:path h="533811" w="1696732">
                  <a:moveTo>
                    <a:pt x="0" y="0"/>
                  </a:moveTo>
                  <a:lnTo>
                    <a:pt x="1696732" y="0"/>
                  </a:lnTo>
                  <a:lnTo>
                    <a:pt x="1696732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32" r="0" b="-1193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696733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ED7AA"/>
                  </a:solidFill>
                  <a:latin typeface="Inter"/>
                  <a:ea typeface="Inter"/>
                  <a:cs typeface="Inter"/>
                  <a:sym typeface="Inter"/>
                </a:rPr>
                <a:t>pneumonia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09161" y="7200338"/>
            <a:ext cx="7504709" cy="1184881"/>
            <a:chOff x="0" y="0"/>
            <a:chExt cx="10006279" cy="157984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006330" cy="1579880"/>
            </a:xfrm>
            <a:custGeom>
              <a:avLst/>
              <a:gdLst/>
              <a:ahLst/>
              <a:cxnLst/>
              <a:rect r="r" b="b" t="t" l="l"/>
              <a:pathLst>
                <a:path h="1579880" w="10006330">
                  <a:moveTo>
                    <a:pt x="0" y="462407"/>
                  </a:moveTo>
                  <a:cubicBezTo>
                    <a:pt x="0" y="207010"/>
                    <a:pt x="207010" y="0"/>
                    <a:pt x="462407" y="0"/>
                  </a:cubicBezTo>
                  <a:lnTo>
                    <a:pt x="9543923" y="0"/>
                  </a:lnTo>
                  <a:cubicBezTo>
                    <a:pt x="9799320" y="0"/>
                    <a:pt x="10006330" y="207010"/>
                    <a:pt x="10006330" y="462407"/>
                  </a:cubicBezTo>
                  <a:lnTo>
                    <a:pt x="10006330" y="1117473"/>
                  </a:lnTo>
                  <a:cubicBezTo>
                    <a:pt x="10006330" y="1372870"/>
                    <a:pt x="9799320" y="1579880"/>
                    <a:pt x="9543924" y="1579880"/>
                  </a:cubicBezTo>
                  <a:lnTo>
                    <a:pt x="462407" y="1579880"/>
                  </a:lnTo>
                  <a:cubicBezTo>
                    <a:pt x="207010" y="1579880"/>
                    <a:pt x="0" y="1372870"/>
                    <a:pt x="0" y="1117473"/>
                  </a:cubicBezTo>
                  <a:close/>
                </a:path>
              </a:pathLst>
            </a:custGeom>
            <a:solidFill>
              <a:srgbClr val="22C55E">
                <a:alpha val="1176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401232" y="7484936"/>
            <a:ext cx="285969" cy="243916"/>
            <a:chOff x="0" y="0"/>
            <a:chExt cx="381292" cy="325222"/>
          </a:xfrm>
        </p:grpSpPr>
        <p:sp>
          <p:nvSpPr>
            <p:cNvPr name="Freeform 79" id="79" descr="image.png"/>
            <p:cNvSpPr/>
            <p:nvPr/>
          </p:nvSpPr>
          <p:spPr>
            <a:xfrm flipH="false" flipV="false" rot="0">
              <a:off x="0" y="0"/>
              <a:ext cx="381254" cy="325247"/>
            </a:xfrm>
            <a:custGeom>
              <a:avLst/>
              <a:gdLst/>
              <a:ahLst/>
              <a:cxnLst/>
              <a:rect r="r" b="b" t="t" l="l"/>
              <a:pathLst>
                <a:path h="325247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8" b="7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801587" y="7406716"/>
            <a:ext cx="1258252" cy="400361"/>
            <a:chOff x="0" y="0"/>
            <a:chExt cx="1677670" cy="53381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77669" cy="533811"/>
            </a:xfrm>
            <a:custGeom>
              <a:avLst/>
              <a:gdLst/>
              <a:ahLst/>
              <a:cxnLst/>
              <a:rect r="r" b="b" t="t" l="l"/>
              <a:pathLst>
                <a:path h="533811" w="1677669">
                  <a:moveTo>
                    <a:pt x="0" y="0"/>
                  </a:moveTo>
                  <a:lnTo>
                    <a:pt x="1677669" y="0"/>
                  </a:lnTo>
                  <a:lnTo>
                    <a:pt x="1677669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" r="0" b="-1123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85725"/>
              <a:ext cx="1677670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LOW RISK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163457" y="7406716"/>
            <a:ext cx="1358341" cy="400364"/>
            <a:chOff x="0" y="0"/>
            <a:chExt cx="1811122" cy="53381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811147" cy="533908"/>
            </a:xfrm>
            <a:custGeom>
              <a:avLst/>
              <a:gdLst/>
              <a:ahLst/>
              <a:cxnLst/>
              <a:rect r="r" b="b" t="t" l="l"/>
              <a:pathLst>
                <a:path h="533908" w="1811147">
                  <a:moveTo>
                    <a:pt x="0" y="266954"/>
                  </a:moveTo>
                  <a:cubicBezTo>
                    <a:pt x="0" y="119507"/>
                    <a:pt x="119507" y="0"/>
                    <a:pt x="266954" y="0"/>
                  </a:cubicBezTo>
                  <a:lnTo>
                    <a:pt x="1544193" y="0"/>
                  </a:lnTo>
                  <a:cubicBezTo>
                    <a:pt x="1691640" y="0"/>
                    <a:pt x="1811147" y="119507"/>
                    <a:pt x="1811147" y="266954"/>
                  </a:cubicBezTo>
                  <a:cubicBezTo>
                    <a:pt x="1811147" y="414401"/>
                    <a:pt x="1691640" y="533908"/>
                    <a:pt x="1544193" y="533908"/>
                  </a:cubicBezTo>
                  <a:lnTo>
                    <a:pt x="266954" y="533908"/>
                  </a:lnTo>
                  <a:cubicBezTo>
                    <a:pt x="119507" y="533781"/>
                    <a:pt x="0" y="414274"/>
                    <a:pt x="0" y="266954"/>
                  </a:cubicBez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163457" y="7406716"/>
            <a:ext cx="1358341" cy="400361"/>
            <a:chOff x="0" y="0"/>
            <a:chExt cx="1811122" cy="53381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811119" cy="533811"/>
            </a:xfrm>
            <a:custGeom>
              <a:avLst/>
              <a:gdLst/>
              <a:ahLst/>
              <a:cxnLst/>
              <a:rect r="r" b="b" t="t" l="l"/>
              <a:pathLst>
                <a:path h="533811" w="1811119">
                  <a:moveTo>
                    <a:pt x="0" y="0"/>
                  </a:moveTo>
                  <a:lnTo>
                    <a:pt x="1811119" y="0"/>
                  </a:lnTo>
                  <a:lnTo>
                    <a:pt x="1811119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" r="0" b="-1610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1811122" cy="581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Score &lt;30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01232" y="7921466"/>
            <a:ext cx="7120557" cy="306859"/>
            <a:chOff x="0" y="0"/>
            <a:chExt cx="9494076" cy="40914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494079" cy="409149"/>
            </a:xfrm>
            <a:custGeom>
              <a:avLst/>
              <a:gdLst/>
              <a:ahLst/>
              <a:cxnLst/>
              <a:rect r="r" b="b" t="t" l="l"/>
              <a:pathLst>
                <a:path h="409149" w="9494079">
                  <a:moveTo>
                    <a:pt x="0" y="0"/>
                  </a:moveTo>
                  <a:lnTo>
                    <a:pt x="9494079" y="0"/>
                  </a:lnTo>
                  <a:lnTo>
                    <a:pt x="9494079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5543" r="0" b="-39873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9494076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Stable condition, routine follow-up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287704" y="3311100"/>
            <a:ext cx="8105242" cy="5646068"/>
            <a:chOff x="0" y="0"/>
            <a:chExt cx="10806989" cy="752809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807065" cy="7528052"/>
            </a:xfrm>
            <a:custGeom>
              <a:avLst/>
              <a:gdLst/>
              <a:ahLst/>
              <a:cxnLst/>
              <a:rect r="r" b="b" t="t" l="l"/>
              <a:pathLst>
                <a:path h="7528052" w="10807065">
                  <a:moveTo>
                    <a:pt x="0" y="611378"/>
                  </a:moveTo>
                  <a:cubicBezTo>
                    <a:pt x="0" y="273685"/>
                    <a:pt x="273685" y="0"/>
                    <a:pt x="611378" y="0"/>
                  </a:cubicBezTo>
                  <a:lnTo>
                    <a:pt x="10195687" y="0"/>
                  </a:lnTo>
                  <a:cubicBezTo>
                    <a:pt x="10533380" y="0"/>
                    <a:pt x="10807065" y="273685"/>
                    <a:pt x="10807065" y="611378"/>
                  </a:cubicBezTo>
                  <a:lnTo>
                    <a:pt x="10807065" y="6916674"/>
                  </a:lnTo>
                  <a:cubicBezTo>
                    <a:pt x="10807065" y="7254367"/>
                    <a:pt x="10533380" y="7528052"/>
                    <a:pt x="10195687" y="7528052"/>
                  </a:cubicBezTo>
                  <a:lnTo>
                    <a:pt x="611378" y="7528052"/>
                  </a:lnTo>
                  <a:cubicBezTo>
                    <a:pt x="273685" y="7528052"/>
                    <a:pt x="0" y="7254367"/>
                    <a:pt x="0" y="6916674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9594171" y="3677612"/>
            <a:ext cx="343157" cy="308848"/>
            <a:chOff x="0" y="0"/>
            <a:chExt cx="457543" cy="411797"/>
          </a:xfrm>
        </p:grpSpPr>
        <p:sp>
          <p:nvSpPr>
            <p:cNvPr name="Freeform 94" id="94" descr="image.png"/>
            <p:cNvSpPr/>
            <p:nvPr/>
          </p:nvSpPr>
          <p:spPr>
            <a:xfrm flipH="false" flipV="false" rot="0">
              <a:off x="0" y="0"/>
              <a:ext cx="457581" cy="411861"/>
            </a:xfrm>
            <a:custGeom>
              <a:avLst/>
              <a:gdLst/>
              <a:ahLst/>
              <a:cxnLst/>
              <a:rect r="r" b="b" t="t" l="l"/>
              <a:pathLst>
                <a:path h="41186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11861"/>
                  </a:lnTo>
                  <a:lnTo>
                    <a:pt x="0" y="411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6" b="15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587970" y="4283402"/>
            <a:ext cx="7504709" cy="1699631"/>
            <a:chOff x="0" y="0"/>
            <a:chExt cx="10006279" cy="22661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006202" cy="2266188"/>
            </a:xfrm>
            <a:custGeom>
              <a:avLst/>
              <a:gdLst/>
              <a:ahLst/>
              <a:cxnLst/>
              <a:rect r="r" b="b" t="t" l="l"/>
              <a:pathLst>
                <a:path h="2266188" w="10006202">
                  <a:moveTo>
                    <a:pt x="0" y="460883"/>
                  </a:moveTo>
                  <a:cubicBezTo>
                    <a:pt x="0" y="206375"/>
                    <a:pt x="206375" y="0"/>
                    <a:pt x="460883" y="0"/>
                  </a:cubicBezTo>
                  <a:lnTo>
                    <a:pt x="9545320" y="0"/>
                  </a:lnTo>
                  <a:cubicBezTo>
                    <a:pt x="9799827" y="0"/>
                    <a:pt x="10006202" y="206375"/>
                    <a:pt x="10006202" y="460883"/>
                  </a:cubicBezTo>
                  <a:lnTo>
                    <a:pt x="10006202" y="1805305"/>
                  </a:lnTo>
                  <a:cubicBezTo>
                    <a:pt x="10006202" y="2059813"/>
                    <a:pt x="9799827" y="2266188"/>
                    <a:pt x="9545320" y="2266188"/>
                  </a:cubicBezTo>
                  <a:lnTo>
                    <a:pt x="460883" y="2266188"/>
                  </a:lnTo>
                  <a:cubicBezTo>
                    <a:pt x="206375" y="2266188"/>
                    <a:pt x="0" y="2059813"/>
                    <a:pt x="0" y="1805305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9837239" y="4546978"/>
            <a:ext cx="7006171" cy="306859"/>
            <a:chOff x="0" y="0"/>
            <a:chExt cx="9341561" cy="40914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341564" cy="409149"/>
            </a:xfrm>
            <a:custGeom>
              <a:avLst/>
              <a:gdLst/>
              <a:ahLst/>
              <a:cxnLst/>
              <a:rect r="r" b="b" t="t" l="l"/>
              <a:pathLst>
                <a:path h="409149" w="9341564">
                  <a:moveTo>
                    <a:pt x="0" y="0"/>
                  </a:moveTo>
                  <a:lnTo>
                    <a:pt x="9341564" y="0"/>
                  </a:lnTo>
                  <a:lnTo>
                    <a:pt x="9341564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280" r="0" b="-39147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341561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Composite Metric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837239" y="4947342"/>
            <a:ext cx="1958864" cy="609602"/>
            <a:chOff x="0" y="0"/>
            <a:chExt cx="2611818" cy="81280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611824" cy="812805"/>
            </a:xfrm>
            <a:custGeom>
              <a:avLst/>
              <a:gdLst/>
              <a:ahLst/>
              <a:cxnLst/>
              <a:rect r="r" b="b" t="t" l="l"/>
              <a:pathLst>
                <a:path h="812805" w="2611824">
                  <a:moveTo>
                    <a:pt x="0" y="0"/>
                  </a:moveTo>
                  <a:lnTo>
                    <a:pt x="2611824" y="0"/>
                  </a:lnTo>
                  <a:lnTo>
                    <a:pt x="2611824" y="812805"/>
                  </a:lnTo>
                  <a:lnTo>
                    <a:pt x="0" y="812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91" r="0" b="-4832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2611818" cy="841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3"/>
                </a:lnSpc>
              </a:pPr>
              <a:r>
                <a:rPr lang="en-US" sz="2893" b="true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50%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837239" y="5462092"/>
            <a:ext cx="1958864" cy="306859"/>
            <a:chOff x="0" y="0"/>
            <a:chExt cx="2611818" cy="40914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611824" cy="409149"/>
            </a:xfrm>
            <a:custGeom>
              <a:avLst/>
              <a:gdLst/>
              <a:ahLst/>
              <a:cxnLst/>
              <a:rect r="r" b="b" t="t" l="l"/>
              <a:pathLst>
                <a:path h="409149" w="2611824">
                  <a:moveTo>
                    <a:pt x="0" y="0"/>
                  </a:moveTo>
                  <a:lnTo>
                    <a:pt x="2611824" y="0"/>
                  </a:lnTo>
                  <a:lnTo>
                    <a:pt x="2611824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87" r="0" b="-70979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2611818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Entity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1967686" y="5118925"/>
            <a:ext cx="228771" cy="493745"/>
            <a:chOff x="0" y="0"/>
            <a:chExt cx="305029" cy="65832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05030" cy="658321"/>
            </a:xfrm>
            <a:custGeom>
              <a:avLst/>
              <a:gdLst/>
              <a:ahLst/>
              <a:cxnLst/>
              <a:rect r="r" b="b" t="t" l="l"/>
              <a:pathLst>
                <a:path h="658321" w="305030">
                  <a:moveTo>
                    <a:pt x="0" y="0"/>
                  </a:moveTo>
                  <a:lnTo>
                    <a:pt x="305030" y="0"/>
                  </a:lnTo>
                  <a:lnTo>
                    <a:pt x="305030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16" t="0" r="-206616" b="732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66675"/>
              <a:ext cx="305029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2"/>
                </a:lnSpc>
              </a:pPr>
              <a:r>
                <a:rPr lang="en-US" sz="2354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+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368041" y="4947342"/>
            <a:ext cx="1958864" cy="609602"/>
            <a:chOff x="0" y="0"/>
            <a:chExt cx="2611818" cy="81280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611824" cy="812805"/>
            </a:xfrm>
            <a:custGeom>
              <a:avLst/>
              <a:gdLst/>
              <a:ahLst/>
              <a:cxnLst/>
              <a:rect r="r" b="b" t="t" l="l"/>
              <a:pathLst>
                <a:path h="812805" w="2611824">
                  <a:moveTo>
                    <a:pt x="0" y="0"/>
                  </a:moveTo>
                  <a:lnTo>
                    <a:pt x="2611824" y="0"/>
                  </a:lnTo>
                  <a:lnTo>
                    <a:pt x="2611824" y="812805"/>
                  </a:lnTo>
                  <a:lnTo>
                    <a:pt x="0" y="812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91" r="0" b="-483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2611818" cy="841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3"/>
                </a:lnSpc>
              </a:pPr>
              <a:r>
                <a:rPr lang="en-US" sz="2893" b="true">
                  <a:solidFill>
                    <a:srgbClr val="A78B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40%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368041" y="5462092"/>
            <a:ext cx="1958864" cy="306859"/>
            <a:chOff x="0" y="0"/>
            <a:chExt cx="2611818" cy="40914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611824" cy="409149"/>
            </a:xfrm>
            <a:custGeom>
              <a:avLst/>
              <a:gdLst/>
              <a:ahLst/>
              <a:cxnLst/>
              <a:rect r="r" b="b" t="t" l="l"/>
              <a:pathLst>
                <a:path h="409149" w="2611824">
                  <a:moveTo>
                    <a:pt x="0" y="0"/>
                  </a:moveTo>
                  <a:lnTo>
                    <a:pt x="2611824" y="0"/>
                  </a:lnTo>
                  <a:lnTo>
                    <a:pt x="2611824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87" r="0" b="-70979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2611818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BART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4484191" y="5118925"/>
            <a:ext cx="228771" cy="493745"/>
            <a:chOff x="0" y="0"/>
            <a:chExt cx="305029" cy="658327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05030" cy="658321"/>
            </a:xfrm>
            <a:custGeom>
              <a:avLst/>
              <a:gdLst/>
              <a:ahLst/>
              <a:cxnLst/>
              <a:rect r="r" b="b" t="t" l="l"/>
              <a:pathLst>
                <a:path h="658321" w="305030">
                  <a:moveTo>
                    <a:pt x="0" y="0"/>
                  </a:moveTo>
                  <a:lnTo>
                    <a:pt x="305030" y="0"/>
                  </a:lnTo>
                  <a:lnTo>
                    <a:pt x="305030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16" t="0" r="-206616" b="732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66675"/>
              <a:ext cx="305029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2"/>
                </a:lnSpc>
              </a:pPr>
              <a:r>
                <a:rPr lang="en-US" sz="2354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+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4884546" y="4947342"/>
            <a:ext cx="1958864" cy="609602"/>
            <a:chOff x="0" y="0"/>
            <a:chExt cx="2611818" cy="81280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611824" cy="812805"/>
            </a:xfrm>
            <a:custGeom>
              <a:avLst/>
              <a:gdLst/>
              <a:ahLst/>
              <a:cxnLst/>
              <a:rect r="r" b="b" t="t" l="l"/>
              <a:pathLst>
                <a:path h="812805" w="2611824">
                  <a:moveTo>
                    <a:pt x="0" y="0"/>
                  </a:moveTo>
                  <a:lnTo>
                    <a:pt x="2611824" y="0"/>
                  </a:lnTo>
                  <a:lnTo>
                    <a:pt x="2611824" y="812805"/>
                  </a:lnTo>
                  <a:lnTo>
                    <a:pt x="0" y="8128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91" r="0" b="-4832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2611818" cy="841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3"/>
                </a:lnSpc>
              </a:pPr>
              <a:r>
                <a:rPr lang="en-US" sz="2893" b="true">
                  <a:solidFill>
                    <a:srgbClr val="C4B5F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4884546" y="5462092"/>
            <a:ext cx="1958864" cy="306859"/>
            <a:chOff x="0" y="0"/>
            <a:chExt cx="2611818" cy="40914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611824" cy="409149"/>
            </a:xfrm>
            <a:custGeom>
              <a:avLst/>
              <a:gdLst/>
              <a:ahLst/>
              <a:cxnLst/>
              <a:rect r="r" b="b" t="t" l="l"/>
              <a:pathLst>
                <a:path h="409149" w="2611824">
                  <a:moveTo>
                    <a:pt x="0" y="0"/>
                  </a:moveTo>
                  <a:lnTo>
                    <a:pt x="2611824" y="0"/>
                  </a:lnTo>
                  <a:lnTo>
                    <a:pt x="2611824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87" r="0" b="-7097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2611818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LSTM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587970" y="6199422"/>
            <a:ext cx="7504709" cy="2443162"/>
            <a:chOff x="0" y="0"/>
            <a:chExt cx="10006279" cy="325755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0006330" cy="3257550"/>
            </a:xfrm>
            <a:custGeom>
              <a:avLst/>
              <a:gdLst/>
              <a:ahLst/>
              <a:cxnLst/>
              <a:rect r="r" b="b" t="t" l="l"/>
              <a:pathLst>
                <a:path h="3257550" w="10006330">
                  <a:moveTo>
                    <a:pt x="0" y="459867"/>
                  </a:moveTo>
                  <a:cubicBezTo>
                    <a:pt x="0" y="205867"/>
                    <a:pt x="205867" y="0"/>
                    <a:pt x="459867" y="0"/>
                  </a:cubicBezTo>
                  <a:lnTo>
                    <a:pt x="9546463" y="0"/>
                  </a:lnTo>
                  <a:cubicBezTo>
                    <a:pt x="9800463" y="0"/>
                    <a:pt x="10006330" y="205867"/>
                    <a:pt x="10006330" y="459867"/>
                  </a:cubicBezTo>
                  <a:lnTo>
                    <a:pt x="10006330" y="2797683"/>
                  </a:lnTo>
                  <a:cubicBezTo>
                    <a:pt x="10006330" y="3051683"/>
                    <a:pt x="9800463" y="3257550"/>
                    <a:pt x="9546463" y="3257550"/>
                  </a:cubicBezTo>
                  <a:lnTo>
                    <a:pt x="459867" y="3257550"/>
                  </a:lnTo>
                  <a:cubicBezTo>
                    <a:pt x="205867" y="3257550"/>
                    <a:pt x="0" y="3051683"/>
                    <a:pt x="0" y="2797683"/>
                  </a:cubicBezTo>
                  <a:close/>
                </a:path>
              </a:pathLst>
            </a:custGeom>
            <a:solidFill>
              <a:srgbClr val="38BDF8">
                <a:alpha val="392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9837239" y="6462998"/>
            <a:ext cx="7006171" cy="306859"/>
            <a:chOff x="0" y="0"/>
            <a:chExt cx="9341561" cy="40914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9341564" cy="409149"/>
            </a:xfrm>
            <a:custGeom>
              <a:avLst/>
              <a:gdLst/>
              <a:ahLst/>
              <a:cxnLst/>
              <a:rect r="r" b="b" t="t" l="l"/>
              <a:pathLst>
                <a:path h="409149" w="9341564">
                  <a:moveTo>
                    <a:pt x="0" y="0"/>
                  </a:moveTo>
                  <a:lnTo>
                    <a:pt x="9341564" y="0"/>
                  </a:lnTo>
                  <a:lnTo>
                    <a:pt x="9341564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280" r="0" b="-391472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47625"/>
              <a:ext cx="9341561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Example Analysis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837239" y="6863363"/>
            <a:ext cx="4046420" cy="343168"/>
            <a:chOff x="0" y="0"/>
            <a:chExt cx="5395227" cy="45755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395229" cy="457559"/>
            </a:xfrm>
            <a:custGeom>
              <a:avLst/>
              <a:gdLst/>
              <a:ahLst/>
              <a:cxnLst/>
              <a:rect r="r" b="b" t="t" l="l"/>
              <a:pathLst>
                <a:path h="457559" w="5395229">
                  <a:moveTo>
                    <a:pt x="0" y="0"/>
                  </a:moveTo>
                  <a:lnTo>
                    <a:pt x="5395229" y="0"/>
                  </a:lnTo>
                  <a:lnTo>
                    <a:pt x="5395229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754" r="0" b="-179753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76200"/>
              <a:ext cx="5395227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Patient with diabetes + hypertension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837239" y="7320915"/>
            <a:ext cx="3417294" cy="1086698"/>
            <a:chOff x="0" y="0"/>
            <a:chExt cx="4556392" cy="144893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4556379" cy="1448943"/>
            </a:xfrm>
            <a:custGeom>
              <a:avLst/>
              <a:gdLst/>
              <a:ahLst/>
              <a:cxnLst/>
              <a:rect r="r" b="b" t="t" l="l"/>
              <a:pathLst>
                <a:path h="1448943" w="455637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4251325" y="0"/>
                  </a:lnTo>
                  <a:cubicBezTo>
                    <a:pt x="4419727" y="0"/>
                    <a:pt x="4556379" y="136525"/>
                    <a:pt x="4556379" y="305054"/>
                  </a:cubicBezTo>
                  <a:lnTo>
                    <a:pt x="4556379" y="1143889"/>
                  </a:lnTo>
                  <a:cubicBezTo>
                    <a:pt x="4556379" y="1312291"/>
                    <a:pt x="4419854" y="1448943"/>
                    <a:pt x="4251325" y="1448943"/>
                  </a:cubicBezTo>
                  <a:lnTo>
                    <a:pt x="305054" y="1448943"/>
                  </a:lnTo>
                  <a:cubicBezTo>
                    <a:pt x="136525" y="1448943"/>
                    <a:pt x="0" y="1312418"/>
                    <a:pt x="0" y="11438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0008822" y="7492508"/>
            <a:ext cx="3074137" cy="263742"/>
            <a:chOff x="0" y="0"/>
            <a:chExt cx="4098849" cy="351655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098848" cy="351652"/>
            </a:xfrm>
            <a:custGeom>
              <a:avLst/>
              <a:gdLst/>
              <a:ahLst/>
              <a:cxnLst/>
              <a:rect r="r" b="b" t="t" l="l"/>
              <a:pathLst>
                <a:path h="351652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744" r="0" b="-170489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4098849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1"/>
                </a:lnSpc>
              </a:pPr>
              <a:r>
                <a:rPr lang="en-US" sz="12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Risk Level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008822" y="7778477"/>
            <a:ext cx="3074137" cy="493745"/>
            <a:chOff x="0" y="0"/>
            <a:chExt cx="4098849" cy="65832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098848" cy="658321"/>
            </a:xfrm>
            <a:custGeom>
              <a:avLst/>
              <a:gdLst/>
              <a:ahLst/>
              <a:cxnLst/>
              <a:rect r="r" b="b" t="t" l="l"/>
              <a:pathLst>
                <a:path h="658321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81" r="0" b="-67654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66675"/>
              <a:ext cx="4098849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2"/>
                </a:lnSpc>
              </a:pPr>
              <a:r>
                <a:rPr lang="en-US" sz="2354" b="true">
                  <a:solidFill>
                    <a:srgbClr val="F8717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HIGH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426116" y="7320915"/>
            <a:ext cx="3417294" cy="1086698"/>
            <a:chOff x="0" y="0"/>
            <a:chExt cx="4556392" cy="144893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556379" cy="1448943"/>
            </a:xfrm>
            <a:custGeom>
              <a:avLst/>
              <a:gdLst/>
              <a:ahLst/>
              <a:cxnLst/>
              <a:rect r="r" b="b" t="t" l="l"/>
              <a:pathLst>
                <a:path h="1448943" w="4556379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4251325" y="0"/>
                  </a:lnTo>
                  <a:cubicBezTo>
                    <a:pt x="4419727" y="0"/>
                    <a:pt x="4556379" y="136525"/>
                    <a:pt x="4556379" y="305054"/>
                  </a:cubicBezTo>
                  <a:lnTo>
                    <a:pt x="4556379" y="1143889"/>
                  </a:lnTo>
                  <a:cubicBezTo>
                    <a:pt x="4556379" y="1312291"/>
                    <a:pt x="4419854" y="1448943"/>
                    <a:pt x="4251325" y="1448943"/>
                  </a:cubicBezTo>
                  <a:lnTo>
                    <a:pt x="305054" y="1448943"/>
                  </a:lnTo>
                  <a:cubicBezTo>
                    <a:pt x="136525" y="1448943"/>
                    <a:pt x="0" y="1312418"/>
                    <a:pt x="0" y="1143889"/>
                  </a:cubicBezTo>
                  <a:close/>
                </a:path>
              </a:pathLst>
            </a:custGeom>
            <a:solidFill>
              <a:srgbClr val="38BDF8">
                <a:alpha val="1961"/>
              </a:srgbClr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3597700" y="7492508"/>
            <a:ext cx="3074137" cy="263742"/>
            <a:chOff x="0" y="0"/>
            <a:chExt cx="4098849" cy="351655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098848" cy="351652"/>
            </a:xfrm>
            <a:custGeom>
              <a:avLst/>
              <a:gdLst/>
              <a:ahLst/>
              <a:cxnLst/>
              <a:rect r="r" b="b" t="t" l="l"/>
              <a:pathLst>
                <a:path h="351652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744" r="0" b="-170489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28575"/>
              <a:ext cx="4098849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1"/>
                </a:lnSpc>
              </a:pPr>
              <a:r>
                <a:rPr lang="en-US" sz="12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Confidence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3597700" y="7778477"/>
            <a:ext cx="3074137" cy="493745"/>
            <a:chOff x="0" y="0"/>
            <a:chExt cx="4098849" cy="658327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098848" cy="658321"/>
            </a:xfrm>
            <a:custGeom>
              <a:avLst/>
              <a:gdLst/>
              <a:ahLst/>
              <a:cxnLst/>
              <a:rect r="r" b="b" t="t" l="l"/>
              <a:pathLst>
                <a:path h="658321" w="4098848">
                  <a:moveTo>
                    <a:pt x="0" y="0"/>
                  </a:moveTo>
                  <a:lnTo>
                    <a:pt x="4098848" y="0"/>
                  </a:lnTo>
                  <a:lnTo>
                    <a:pt x="4098848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81" r="0" b="-67654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66675"/>
              <a:ext cx="4098849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2"/>
                </a:lnSpc>
              </a:pPr>
              <a:r>
                <a:rPr lang="en-US" sz="2354" b="true">
                  <a:solidFill>
                    <a:srgbClr val="38BDF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76.3%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15095" y="9284122"/>
            <a:ext cx="343157" cy="248793"/>
            <a:chOff x="0" y="0"/>
            <a:chExt cx="457543" cy="331724"/>
          </a:xfrm>
        </p:grpSpPr>
        <p:sp>
          <p:nvSpPr>
            <p:cNvPr name="Freeform 149" id="149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6" b="0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429826" y="9208341"/>
            <a:ext cx="4818526" cy="400361"/>
            <a:chOff x="0" y="0"/>
            <a:chExt cx="6424701" cy="53381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424707" cy="533811"/>
            </a:xfrm>
            <a:custGeom>
              <a:avLst/>
              <a:gdLst/>
              <a:ahLst/>
              <a:cxnLst/>
              <a:rect r="r" b="b" t="t" l="l"/>
              <a:pathLst>
                <a:path h="533811" w="6424707">
                  <a:moveTo>
                    <a:pt x="0" y="0"/>
                  </a:moveTo>
                  <a:lnTo>
                    <a:pt x="6424707" y="0"/>
                  </a:lnTo>
                  <a:lnTo>
                    <a:pt x="6424707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512" r="0" b="-184513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85725"/>
              <a:ext cx="6424701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Now we needed to make it accessible...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adFill rotWithShape="true">
              <a:gsLst>
                <a:gs pos="0">
                  <a:srgbClr val="38BDF8">
                    <a:alpha val="15000"/>
                  </a:srgbClr>
                </a:gs>
                <a:gs pos="50000">
                  <a:srgbClr val="0F172A">
                    <a:alpha val="92000"/>
                  </a:srgbClr>
                </a:gs>
                <a:gs pos="100000">
                  <a:srgbClr val="3B82F6">
                    <a:alpha val="15000"/>
                  </a:srgbClr>
                </a:gs>
              </a:gsLst>
              <a:lin ang="81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8895" y="1109101"/>
            <a:ext cx="2085651" cy="555746"/>
            <a:chOff x="0" y="0"/>
            <a:chExt cx="2780868" cy="740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80792" cy="741045"/>
            </a:xfrm>
            <a:custGeom>
              <a:avLst/>
              <a:gdLst/>
              <a:ahLst/>
              <a:cxnLst/>
              <a:rect r="r" b="b" t="t" l="l"/>
              <a:pathLst>
                <a:path h="741045" w="2780792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2410333" y="0"/>
                  </a:lnTo>
                  <a:cubicBezTo>
                    <a:pt x="2614930" y="0"/>
                    <a:pt x="2780792" y="165862"/>
                    <a:pt x="2780792" y="370459"/>
                  </a:cubicBezTo>
                  <a:cubicBezTo>
                    <a:pt x="2780792" y="575056"/>
                    <a:pt x="2614930" y="741045"/>
                    <a:pt x="2410333" y="741045"/>
                  </a:cubicBezTo>
                  <a:lnTo>
                    <a:pt x="370459" y="741045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38BDF8">
                <a:alpha val="1961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58164" y="1258281"/>
            <a:ext cx="1587113" cy="306859"/>
            <a:chOff x="0" y="0"/>
            <a:chExt cx="2116150" cy="4091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6149" cy="409149"/>
            </a:xfrm>
            <a:custGeom>
              <a:avLst/>
              <a:gdLst/>
              <a:ahLst/>
              <a:cxnLst/>
              <a:rect r="r" b="b" t="t" l="l"/>
              <a:pathLst>
                <a:path h="409149" w="2116149">
                  <a:moveTo>
                    <a:pt x="0" y="0"/>
                  </a:moveTo>
                  <a:lnTo>
                    <a:pt x="2116149" y="0"/>
                  </a:lnTo>
                  <a:lnTo>
                    <a:pt x="2116149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82" r="0" b="-4737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16150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DEPLOYMENT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5095" y="1830229"/>
            <a:ext cx="16471659" cy="1180953"/>
            <a:chOff x="0" y="0"/>
            <a:chExt cx="21962212" cy="1574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208" cy="1574604"/>
            </a:xfrm>
            <a:custGeom>
              <a:avLst/>
              <a:gdLst/>
              <a:ahLst/>
              <a:cxnLst/>
              <a:rect r="r" b="b" t="t" l="l"/>
              <a:pathLst>
                <a:path h="1574604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574604"/>
                  </a:lnTo>
                  <a:lnTo>
                    <a:pt x="0" y="1574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368" r="0" b="-2171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1962212" cy="1650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89"/>
                </a:lnSpc>
              </a:pPr>
              <a:r>
                <a:rPr lang="en-US" b="true" sz="5586">
                  <a:solidFill>
                    <a:srgbClr val="0EA5E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MAKING IT ACCESSIBLE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5095" y="3031312"/>
            <a:ext cx="16471659" cy="493745"/>
            <a:chOff x="0" y="0"/>
            <a:chExt cx="21962212" cy="6583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62208" cy="658321"/>
            </a:xfrm>
            <a:custGeom>
              <a:avLst/>
              <a:gdLst/>
              <a:ahLst/>
              <a:cxnLst/>
              <a:rect r="r" b="b" t="t" l="l"/>
              <a:pathLst>
                <a:path h="658321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703" r="0" b="-5963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1962212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2"/>
                </a:lnSpc>
              </a:pPr>
              <a:r>
                <a:rPr lang="en-US" sz="23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API &amp; USER INTERFACE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8895" y="3768652"/>
            <a:ext cx="8105242" cy="4673756"/>
            <a:chOff x="0" y="0"/>
            <a:chExt cx="10806989" cy="62316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06938" cy="6231636"/>
            </a:xfrm>
            <a:custGeom>
              <a:avLst/>
              <a:gdLst/>
              <a:ahLst/>
              <a:cxnLst/>
              <a:rect r="r" b="b" t="t" l="l"/>
              <a:pathLst>
                <a:path h="6231636" w="10806938">
                  <a:moveTo>
                    <a:pt x="0" y="611632"/>
                  </a:moveTo>
                  <a:cubicBezTo>
                    <a:pt x="0" y="273812"/>
                    <a:pt x="273812" y="0"/>
                    <a:pt x="611632" y="0"/>
                  </a:cubicBezTo>
                  <a:lnTo>
                    <a:pt x="10195306" y="0"/>
                  </a:lnTo>
                  <a:cubicBezTo>
                    <a:pt x="10533126" y="0"/>
                    <a:pt x="10806938" y="273812"/>
                    <a:pt x="10806938" y="611632"/>
                  </a:cubicBezTo>
                  <a:lnTo>
                    <a:pt x="10806938" y="5620004"/>
                  </a:lnTo>
                  <a:cubicBezTo>
                    <a:pt x="10806938" y="5957824"/>
                    <a:pt x="10533126" y="6231636"/>
                    <a:pt x="10195306" y="6231636"/>
                  </a:cubicBezTo>
                  <a:lnTo>
                    <a:pt x="611632" y="6231636"/>
                  </a:lnTo>
                  <a:cubicBezTo>
                    <a:pt x="273812" y="6231636"/>
                    <a:pt x="0" y="5957824"/>
                    <a:pt x="0" y="5620004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15352" y="4126592"/>
            <a:ext cx="343157" cy="326012"/>
            <a:chOff x="0" y="0"/>
            <a:chExt cx="457543" cy="434683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57581" cy="434721"/>
            </a:xfrm>
            <a:custGeom>
              <a:avLst/>
              <a:gdLst/>
              <a:ahLst/>
              <a:cxnLst/>
              <a:rect r="r" b="b" t="t" l="l"/>
              <a:pathLst>
                <a:path h="43472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434721"/>
                  </a:lnTo>
                  <a:lnTo>
                    <a:pt x="0" y="434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6" b="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9161" y="4740964"/>
            <a:ext cx="3672764" cy="1699631"/>
            <a:chOff x="0" y="0"/>
            <a:chExt cx="4897018" cy="22661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96993" cy="2266061"/>
            </a:xfrm>
            <a:custGeom>
              <a:avLst/>
              <a:gdLst/>
              <a:ahLst/>
              <a:cxnLst/>
              <a:rect r="r" b="b" t="t" l="l"/>
              <a:pathLst>
                <a:path h="2266061" w="4896993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4589780" y="0"/>
                  </a:lnTo>
                  <a:cubicBezTo>
                    <a:pt x="4759452" y="0"/>
                    <a:pt x="4896993" y="137541"/>
                    <a:pt x="4896993" y="307213"/>
                  </a:cubicBezTo>
                  <a:lnTo>
                    <a:pt x="4896993" y="1958848"/>
                  </a:lnTo>
                  <a:cubicBezTo>
                    <a:pt x="4896993" y="2128520"/>
                    <a:pt x="4759452" y="2266061"/>
                    <a:pt x="4589780" y="2266061"/>
                  </a:cubicBezTo>
                  <a:lnTo>
                    <a:pt x="307213" y="2266061"/>
                  </a:lnTo>
                  <a:cubicBezTo>
                    <a:pt x="137541" y="2266188"/>
                    <a:pt x="0" y="2128647"/>
                    <a:pt x="0" y="1958848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01232" y="5029048"/>
            <a:ext cx="228771" cy="179756"/>
            <a:chOff x="0" y="0"/>
            <a:chExt cx="305029" cy="239674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05054" cy="239649"/>
            </a:xfrm>
            <a:custGeom>
              <a:avLst/>
              <a:gdLst/>
              <a:ahLst/>
              <a:cxnLst/>
              <a:rect r="r" b="b" t="t" l="l"/>
              <a:pathLst>
                <a:path h="239649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39649"/>
                  </a:lnTo>
                  <a:lnTo>
                    <a:pt x="0" y="239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-1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44389" y="4975936"/>
            <a:ext cx="972283" cy="306859"/>
            <a:chOff x="0" y="0"/>
            <a:chExt cx="1296378" cy="4091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6379" cy="409149"/>
            </a:xfrm>
            <a:custGeom>
              <a:avLst/>
              <a:gdLst/>
              <a:ahLst/>
              <a:cxnLst/>
              <a:rect r="r" b="b" t="t" l="l"/>
              <a:pathLst>
                <a:path h="409149" w="1296379">
                  <a:moveTo>
                    <a:pt x="0" y="0"/>
                  </a:moveTo>
                  <a:lnTo>
                    <a:pt x="1296379" y="0"/>
                  </a:lnTo>
                  <a:lnTo>
                    <a:pt x="1296379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42" r="0" b="-83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96378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Endpoints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1232" y="5404895"/>
            <a:ext cx="3288611" cy="263742"/>
            <a:chOff x="0" y="0"/>
            <a:chExt cx="4384815" cy="3516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4816" cy="351652"/>
            </a:xfrm>
            <a:custGeom>
              <a:avLst/>
              <a:gdLst/>
              <a:ahLst/>
              <a:cxnLst/>
              <a:rect r="r" b="b" t="t" l="l"/>
              <a:pathLst>
                <a:path h="351652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589" r="0" b="-1863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384815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/api/health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1232" y="5633676"/>
            <a:ext cx="3288611" cy="263742"/>
            <a:chOff x="0" y="0"/>
            <a:chExt cx="4384815" cy="3516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4816" cy="351652"/>
            </a:xfrm>
            <a:custGeom>
              <a:avLst/>
              <a:gdLst/>
              <a:ahLst/>
              <a:cxnLst/>
              <a:rect r="r" b="b" t="t" l="l"/>
              <a:pathLst>
                <a:path h="351652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589" r="0" b="-1863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384815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/api/version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01232" y="5862457"/>
            <a:ext cx="3288611" cy="263742"/>
            <a:chOff x="0" y="0"/>
            <a:chExt cx="4384815" cy="3516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4816" cy="351652"/>
            </a:xfrm>
            <a:custGeom>
              <a:avLst/>
              <a:gdLst/>
              <a:ahLst/>
              <a:cxnLst/>
              <a:rect r="r" b="b" t="t" l="l"/>
              <a:pathLst>
                <a:path h="351652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589" r="0" b="-1863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384815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/api/analyze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41106" y="4740964"/>
            <a:ext cx="3672764" cy="1699631"/>
            <a:chOff x="0" y="0"/>
            <a:chExt cx="4897018" cy="22661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96993" cy="2266061"/>
            </a:xfrm>
            <a:custGeom>
              <a:avLst/>
              <a:gdLst/>
              <a:ahLst/>
              <a:cxnLst/>
              <a:rect r="r" b="b" t="t" l="l"/>
              <a:pathLst>
                <a:path h="2266061" w="4896993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4589780" y="0"/>
                  </a:lnTo>
                  <a:cubicBezTo>
                    <a:pt x="4759452" y="0"/>
                    <a:pt x="4896993" y="137541"/>
                    <a:pt x="4896993" y="307213"/>
                  </a:cubicBezTo>
                  <a:lnTo>
                    <a:pt x="4896993" y="1958848"/>
                  </a:lnTo>
                  <a:cubicBezTo>
                    <a:pt x="4896993" y="2128520"/>
                    <a:pt x="4759452" y="2266061"/>
                    <a:pt x="4589780" y="2266061"/>
                  </a:cubicBezTo>
                  <a:lnTo>
                    <a:pt x="307213" y="2266061"/>
                  </a:lnTo>
                  <a:cubicBezTo>
                    <a:pt x="137541" y="2266188"/>
                    <a:pt x="0" y="2128647"/>
                    <a:pt x="0" y="1958848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33178" y="5020875"/>
            <a:ext cx="228771" cy="196091"/>
            <a:chOff x="0" y="0"/>
            <a:chExt cx="305029" cy="261455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05054" cy="261493"/>
            </a:xfrm>
            <a:custGeom>
              <a:avLst/>
              <a:gdLst/>
              <a:ahLst/>
              <a:cxnLst/>
              <a:rect r="r" b="b" t="t" l="l"/>
              <a:pathLst>
                <a:path h="261493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5" b="14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576345" y="4975936"/>
            <a:ext cx="1086669" cy="306859"/>
            <a:chOff x="0" y="0"/>
            <a:chExt cx="1448892" cy="4091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48894" cy="409149"/>
            </a:xfrm>
            <a:custGeom>
              <a:avLst/>
              <a:gdLst/>
              <a:ahLst/>
              <a:cxnLst/>
              <a:rect r="r" b="b" t="t" l="l"/>
              <a:pathLst>
                <a:path h="409149" w="1448894">
                  <a:moveTo>
                    <a:pt x="0" y="0"/>
                  </a:moveTo>
                  <a:lnTo>
                    <a:pt x="1448894" y="0"/>
                  </a:lnTo>
                  <a:lnTo>
                    <a:pt x="1448894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05" r="0" b="-1559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448892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File Upload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233178" y="5404895"/>
            <a:ext cx="3288611" cy="306859"/>
            <a:chOff x="0" y="0"/>
            <a:chExt cx="4384815" cy="4091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84816" cy="409149"/>
            </a:xfrm>
            <a:custGeom>
              <a:avLst/>
              <a:gdLst/>
              <a:ahLst/>
              <a:cxnLst/>
              <a:rect r="r" b="b" t="t" l="l"/>
              <a:pathLst>
                <a:path h="409149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23" r="0" b="-15541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384815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PDF support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233178" y="5690873"/>
            <a:ext cx="3288611" cy="306859"/>
            <a:chOff x="0" y="0"/>
            <a:chExt cx="4384815" cy="4091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4816" cy="409149"/>
            </a:xfrm>
            <a:custGeom>
              <a:avLst/>
              <a:gdLst/>
              <a:ahLst/>
              <a:cxnLst/>
              <a:rect r="r" b="b" t="t" l="l"/>
              <a:pathLst>
                <a:path h="409149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23" r="0" b="-15541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384815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TXT support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233178" y="5976842"/>
            <a:ext cx="3288611" cy="306859"/>
            <a:chOff x="0" y="0"/>
            <a:chExt cx="4384815" cy="4091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4816" cy="409149"/>
            </a:xfrm>
            <a:custGeom>
              <a:avLst/>
              <a:gdLst/>
              <a:ahLst/>
              <a:cxnLst/>
              <a:rect r="r" b="b" t="t" l="l"/>
              <a:pathLst>
                <a:path h="409149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23" r="0" b="-15541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4384815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Raw text input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09161" y="6599787"/>
            <a:ext cx="3672764" cy="1528048"/>
            <a:chOff x="0" y="0"/>
            <a:chExt cx="4897018" cy="203739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96993" cy="2037334"/>
            </a:xfrm>
            <a:custGeom>
              <a:avLst/>
              <a:gdLst/>
              <a:ahLst/>
              <a:cxnLst/>
              <a:rect r="r" b="b" t="t" l="l"/>
              <a:pathLst>
                <a:path h="2037334" w="4896993">
                  <a:moveTo>
                    <a:pt x="0" y="307467"/>
                  </a:moveTo>
                  <a:cubicBezTo>
                    <a:pt x="0" y="137668"/>
                    <a:pt x="137668" y="0"/>
                    <a:pt x="307467" y="0"/>
                  </a:cubicBezTo>
                  <a:lnTo>
                    <a:pt x="4589526" y="0"/>
                  </a:lnTo>
                  <a:cubicBezTo>
                    <a:pt x="4759325" y="0"/>
                    <a:pt x="4896993" y="137668"/>
                    <a:pt x="4896993" y="307467"/>
                  </a:cubicBezTo>
                  <a:lnTo>
                    <a:pt x="4896993" y="1729867"/>
                  </a:lnTo>
                  <a:cubicBezTo>
                    <a:pt x="4896993" y="1899666"/>
                    <a:pt x="4759325" y="2037334"/>
                    <a:pt x="4589526" y="2037334"/>
                  </a:cubicBezTo>
                  <a:lnTo>
                    <a:pt x="307467" y="2037334"/>
                  </a:lnTo>
                  <a:cubicBezTo>
                    <a:pt x="137668" y="2037461"/>
                    <a:pt x="0" y="1899666"/>
                    <a:pt x="0" y="1729867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01232" y="6887870"/>
            <a:ext cx="228771" cy="179756"/>
            <a:chOff x="0" y="0"/>
            <a:chExt cx="305029" cy="239674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305054" cy="239649"/>
            </a:xfrm>
            <a:custGeom>
              <a:avLst/>
              <a:gdLst/>
              <a:ahLst/>
              <a:cxnLst/>
              <a:rect r="r" b="b" t="t" l="l"/>
              <a:pathLst>
                <a:path h="239649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39649"/>
                  </a:lnTo>
                  <a:lnTo>
                    <a:pt x="0" y="239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5" b="-1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744389" y="6834759"/>
            <a:ext cx="1787290" cy="306859"/>
            <a:chOff x="0" y="0"/>
            <a:chExt cx="2383053" cy="40914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83052" cy="409149"/>
            </a:xfrm>
            <a:custGeom>
              <a:avLst/>
              <a:gdLst/>
              <a:ahLst/>
              <a:cxnLst/>
              <a:rect r="r" b="b" t="t" l="l"/>
              <a:pathLst>
                <a:path h="409149" w="2383052">
                  <a:moveTo>
                    <a:pt x="0" y="0"/>
                  </a:moveTo>
                  <a:lnTo>
                    <a:pt x="2383052" y="0"/>
                  </a:lnTo>
                  <a:lnTo>
                    <a:pt x="2383052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93" r="0" b="-6008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383053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Processing Modes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01232" y="7263727"/>
            <a:ext cx="3288611" cy="306859"/>
            <a:chOff x="0" y="0"/>
            <a:chExt cx="4384815" cy="4091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4816" cy="409149"/>
            </a:xfrm>
            <a:custGeom>
              <a:avLst/>
              <a:gdLst/>
              <a:ahLst/>
              <a:cxnLst/>
              <a:rect r="r" b="b" t="t" l="l"/>
              <a:pathLst>
                <a:path h="409149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23" r="0" b="-15541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4384815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Standard (Fast)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01232" y="7549696"/>
            <a:ext cx="3288611" cy="306859"/>
            <a:chOff x="0" y="0"/>
            <a:chExt cx="4384815" cy="40914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84816" cy="409149"/>
            </a:xfrm>
            <a:custGeom>
              <a:avLst/>
              <a:gdLst/>
              <a:ahLst/>
              <a:cxnLst/>
              <a:rect r="r" b="b" t="t" l="l"/>
              <a:pathLst>
                <a:path h="409149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223" r="0" b="-15541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4384815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High-Accuracy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041106" y="6599787"/>
            <a:ext cx="3672764" cy="1528048"/>
            <a:chOff x="0" y="0"/>
            <a:chExt cx="4897018" cy="203739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896993" cy="2037334"/>
            </a:xfrm>
            <a:custGeom>
              <a:avLst/>
              <a:gdLst/>
              <a:ahLst/>
              <a:cxnLst/>
              <a:rect r="r" b="b" t="t" l="l"/>
              <a:pathLst>
                <a:path h="2037334" w="4896993">
                  <a:moveTo>
                    <a:pt x="0" y="307467"/>
                  </a:moveTo>
                  <a:cubicBezTo>
                    <a:pt x="0" y="137668"/>
                    <a:pt x="137668" y="0"/>
                    <a:pt x="307467" y="0"/>
                  </a:cubicBezTo>
                  <a:lnTo>
                    <a:pt x="4589526" y="0"/>
                  </a:lnTo>
                  <a:cubicBezTo>
                    <a:pt x="4759325" y="0"/>
                    <a:pt x="4896993" y="137668"/>
                    <a:pt x="4896993" y="307467"/>
                  </a:cubicBezTo>
                  <a:lnTo>
                    <a:pt x="4896993" y="1729867"/>
                  </a:lnTo>
                  <a:cubicBezTo>
                    <a:pt x="4896993" y="1899666"/>
                    <a:pt x="4759325" y="2037334"/>
                    <a:pt x="4589526" y="2037334"/>
                  </a:cubicBezTo>
                  <a:lnTo>
                    <a:pt x="307467" y="2037334"/>
                  </a:lnTo>
                  <a:cubicBezTo>
                    <a:pt x="137668" y="2037461"/>
                    <a:pt x="0" y="1899666"/>
                    <a:pt x="0" y="1729867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5233178" y="6894004"/>
            <a:ext cx="228771" cy="167497"/>
            <a:chOff x="0" y="0"/>
            <a:chExt cx="305029" cy="223330"/>
          </a:xfrm>
        </p:grpSpPr>
        <p:sp>
          <p:nvSpPr>
            <p:cNvPr name="Freeform 67" id="67" descr="image.png"/>
            <p:cNvSpPr/>
            <p:nvPr/>
          </p:nvSpPr>
          <p:spPr>
            <a:xfrm flipH="false" flipV="false" rot="0">
              <a:off x="0" y="0"/>
              <a:ext cx="305054" cy="223393"/>
            </a:xfrm>
            <a:custGeom>
              <a:avLst/>
              <a:gdLst/>
              <a:ahLst/>
              <a:cxnLst/>
              <a:rect r="r" b="b" t="t" l="l"/>
              <a:pathLst>
                <a:path h="223393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23393"/>
                  </a:lnTo>
                  <a:lnTo>
                    <a:pt x="0" y="223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5" b="28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576345" y="6834759"/>
            <a:ext cx="1487024" cy="306859"/>
            <a:chOff x="0" y="0"/>
            <a:chExt cx="1982699" cy="40914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982699" cy="409149"/>
            </a:xfrm>
            <a:custGeom>
              <a:avLst/>
              <a:gdLst/>
              <a:ahLst/>
              <a:cxnLst/>
              <a:rect r="r" b="b" t="t" l="l"/>
              <a:pathLst>
                <a:path h="409149" w="1982699">
                  <a:moveTo>
                    <a:pt x="0" y="0"/>
                  </a:moveTo>
                  <a:lnTo>
                    <a:pt x="1982699" y="0"/>
                  </a:lnTo>
                  <a:lnTo>
                    <a:pt x="1982699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26" r="0" b="-4101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982699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Response Time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233178" y="7263727"/>
            <a:ext cx="3288611" cy="493745"/>
            <a:chOff x="0" y="0"/>
            <a:chExt cx="4384815" cy="65832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4816" cy="658321"/>
            </a:xfrm>
            <a:custGeom>
              <a:avLst/>
              <a:gdLst/>
              <a:ahLst/>
              <a:cxnLst/>
              <a:rect r="r" b="b" t="t" l="l"/>
              <a:pathLst>
                <a:path h="658321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45" r="0" b="-7611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4384815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2"/>
                </a:lnSpc>
              </a:pPr>
              <a:r>
                <a:rPr lang="en-US" sz="2354" b="true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&lt;3s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233178" y="7721279"/>
            <a:ext cx="3288611" cy="263742"/>
            <a:chOff x="0" y="0"/>
            <a:chExt cx="4384815" cy="35165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84816" cy="351652"/>
            </a:xfrm>
            <a:custGeom>
              <a:avLst/>
              <a:gdLst/>
              <a:ahLst/>
              <a:cxnLst/>
              <a:rect r="r" b="b" t="t" l="l"/>
              <a:pathLst>
                <a:path h="351652" w="4384816">
                  <a:moveTo>
                    <a:pt x="0" y="0"/>
                  </a:moveTo>
                  <a:lnTo>
                    <a:pt x="4384816" y="0"/>
                  </a:lnTo>
                  <a:lnTo>
                    <a:pt x="4384816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589" r="0" b="-1863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4384815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Average processing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287704" y="3768652"/>
            <a:ext cx="8105242" cy="4673756"/>
            <a:chOff x="0" y="0"/>
            <a:chExt cx="10806989" cy="623167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806938" cy="6231636"/>
            </a:xfrm>
            <a:custGeom>
              <a:avLst/>
              <a:gdLst/>
              <a:ahLst/>
              <a:cxnLst/>
              <a:rect r="r" b="b" t="t" l="l"/>
              <a:pathLst>
                <a:path h="6231636" w="10806938">
                  <a:moveTo>
                    <a:pt x="0" y="611632"/>
                  </a:moveTo>
                  <a:cubicBezTo>
                    <a:pt x="0" y="273812"/>
                    <a:pt x="273812" y="0"/>
                    <a:pt x="611632" y="0"/>
                  </a:cubicBezTo>
                  <a:lnTo>
                    <a:pt x="10195306" y="0"/>
                  </a:lnTo>
                  <a:cubicBezTo>
                    <a:pt x="10533126" y="0"/>
                    <a:pt x="10806938" y="273812"/>
                    <a:pt x="10806938" y="611632"/>
                  </a:cubicBezTo>
                  <a:lnTo>
                    <a:pt x="10806938" y="5620004"/>
                  </a:lnTo>
                  <a:cubicBezTo>
                    <a:pt x="10806938" y="5957824"/>
                    <a:pt x="10533126" y="6231636"/>
                    <a:pt x="10195306" y="6231636"/>
                  </a:cubicBezTo>
                  <a:lnTo>
                    <a:pt x="611632" y="6231636"/>
                  </a:lnTo>
                  <a:cubicBezTo>
                    <a:pt x="273812" y="6231636"/>
                    <a:pt x="0" y="5957824"/>
                    <a:pt x="0" y="5620004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594171" y="4156624"/>
            <a:ext cx="343157" cy="265957"/>
            <a:chOff x="0" y="0"/>
            <a:chExt cx="457543" cy="354609"/>
          </a:xfrm>
        </p:grpSpPr>
        <p:sp>
          <p:nvSpPr>
            <p:cNvPr name="Freeform 80" id="80" descr="image.png"/>
            <p:cNvSpPr/>
            <p:nvPr/>
          </p:nvSpPr>
          <p:spPr>
            <a:xfrm flipH="false" flipV="false" rot="0">
              <a:off x="0" y="0"/>
              <a:ext cx="457581" cy="354584"/>
            </a:xfrm>
            <a:custGeom>
              <a:avLst/>
              <a:gdLst/>
              <a:ahLst/>
              <a:cxnLst/>
              <a:rect r="r" b="b" t="t" l="l"/>
              <a:pathLst>
                <a:path h="35458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54584"/>
                  </a:lnTo>
                  <a:lnTo>
                    <a:pt x="0" y="354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6" b="-7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587970" y="4740964"/>
            <a:ext cx="3672764" cy="784517"/>
            <a:chOff x="0" y="0"/>
            <a:chExt cx="4897018" cy="104602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96993" cy="1045972"/>
            </a:xfrm>
            <a:custGeom>
              <a:avLst/>
              <a:gdLst/>
              <a:ahLst/>
              <a:cxnLst/>
              <a:rect r="r" b="b" t="t" l="l"/>
              <a:pathLst>
                <a:path h="1045972" w="4896993">
                  <a:moveTo>
                    <a:pt x="0" y="309880"/>
                  </a:moveTo>
                  <a:cubicBezTo>
                    <a:pt x="0" y="138811"/>
                    <a:pt x="138811" y="0"/>
                    <a:pt x="309880" y="0"/>
                  </a:cubicBezTo>
                  <a:lnTo>
                    <a:pt x="4587113" y="0"/>
                  </a:lnTo>
                  <a:cubicBezTo>
                    <a:pt x="4758309" y="0"/>
                    <a:pt x="4896993" y="138811"/>
                    <a:pt x="4896993" y="309880"/>
                  </a:cubicBezTo>
                  <a:lnTo>
                    <a:pt x="4896993" y="736092"/>
                  </a:lnTo>
                  <a:cubicBezTo>
                    <a:pt x="4896993" y="907288"/>
                    <a:pt x="4758182" y="1045972"/>
                    <a:pt x="4587113" y="1045972"/>
                  </a:cubicBezTo>
                  <a:lnTo>
                    <a:pt x="309880" y="1045972"/>
                  </a:lnTo>
                  <a:cubicBezTo>
                    <a:pt x="138811" y="1045972"/>
                    <a:pt x="0" y="907288"/>
                    <a:pt x="0" y="736092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780041" y="5124079"/>
            <a:ext cx="285969" cy="46882"/>
            <a:chOff x="0" y="0"/>
            <a:chExt cx="381292" cy="62509"/>
          </a:xfrm>
        </p:grpSpPr>
        <p:sp>
          <p:nvSpPr>
            <p:cNvPr name="Freeform 84" id="84" descr="image.png"/>
            <p:cNvSpPr/>
            <p:nvPr/>
          </p:nvSpPr>
          <p:spPr>
            <a:xfrm flipH="false" flipV="false" rot="0">
              <a:off x="0" y="0"/>
              <a:ext cx="381254" cy="62484"/>
            </a:xfrm>
            <a:custGeom>
              <a:avLst/>
              <a:gdLst/>
              <a:ahLst/>
              <a:cxnLst/>
              <a:rect r="r" b="b" t="t" l="l"/>
              <a:pathLst>
                <a:path h="62484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62484"/>
                  </a:lnTo>
                  <a:lnTo>
                    <a:pt x="0" y="62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9" b="-4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237594" y="5004530"/>
            <a:ext cx="2173338" cy="306859"/>
            <a:chOff x="0" y="0"/>
            <a:chExt cx="2897784" cy="40914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897790" cy="409149"/>
            </a:xfrm>
            <a:custGeom>
              <a:avLst/>
              <a:gdLst/>
              <a:ahLst/>
              <a:cxnLst/>
              <a:rect r="r" b="b" t="t" l="l"/>
              <a:pathLst>
                <a:path h="409149" w="2897790">
                  <a:moveTo>
                    <a:pt x="0" y="0"/>
                  </a:moveTo>
                  <a:lnTo>
                    <a:pt x="2897790" y="0"/>
                  </a:lnTo>
                  <a:lnTo>
                    <a:pt x="2897790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406" r="0" b="-8459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2897784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Glassmorphism Design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419915" y="4740964"/>
            <a:ext cx="3672764" cy="784517"/>
            <a:chOff x="0" y="0"/>
            <a:chExt cx="4897018" cy="104602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896993" cy="1045972"/>
            </a:xfrm>
            <a:custGeom>
              <a:avLst/>
              <a:gdLst/>
              <a:ahLst/>
              <a:cxnLst/>
              <a:rect r="r" b="b" t="t" l="l"/>
              <a:pathLst>
                <a:path h="1045972" w="4896993">
                  <a:moveTo>
                    <a:pt x="0" y="309880"/>
                  </a:moveTo>
                  <a:cubicBezTo>
                    <a:pt x="0" y="138811"/>
                    <a:pt x="138811" y="0"/>
                    <a:pt x="309880" y="0"/>
                  </a:cubicBezTo>
                  <a:lnTo>
                    <a:pt x="4587113" y="0"/>
                  </a:lnTo>
                  <a:cubicBezTo>
                    <a:pt x="4758309" y="0"/>
                    <a:pt x="4896993" y="138811"/>
                    <a:pt x="4896993" y="309880"/>
                  </a:cubicBezTo>
                  <a:lnTo>
                    <a:pt x="4896993" y="736092"/>
                  </a:lnTo>
                  <a:cubicBezTo>
                    <a:pt x="4896993" y="907288"/>
                    <a:pt x="4758182" y="1045972"/>
                    <a:pt x="4587113" y="1045972"/>
                  </a:cubicBezTo>
                  <a:lnTo>
                    <a:pt x="309880" y="1045972"/>
                  </a:lnTo>
                  <a:cubicBezTo>
                    <a:pt x="138811" y="1045972"/>
                    <a:pt x="0" y="907288"/>
                    <a:pt x="0" y="736092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3611997" y="5042383"/>
            <a:ext cx="285969" cy="210274"/>
            <a:chOff x="0" y="0"/>
            <a:chExt cx="381292" cy="280365"/>
          </a:xfrm>
        </p:grpSpPr>
        <p:sp>
          <p:nvSpPr>
            <p:cNvPr name="Freeform 91" id="91" descr="image.png"/>
            <p:cNvSpPr/>
            <p:nvPr/>
          </p:nvSpPr>
          <p:spPr>
            <a:xfrm flipH="false" flipV="false" rot="0">
              <a:off x="0" y="0"/>
              <a:ext cx="381254" cy="280416"/>
            </a:xfrm>
            <a:custGeom>
              <a:avLst/>
              <a:gdLst/>
              <a:ahLst/>
              <a:cxnLst/>
              <a:rect r="r" b="b" t="t" l="l"/>
              <a:pathLst>
                <a:path h="280416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80416"/>
                  </a:lnTo>
                  <a:lnTo>
                    <a:pt x="0" y="28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" t="0" r="-8" b="18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069539" y="5004530"/>
            <a:ext cx="1887379" cy="306859"/>
            <a:chOff x="0" y="0"/>
            <a:chExt cx="2516505" cy="40914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16502" cy="409149"/>
            </a:xfrm>
            <a:custGeom>
              <a:avLst/>
              <a:gdLst/>
              <a:ahLst/>
              <a:cxnLst/>
              <a:rect r="r" b="b" t="t" l="l"/>
              <a:pathLst>
                <a:path h="409149" w="2516502">
                  <a:moveTo>
                    <a:pt x="0" y="0"/>
                  </a:moveTo>
                  <a:lnTo>
                    <a:pt x="2516502" y="0"/>
                  </a:lnTo>
                  <a:lnTo>
                    <a:pt x="2516502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48" r="0" b="-6644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2516505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Drag &amp; Drop Upload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587970" y="5684672"/>
            <a:ext cx="3672764" cy="784517"/>
            <a:chOff x="0" y="0"/>
            <a:chExt cx="4897018" cy="104602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96993" cy="1045972"/>
            </a:xfrm>
            <a:custGeom>
              <a:avLst/>
              <a:gdLst/>
              <a:ahLst/>
              <a:cxnLst/>
              <a:rect r="r" b="b" t="t" l="l"/>
              <a:pathLst>
                <a:path h="1045972" w="4896993">
                  <a:moveTo>
                    <a:pt x="0" y="309880"/>
                  </a:moveTo>
                  <a:cubicBezTo>
                    <a:pt x="0" y="138811"/>
                    <a:pt x="138811" y="0"/>
                    <a:pt x="309880" y="0"/>
                  </a:cubicBezTo>
                  <a:lnTo>
                    <a:pt x="4587113" y="0"/>
                  </a:lnTo>
                  <a:cubicBezTo>
                    <a:pt x="4758309" y="0"/>
                    <a:pt x="4896993" y="138811"/>
                    <a:pt x="4896993" y="309880"/>
                  </a:cubicBezTo>
                  <a:lnTo>
                    <a:pt x="4896993" y="736092"/>
                  </a:lnTo>
                  <a:cubicBezTo>
                    <a:pt x="4896993" y="907288"/>
                    <a:pt x="4758182" y="1045972"/>
                    <a:pt x="4587113" y="1045972"/>
                  </a:cubicBezTo>
                  <a:lnTo>
                    <a:pt x="309880" y="1045972"/>
                  </a:lnTo>
                  <a:cubicBezTo>
                    <a:pt x="138811" y="1045972"/>
                    <a:pt x="0" y="907288"/>
                    <a:pt x="0" y="736092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9780041" y="5998712"/>
            <a:ext cx="285969" cy="185042"/>
            <a:chOff x="0" y="0"/>
            <a:chExt cx="381292" cy="246723"/>
          </a:xfrm>
        </p:grpSpPr>
        <p:sp>
          <p:nvSpPr>
            <p:cNvPr name="Freeform 98" id="98" descr="image.png"/>
            <p:cNvSpPr/>
            <p:nvPr/>
          </p:nvSpPr>
          <p:spPr>
            <a:xfrm flipH="false" flipV="false" rot="0">
              <a:off x="0" y="0"/>
              <a:ext cx="381254" cy="246761"/>
            </a:xfrm>
            <a:custGeom>
              <a:avLst/>
              <a:gdLst/>
              <a:ahLst/>
              <a:cxnLst/>
              <a:rect r="r" b="b" t="t" l="l"/>
              <a:pathLst>
                <a:path h="246761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46761"/>
                  </a:lnTo>
                  <a:lnTo>
                    <a:pt x="0" y="246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" t="0" r="-8" b="15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237594" y="5948248"/>
            <a:ext cx="2244833" cy="306859"/>
            <a:chOff x="0" y="0"/>
            <a:chExt cx="2993111" cy="40914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993112" cy="409149"/>
            </a:xfrm>
            <a:custGeom>
              <a:avLst/>
              <a:gdLst/>
              <a:ahLst/>
              <a:cxnLst/>
              <a:rect r="r" b="b" t="t" l="l"/>
              <a:pathLst>
                <a:path h="409149" w="2993112">
                  <a:moveTo>
                    <a:pt x="0" y="0"/>
                  </a:moveTo>
                  <a:lnTo>
                    <a:pt x="2993112" y="0"/>
                  </a:lnTo>
                  <a:lnTo>
                    <a:pt x="2993112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946" r="0" b="-8913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2993111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Interactive Visualization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419915" y="5684672"/>
            <a:ext cx="3672764" cy="784517"/>
            <a:chOff x="0" y="0"/>
            <a:chExt cx="4897018" cy="1046023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896993" cy="1045972"/>
            </a:xfrm>
            <a:custGeom>
              <a:avLst/>
              <a:gdLst/>
              <a:ahLst/>
              <a:cxnLst/>
              <a:rect r="r" b="b" t="t" l="l"/>
              <a:pathLst>
                <a:path h="1045972" w="4896993">
                  <a:moveTo>
                    <a:pt x="0" y="309880"/>
                  </a:moveTo>
                  <a:cubicBezTo>
                    <a:pt x="0" y="138811"/>
                    <a:pt x="138811" y="0"/>
                    <a:pt x="309880" y="0"/>
                  </a:cubicBezTo>
                  <a:lnTo>
                    <a:pt x="4587113" y="0"/>
                  </a:lnTo>
                  <a:cubicBezTo>
                    <a:pt x="4758309" y="0"/>
                    <a:pt x="4896993" y="138811"/>
                    <a:pt x="4896993" y="309880"/>
                  </a:cubicBezTo>
                  <a:lnTo>
                    <a:pt x="4896993" y="736092"/>
                  </a:lnTo>
                  <a:cubicBezTo>
                    <a:pt x="4896993" y="907288"/>
                    <a:pt x="4758182" y="1045972"/>
                    <a:pt x="4587113" y="1045972"/>
                  </a:cubicBezTo>
                  <a:lnTo>
                    <a:pt x="309880" y="1045972"/>
                  </a:lnTo>
                  <a:cubicBezTo>
                    <a:pt x="138811" y="1045972"/>
                    <a:pt x="0" y="907288"/>
                    <a:pt x="0" y="736092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611997" y="5969270"/>
            <a:ext cx="285969" cy="243916"/>
            <a:chOff x="0" y="0"/>
            <a:chExt cx="381292" cy="325222"/>
          </a:xfrm>
        </p:grpSpPr>
        <p:sp>
          <p:nvSpPr>
            <p:cNvPr name="Freeform 105" id="105" descr="image.png"/>
            <p:cNvSpPr/>
            <p:nvPr/>
          </p:nvSpPr>
          <p:spPr>
            <a:xfrm flipH="false" flipV="false" rot="0">
              <a:off x="0" y="0"/>
              <a:ext cx="381254" cy="325247"/>
            </a:xfrm>
            <a:custGeom>
              <a:avLst/>
              <a:gdLst/>
              <a:ahLst/>
              <a:cxnLst/>
              <a:rect r="r" b="b" t="t" l="l"/>
              <a:pathLst>
                <a:path h="325247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" t="0" r="-8" b="7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4069539" y="5948248"/>
            <a:ext cx="1930270" cy="306859"/>
            <a:chOff x="0" y="0"/>
            <a:chExt cx="2573693" cy="40914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573695" cy="409149"/>
            </a:xfrm>
            <a:custGeom>
              <a:avLst/>
              <a:gdLst/>
              <a:ahLst/>
              <a:cxnLst/>
              <a:rect r="r" b="b" t="t" l="l"/>
              <a:pathLst>
                <a:path h="409149" w="2573695">
                  <a:moveTo>
                    <a:pt x="0" y="0"/>
                  </a:moveTo>
                  <a:lnTo>
                    <a:pt x="2573695" y="0"/>
                  </a:lnTo>
                  <a:lnTo>
                    <a:pt x="2573695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72" r="0" b="-6916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2573693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Color-coded Entities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587970" y="6628390"/>
            <a:ext cx="3672764" cy="784517"/>
            <a:chOff x="0" y="0"/>
            <a:chExt cx="4897018" cy="104602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896993" cy="1045972"/>
            </a:xfrm>
            <a:custGeom>
              <a:avLst/>
              <a:gdLst/>
              <a:ahLst/>
              <a:cxnLst/>
              <a:rect r="r" b="b" t="t" l="l"/>
              <a:pathLst>
                <a:path h="1045972" w="4896993">
                  <a:moveTo>
                    <a:pt x="0" y="309880"/>
                  </a:moveTo>
                  <a:cubicBezTo>
                    <a:pt x="0" y="138811"/>
                    <a:pt x="138811" y="0"/>
                    <a:pt x="309880" y="0"/>
                  </a:cubicBezTo>
                  <a:lnTo>
                    <a:pt x="4587113" y="0"/>
                  </a:lnTo>
                  <a:cubicBezTo>
                    <a:pt x="4758309" y="0"/>
                    <a:pt x="4896993" y="138811"/>
                    <a:pt x="4896993" y="309880"/>
                  </a:cubicBezTo>
                  <a:lnTo>
                    <a:pt x="4896993" y="736092"/>
                  </a:lnTo>
                  <a:cubicBezTo>
                    <a:pt x="4896993" y="907288"/>
                    <a:pt x="4758182" y="1045972"/>
                    <a:pt x="4587113" y="1045972"/>
                  </a:cubicBezTo>
                  <a:lnTo>
                    <a:pt x="309880" y="1045972"/>
                  </a:lnTo>
                  <a:cubicBezTo>
                    <a:pt x="138811" y="1045972"/>
                    <a:pt x="0" y="907288"/>
                    <a:pt x="0" y="736092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9780041" y="6917188"/>
            <a:ext cx="285969" cy="235506"/>
            <a:chOff x="0" y="0"/>
            <a:chExt cx="381292" cy="314008"/>
          </a:xfrm>
        </p:grpSpPr>
        <p:sp>
          <p:nvSpPr>
            <p:cNvPr name="Freeform 112" id="112" descr="image.png"/>
            <p:cNvSpPr/>
            <p:nvPr/>
          </p:nvSpPr>
          <p:spPr>
            <a:xfrm flipH="false" flipV="false" rot="0">
              <a:off x="0" y="0"/>
              <a:ext cx="381254" cy="314071"/>
            </a:xfrm>
            <a:custGeom>
              <a:avLst/>
              <a:gdLst/>
              <a:ahLst/>
              <a:cxnLst/>
              <a:rect r="r" b="b" t="t" l="l"/>
              <a:pathLst>
                <a:path h="314071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14071"/>
                  </a:lnTo>
                  <a:lnTo>
                    <a:pt x="0" y="314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" t="0" r="-8" b="2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0237594" y="6891957"/>
            <a:ext cx="1944567" cy="306859"/>
            <a:chOff x="0" y="0"/>
            <a:chExt cx="2592756" cy="40914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592760" cy="409149"/>
            </a:xfrm>
            <a:custGeom>
              <a:avLst/>
              <a:gdLst/>
              <a:ahLst/>
              <a:cxnLst/>
              <a:rect r="r" b="b" t="t" l="l"/>
              <a:pathLst>
                <a:path h="409149" w="2592760">
                  <a:moveTo>
                    <a:pt x="0" y="0"/>
                  </a:moveTo>
                  <a:lnTo>
                    <a:pt x="2592760" y="0"/>
                  </a:lnTo>
                  <a:lnTo>
                    <a:pt x="2592760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879" r="0" b="-7007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2592756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Risk Level Indicators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419915" y="6628390"/>
            <a:ext cx="3672764" cy="784517"/>
            <a:chOff x="0" y="0"/>
            <a:chExt cx="4897018" cy="104602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896993" cy="1045972"/>
            </a:xfrm>
            <a:custGeom>
              <a:avLst/>
              <a:gdLst/>
              <a:ahLst/>
              <a:cxnLst/>
              <a:rect r="r" b="b" t="t" l="l"/>
              <a:pathLst>
                <a:path h="1045972" w="4896993">
                  <a:moveTo>
                    <a:pt x="0" y="309880"/>
                  </a:moveTo>
                  <a:cubicBezTo>
                    <a:pt x="0" y="138811"/>
                    <a:pt x="138811" y="0"/>
                    <a:pt x="309880" y="0"/>
                  </a:cubicBezTo>
                  <a:lnTo>
                    <a:pt x="4587113" y="0"/>
                  </a:lnTo>
                  <a:cubicBezTo>
                    <a:pt x="4758309" y="0"/>
                    <a:pt x="4896993" y="138811"/>
                    <a:pt x="4896993" y="309880"/>
                  </a:cubicBezTo>
                  <a:lnTo>
                    <a:pt x="4896993" y="736092"/>
                  </a:lnTo>
                  <a:cubicBezTo>
                    <a:pt x="4896993" y="907288"/>
                    <a:pt x="4758182" y="1045972"/>
                    <a:pt x="4587113" y="1045972"/>
                  </a:cubicBezTo>
                  <a:lnTo>
                    <a:pt x="309880" y="1045972"/>
                  </a:lnTo>
                  <a:cubicBezTo>
                    <a:pt x="138811" y="1045972"/>
                    <a:pt x="0" y="907288"/>
                    <a:pt x="0" y="736092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3611997" y="6925599"/>
            <a:ext cx="285969" cy="218684"/>
            <a:chOff x="0" y="0"/>
            <a:chExt cx="381292" cy="291579"/>
          </a:xfrm>
        </p:grpSpPr>
        <p:sp>
          <p:nvSpPr>
            <p:cNvPr name="Freeform 119" id="119" descr="image.png"/>
            <p:cNvSpPr/>
            <p:nvPr/>
          </p:nvSpPr>
          <p:spPr>
            <a:xfrm flipH="false" flipV="false" rot="0">
              <a:off x="0" y="0"/>
              <a:ext cx="381254" cy="291592"/>
            </a:xfrm>
            <a:custGeom>
              <a:avLst/>
              <a:gdLst/>
              <a:ahLst/>
              <a:cxnLst/>
              <a:rect r="r" b="b" t="t" l="l"/>
              <a:pathLst>
                <a:path h="291592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91592"/>
                  </a:lnTo>
                  <a:lnTo>
                    <a:pt x="0" y="291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" t="0" r="-8" b="4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4069539" y="6891957"/>
            <a:ext cx="2144744" cy="306859"/>
            <a:chOff x="0" y="0"/>
            <a:chExt cx="2859659" cy="40914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859662" cy="409149"/>
            </a:xfrm>
            <a:custGeom>
              <a:avLst/>
              <a:gdLst/>
              <a:ahLst/>
              <a:cxnLst/>
              <a:rect r="r" b="b" t="t" l="l"/>
              <a:pathLst>
                <a:path h="409149" w="2859662">
                  <a:moveTo>
                    <a:pt x="0" y="0"/>
                  </a:moveTo>
                  <a:lnTo>
                    <a:pt x="2859662" y="0"/>
                  </a:lnTo>
                  <a:lnTo>
                    <a:pt x="2859662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590" r="0" b="-8278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2859659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Downloadable Reports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15095" y="8826570"/>
            <a:ext cx="343157" cy="248793"/>
            <a:chOff x="0" y="0"/>
            <a:chExt cx="457543" cy="331724"/>
          </a:xfrm>
        </p:grpSpPr>
        <p:sp>
          <p:nvSpPr>
            <p:cNvPr name="Freeform 124" id="124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" t="0" r="6" b="0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429826" y="8750789"/>
            <a:ext cx="4132212" cy="400361"/>
            <a:chOff x="0" y="0"/>
            <a:chExt cx="5509616" cy="53381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509616" cy="533811"/>
            </a:xfrm>
            <a:custGeom>
              <a:avLst/>
              <a:gdLst/>
              <a:ahLst/>
              <a:cxnLst/>
              <a:rect r="r" b="b" t="t" l="l"/>
              <a:pathLst>
                <a:path h="533811" w="5509616">
                  <a:moveTo>
                    <a:pt x="0" y="0"/>
                  </a:moveTo>
                  <a:lnTo>
                    <a:pt x="5509616" y="0"/>
                  </a:lnTo>
                  <a:lnTo>
                    <a:pt x="5509616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109" r="0" b="-15111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85725"/>
              <a:ext cx="5509616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But how does it all work together?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51447" y="182956"/>
            <a:ext cx="7304045" cy="3099768"/>
            <a:chOff x="0" y="0"/>
            <a:chExt cx="32344535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34448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32344485">
                  <a:moveTo>
                    <a:pt x="0" y="0"/>
                  </a:moveTo>
                  <a:lnTo>
                    <a:pt x="32344485" y="0"/>
                  </a:lnTo>
                  <a:lnTo>
                    <a:pt x="32344485" y="13726668"/>
                  </a:lnTo>
                  <a:lnTo>
                    <a:pt x="0" y="13726668"/>
                  </a:lnTo>
                  <a:close/>
                </a:path>
              </a:pathLst>
            </a:custGeom>
            <a:blipFill>
              <a:blip r:embed="rId3"/>
              <a:stretch>
                <a:fillRect l="-2089" t="0" r="-208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8895" y="923220"/>
            <a:ext cx="1871177" cy="555746"/>
            <a:chOff x="0" y="0"/>
            <a:chExt cx="2494902" cy="740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94788" cy="740918"/>
            </a:xfrm>
            <a:custGeom>
              <a:avLst/>
              <a:gdLst/>
              <a:ahLst/>
              <a:cxnLst/>
              <a:rect r="r" b="b" t="t" l="l"/>
              <a:pathLst>
                <a:path h="740918" w="2494788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2124329" y="0"/>
                  </a:lnTo>
                  <a:cubicBezTo>
                    <a:pt x="2328926" y="0"/>
                    <a:pt x="2494788" y="165862"/>
                    <a:pt x="2494788" y="370459"/>
                  </a:cubicBezTo>
                  <a:cubicBezTo>
                    <a:pt x="2494788" y="575056"/>
                    <a:pt x="2328926" y="740918"/>
                    <a:pt x="2124329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  <a:ln w="12392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58164" y="1058104"/>
            <a:ext cx="1372638" cy="306859"/>
            <a:chOff x="0" y="0"/>
            <a:chExt cx="1830184" cy="4091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0184" cy="409149"/>
            </a:xfrm>
            <a:custGeom>
              <a:avLst/>
              <a:gdLst/>
              <a:ahLst/>
              <a:cxnLst/>
              <a:rect r="r" b="b" t="t" l="l"/>
              <a:pathLst>
                <a:path h="409149" w="1830184">
                  <a:moveTo>
                    <a:pt x="0" y="0"/>
                  </a:moveTo>
                  <a:lnTo>
                    <a:pt x="1830184" y="0"/>
                  </a:lnTo>
                  <a:lnTo>
                    <a:pt x="1830184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563" r="0" b="-337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30184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93C5F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WORKFLOW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5095" y="1644348"/>
            <a:ext cx="16471659" cy="1180953"/>
            <a:chOff x="0" y="0"/>
            <a:chExt cx="21962212" cy="1574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208" cy="1574604"/>
            </a:xfrm>
            <a:custGeom>
              <a:avLst/>
              <a:gdLst/>
              <a:ahLst/>
              <a:cxnLst/>
              <a:rect r="r" b="b" t="t" l="l"/>
              <a:pathLst>
                <a:path h="1574604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574604"/>
                  </a:lnTo>
                  <a:lnTo>
                    <a:pt x="0" y="1574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6368" r="0" b="-2171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1962212" cy="1650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89"/>
                </a:lnSpc>
              </a:pPr>
              <a:r>
                <a:rPr lang="en-US" b="true" sz="5586">
                  <a:solidFill>
                    <a:srgbClr val="7DD3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HOW IT WORKS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5095" y="2831135"/>
            <a:ext cx="16471659" cy="493745"/>
            <a:chOff x="0" y="0"/>
            <a:chExt cx="21962212" cy="6583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62208" cy="658321"/>
            </a:xfrm>
            <a:custGeom>
              <a:avLst/>
              <a:gdLst/>
              <a:ahLst/>
              <a:cxnLst/>
              <a:rect r="r" b="b" t="t" l="l"/>
              <a:pathLst>
                <a:path h="658321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03703" r="0" b="-5963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1962212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2"/>
                </a:lnSpc>
              </a:pPr>
              <a:r>
                <a:rPr lang="en-US" sz="23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COMPLETE JOURNEY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8895" y="3568475"/>
            <a:ext cx="2157136" cy="3086605"/>
            <a:chOff x="0" y="0"/>
            <a:chExt cx="2876182" cy="41154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6169" cy="4115435"/>
            </a:xfrm>
            <a:custGeom>
              <a:avLst/>
              <a:gdLst/>
              <a:ahLst/>
              <a:cxnLst/>
              <a:rect r="r" b="b" t="t" l="l"/>
              <a:pathLst>
                <a:path h="4115435" w="2876169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2262632" y="0"/>
                  </a:lnTo>
                  <a:cubicBezTo>
                    <a:pt x="2601468" y="0"/>
                    <a:pt x="2876169" y="274701"/>
                    <a:pt x="2876169" y="613537"/>
                  </a:cubicBezTo>
                  <a:lnTo>
                    <a:pt x="2876169" y="3501898"/>
                  </a:lnTo>
                  <a:cubicBezTo>
                    <a:pt x="2876169" y="3840734"/>
                    <a:pt x="2601468" y="4115435"/>
                    <a:pt x="2262632" y="4115435"/>
                  </a:cubicBezTo>
                  <a:lnTo>
                    <a:pt x="613537" y="4115435"/>
                  </a:lnTo>
                  <a:cubicBezTo>
                    <a:pt x="274701" y="4115435"/>
                    <a:pt x="0" y="3840734"/>
                    <a:pt x="0" y="350189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FB923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587113" y="3817744"/>
            <a:ext cx="800700" cy="800729"/>
            <a:chOff x="0" y="0"/>
            <a:chExt cx="1067600" cy="10676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7562" cy="1067562"/>
            </a:xfrm>
            <a:custGeom>
              <a:avLst/>
              <a:gdLst/>
              <a:ahLst/>
              <a:cxnLst/>
              <a:rect r="r" b="b" t="t" l="l"/>
              <a:pathLst>
                <a:path h="1067562" w="1067562">
                  <a:moveTo>
                    <a:pt x="0" y="533781"/>
                  </a:moveTo>
                  <a:cubicBezTo>
                    <a:pt x="0" y="239014"/>
                    <a:pt x="239014" y="0"/>
                    <a:pt x="533781" y="0"/>
                  </a:cubicBezTo>
                  <a:cubicBezTo>
                    <a:pt x="828548" y="0"/>
                    <a:pt x="1067562" y="239014"/>
                    <a:pt x="1067562" y="533781"/>
                  </a:cubicBezTo>
                  <a:cubicBezTo>
                    <a:pt x="1067562" y="828548"/>
                    <a:pt x="828548" y="1067562"/>
                    <a:pt x="533781" y="1067562"/>
                  </a:cubicBezTo>
                  <a:cubicBezTo>
                    <a:pt x="239014" y="1067562"/>
                    <a:pt x="0" y="828675"/>
                    <a:pt x="0" y="533781"/>
                  </a:cubicBezTo>
                  <a:close/>
                </a:path>
              </a:pathLst>
            </a:custGeom>
            <a:solidFill>
              <a:srgbClr val="FB923C">
                <a:alpha val="1961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72993" y="4034266"/>
            <a:ext cx="428949" cy="367675"/>
            <a:chOff x="0" y="0"/>
            <a:chExt cx="571932" cy="490233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571881" cy="490220"/>
            </a:xfrm>
            <a:custGeom>
              <a:avLst/>
              <a:gdLst/>
              <a:ahLst/>
              <a:cxnLst/>
              <a:rect r="r" b="b" t="t" l="l"/>
              <a:pathLst>
                <a:path h="490220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90220"/>
                  </a:lnTo>
                  <a:lnTo>
                    <a:pt x="0" y="49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9" b="-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58430" y="4732858"/>
            <a:ext cx="1058075" cy="400361"/>
            <a:chOff x="0" y="0"/>
            <a:chExt cx="1410767" cy="5338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10766" cy="533811"/>
            </a:xfrm>
            <a:custGeom>
              <a:avLst/>
              <a:gdLst/>
              <a:ahLst/>
              <a:cxnLst/>
              <a:rect r="r" b="b" t="t" l="l"/>
              <a:pathLst>
                <a:path h="533811" w="1410766">
                  <a:moveTo>
                    <a:pt x="0" y="0"/>
                  </a:moveTo>
                  <a:lnTo>
                    <a:pt x="1410766" y="0"/>
                  </a:lnTo>
                  <a:lnTo>
                    <a:pt x="1410766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4" r="0" b="-149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410767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UPLOAD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72816" y="5190420"/>
            <a:ext cx="829304" cy="263742"/>
            <a:chOff x="0" y="0"/>
            <a:chExt cx="1105738" cy="35165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5736" cy="351652"/>
            </a:xfrm>
            <a:custGeom>
              <a:avLst/>
              <a:gdLst/>
              <a:ahLst/>
              <a:cxnLst/>
              <a:rect r="r" b="b" t="t" l="l"/>
              <a:pathLst>
                <a:path h="351652" w="1105736">
                  <a:moveTo>
                    <a:pt x="0" y="0"/>
                  </a:moveTo>
                  <a:lnTo>
                    <a:pt x="1105736" y="0"/>
                  </a:lnTo>
                  <a:lnTo>
                    <a:pt x="1105736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896" r="0" b="-464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105738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1"/>
                </a:lnSpc>
              </a:pPr>
              <a:r>
                <a:rPr lang="en-US" sz="12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PDF / TXT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8164" y="5533587"/>
            <a:ext cx="1658607" cy="872223"/>
            <a:chOff x="0" y="0"/>
            <a:chExt cx="2211476" cy="11629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1578" cy="1162939"/>
            </a:xfrm>
            <a:custGeom>
              <a:avLst/>
              <a:gdLst/>
              <a:ahLst/>
              <a:cxnLst/>
              <a:rect r="r" b="b" t="t" l="l"/>
              <a:pathLst>
                <a:path h="1162939" w="2211578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1906524" y="0"/>
                  </a:lnTo>
                  <a:cubicBezTo>
                    <a:pt x="2074926" y="0"/>
                    <a:pt x="2211578" y="136525"/>
                    <a:pt x="2211578" y="305054"/>
                  </a:cubicBezTo>
                  <a:lnTo>
                    <a:pt x="2211578" y="857885"/>
                  </a:lnTo>
                  <a:cubicBezTo>
                    <a:pt x="2211578" y="1026287"/>
                    <a:pt x="2075053" y="1162939"/>
                    <a:pt x="1906524" y="1162939"/>
                  </a:cubicBezTo>
                  <a:lnTo>
                    <a:pt x="305054" y="1162939"/>
                  </a:lnTo>
                  <a:cubicBezTo>
                    <a:pt x="136525" y="1162939"/>
                    <a:pt x="0" y="1026414"/>
                    <a:pt x="0" y="857885"/>
                  </a:cubicBezTo>
                  <a:close/>
                </a:path>
              </a:pathLst>
            </a:custGeom>
            <a:solidFill>
              <a:srgbClr val="0F172A">
                <a:alpha val="24706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72550" y="5647973"/>
            <a:ext cx="1429826" cy="643440"/>
            <a:chOff x="0" y="0"/>
            <a:chExt cx="1906435" cy="857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6441" cy="857917"/>
            </a:xfrm>
            <a:custGeom>
              <a:avLst/>
              <a:gdLst/>
              <a:ahLst/>
              <a:cxnLst/>
              <a:rect r="r" b="b" t="t" l="l"/>
              <a:pathLst>
                <a:path h="857917" w="1906441">
                  <a:moveTo>
                    <a:pt x="0" y="0"/>
                  </a:moveTo>
                  <a:lnTo>
                    <a:pt x="1906441" y="0"/>
                  </a:lnTo>
                  <a:lnTo>
                    <a:pt x="1906441" y="857917"/>
                  </a:lnTo>
                  <a:lnTo>
                    <a:pt x="0" y="8579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738" t="0" r="-773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906435" cy="87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5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"Patient with chest pain, diabetes..."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231423" y="4994529"/>
            <a:ext cx="343157" cy="248793"/>
            <a:chOff x="0" y="0"/>
            <a:chExt cx="457543" cy="331724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739963" y="3568475"/>
            <a:ext cx="2157136" cy="3086605"/>
            <a:chOff x="0" y="0"/>
            <a:chExt cx="2876182" cy="41154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76169" cy="4115435"/>
            </a:xfrm>
            <a:custGeom>
              <a:avLst/>
              <a:gdLst/>
              <a:ahLst/>
              <a:cxnLst/>
              <a:rect r="r" b="b" t="t" l="l"/>
              <a:pathLst>
                <a:path h="4115435" w="2876169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2262632" y="0"/>
                  </a:lnTo>
                  <a:cubicBezTo>
                    <a:pt x="2601468" y="0"/>
                    <a:pt x="2876169" y="274701"/>
                    <a:pt x="2876169" y="613537"/>
                  </a:cubicBezTo>
                  <a:lnTo>
                    <a:pt x="2876169" y="3501898"/>
                  </a:lnTo>
                  <a:cubicBezTo>
                    <a:pt x="2876169" y="3840734"/>
                    <a:pt x="2601468" y="4115435"/>
                    <a:pt x="2262632" y="4115435"/>
                  </a:cubicBezTo>
                  <a:lnTo>
                    <a:pt x="613537" y="4115435"/>
                  </a:lnTo>
                  <a:cubicBezTo>
                    <a:pt x="274701" y="4115435"/>
                    <a:pt x="0" y="3840734"/>
                    <a:pt x="0" y="350189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418181" y="3817744"/>
            <a:ext cx="800700" cy="800729"/>
            <a:chOff x="0" y="0"/>
            <a:chExt cx="1067600" cy="10676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7562" cy="1067562"/>
            </a:xfrm>
            <a:custGeom>
              <a:avLst/>
              <a:gdLst/>
              <a:ahLst/>
              <a:cxnLst/>
              <a:rect r="r" b="b" t="t" l="l"/>
              <a:pathLst>
                <a:path h="1067562" w="1067562">
                  <a:moveTo>
                    <a:pt x="0" y="533781"/>
                  </a:moveTo>
                  <a:cubicBezTo>
                    <a:pt x="0" y="239014"/>
                    <a:pt x="239014" y="0"/>
                    <a:pt x="533781" y="0"/>
                  </a:cubicBezTo>
                  <a:cubicBezTo>
                    <a:pt x="828548" y="0"/>
                    <a:pt x="1067562" y="239014"/>
                    <a:pt x="1067562" y="533781"/>
                  </a:cubicBezTo>
                  <a:cubicBezTo>
                    <a:pt x="1067562" y="828548"/>
                    <a:pt x="828548" y="1067562"/>
                    <a:pt x="533781" y="1067562"/>
                  </a:cubicBezTo>
                  <a:cubicBezTo>
                    <a:pt x="239014" y="1067562"/>
                    <a:pt x="0" y="828675"/>
                    <a:pt x="0" y="533781"/>
                  </a:cubicBezTo>
                  <a:close/>
                </a:path>
              </a:pathLst>
            </a:custGeom>
            <a:solidFill>
              <a:srgbClr val="38BDF8">
                <a:alpha val="1961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604061" y="4034266"/>
            <a:ext cx="428949" cy="367675"/>
            <a:chOff x="0" y="0"/>
            <a:chExt cx="571932" cy="490233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571881" cy="490220"/>
            </a:xfrm>
            <a:custGeom>
              <a:avLst/>
              <a:gdLst/>
              <a:ahLst/>
              <a:cxnLst/>
              <a:rect r="r" b="b" t="t" l="l"/>
              <a:pathLst>
                <a:path h="490220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90220"/>
                  </a:lnTo>
                  <a:lnTo>
                    <a:pt x="0" y="490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9" b="-2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203706" y="4732858"/>
            <a:ext cx="1215352" cy="400361"/>
            <a:chOff x="0" y="0"/>
            <a:chExt cx="1620469" cy="53381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20474" cy="533811"/>
            </a:xfrm>
            <a:custGeom>
              <a:avLst/>
              <a:gdLst/>
              <a:ahLst/>
              <a:cxnLst/>
              <a:rect r="r" b="b" t="t" l="l"/>
              <a:pathLst>
                <a:path h="533811" w="1620474">
                  <a:moveTo>
                    <a:pt x="0" y="0"/>
                  </a:moveTo>
                  <a:lnTo>
                    <a:pt x="1620474" y="0"/>
                  </a:lnTo>
                  <a:lnTo>
                    <a:pt x="1620474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49" r="0" b="-91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1620469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EXTRACT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318092" y="5190420"/>
            <a:ext cx="1000877" cy="263742"/>
            <a:chOff x="0" y="0"/>
            <a:chExt cx="1334503" cy="35165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34509" cy="351652"/>
            </a:xfrm>
            <a:custGeom>
              <a:avLst/>
              <a:gdLst/>
              <a:ahLst/>
              <a:cxnLst/>
              <a:rect r="r" b="b" t="t" l="l"/>
              <a:pathLst>
                <a:path h="351652" w="1334509">
                  <a:moveTo>
                    <a:pt x="0" y="0"/>
                  </a:moveTo>
                  <a:lnTo>
                    <a:pt x="1334509" y="0"/>
                  </a:lnTo>
                  <a:lnTo>
                    <a:pt x="1334509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572" r="0" b="-1731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334503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1"/>
                </a:lnSpc>
              </a:pPr>
              <a:r>
                <a:rPr lang="en-US" sz="12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Text Parsing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989232" y="5533587"/>
            <a:ext cx="1658607" cy="443255"/>
            <a:chOff x="0" y="0"/>
            <a:chExt cx="2211476" cy="59100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11578" cy="591058"/>
            </a:xfrm>
            <a:custGeom>
              <a:avLst/>
              <a:gdLst/>
              <a:ahLst/>
              <a:cxnLst/>
              <a:rect r="r" b="b" t="t" l="l"/>
              <a:pathLst>
                <a:path h="591058" w="2211578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1916049" y="0"/>
                  </a:lnTo>
                  <a:cubicBezTo>
                    <a:pt x="2079244" y="0"/>
                    <a:pt x="2211578" y="132334"/>
                    <a:pt x="2211578" y="295529"/>
                  </a:cubicBezTo>
                  <a:cubicBezTo>
                    <a:pt x="2211578" y="458724"/>
                    <a:pt x="2079244" y="591058"/>
                    <a:pt x="1916049" y="591058"/>
                  </a:cubicBezTo>
                  <a:lnTo>
                    <a:pt x="295529" y="591058"/>
                  </a:lnTo>
                  <a:cubicBezTo>
                    <a:pt x="132334" y="591058"/>
                    <a:pt x="0" y="458724"/>
                    <a:pt x="0" y="295529"/>
                  </a:cubicBezTo>
                  <a:close/>
                </a:path>
              </a:pathLst>
            </a:custGeom>
            <a:solidFill>
              <a:srgbClr val="0F172A">
                <a:alpha val="24706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103618" y="5647973"/>
            <a:ext cx="1429826" cy="268911"/>
            <a:chOff x="0" y="0"/>
            <a:chExt cx="1906435" cy="35854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06441" cy="358542"/>
            </a:xfrm>
            <a:custGeom>
              <a:avLst/>
              <a:gdLst/>
              <a:ahLst/>
              <a:cxnLst/>
              <a:rect r="r" b="b" t="t" l="l"/>
              <a:pathLst>
                <a:path h="358542" w="1906441">
                  <a:moveTo>
                    <a:pt x="0" y="0"/>
                  </a:moveTo>
                  <a:lnTo>
                    <a:pt x="1906441" y="0"/>
                  </a:lnTo>
                  <a:lnTo>
                    <a:pt x="1906441" y="358542"/>
                  </a:lnTo>
                  <a:lnTo>
                    <a:pt x="0" y="3585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724" r="0" b="-4348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1906435" cy="3775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5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50k char limit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62482" y="4994529"/>
            <a:ext cx="343157" cy="248793"/>
            <a:chOff x="0" y="0"/>
            <a:chExt cx="457543" cy="331724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571031" y="3568475"/>
            <a:ext cx="2157136" cy="3086605"/>
            <a:chOff x="0" y="0"/>
            <a:chExt cx="2876182" cy="411547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876169" cy="4115435"/>
            </a:xfrm>
            <a:custGeom>
              <a:avLst/>
              <a:gdLst/>
              <a:ahLst/>
              <a:cxnLst/>
              <a:rect r="r" b="b" t="t" l="l"/>
              <a:pathLst>
                <a:path h="4115435" w="2876169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2262632" y="0"/>
                  </a:lnTo>
                  <a:cubicBezTo>
                    <a:pt x="2601468" y="0"/>
                    <a:pt x="2876169" y="274701"/>
                    <a:pt x="2876169" y="613537"/>
                  </a:cubicBezTo>
                  <a:lnTo>
                    <a:pt x="2876169" y="3501898"/>
                  </a:lnTo>
                  <a:cubicBezTo>
                    <a:pt x="2876169" y="3840734"/>
                    <a:pt x="2601468" y="4115435"/>
                    <a:pt x="2262632" y="4115435"/>
                  </a:cubicBezTo>
                  <a:lnTo>
                    <a:pt x="613537" y="4115435"/>
                  </a:lnTo>
                  <a:cubicBezTo>
                    <a:pt x="274701" y="4115435"/>
                    <a:pt x="0" y="3840734"/>
                    <a:pt x="0" y="350189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234942" y="3817744"/>
            <a:ext cx="800700" cy="800729"/>
            <a:chOff x="0" y="0"/>
            <a:chExt cx="1067600" cy="106763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7562" cy="1067562"/>
            </a:xfrm>
            <a:custGeom>
              <a:avLst/>
              <a:gdLst/>
              <a:ahLst/>
              <a:cxnLst/>
              <a:rect r="r" b="b" t="t" l="l"/>
              <a:pathLst>
                <a:path h="1067562" w="1067562">
                  <a:moveTo>
                    <a:pt x="0" y="533781"/>
                  </a:moveTo>
                  <a:cubicBezTo>
                    <a:pt x="0" y="239014"/>
                    <a:pt x="239014" y="0"/>
                    <a:pt x="533781" y="0"/>
                  </a:cubicBezTo>
                  <a:cubicBezTo>
                    <a:pt x="828548" y="0"/>
                    <a:pt x="1067562" y="239014"/>
                    <a:pt x="1067562" y="533781"/>
                  </a:cubicBezTo>
                  <a:cubicBezTo>
                    <a:pt x="1067562" y="828548"/>
                    <a:pt x="828548" y="1067562"/>
                    <a:pt x="533781" y="1067562"/>
                  </a:cubicBezTo>
                  <a:cubicBezTo>
                    <a:pt x="239014" y="1067562"/>
                    <a:pt x="0" y="828675"/>
                    <a:pt x="0" y="533781"/>
                  </a:cubicBezTo>
                  <a:close/>
                </a:path>
              </a:pathLst>
            </a:custGeom>
            <a:solidFill>
              <a:srgbClr val="818CF8">
                <a:alpha val="1961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420823" y="4051773"/>
            <a:ext cx="428949" cy="332661"/>
            <a:chOff x="0" y="0"/>
            <a:chExt cx="571932" cy="443547"/>
          </a:xfrm>
        </p:grpSpPr>
        <p:sp>
          <p:nvSpPr>
            <p:cNvPr name="Freeform 58" id="58" descr="image.png"/>
            <p:cNvSpPr/>
            <p:nvPr/>
          </p:nvSpPr>
          <p:spPr>
            <a:xfrm flipH="false" flipV="false" rot="0">
              <a:off x="0" y="0"/>
              <a:ext cx="571881" cy="443611"/>
            </a:xfrm>
            <a:custGeom>
              <a:avLst/>
              <a:gdLst/>
              <a:ahLst/>
              <a:cxnLst/>
              <a:rect r="r" b="b" t="t" l="l"/>
              <a:pathLst>
                <a:path h="443611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43611"/>
                  </a:lnTo>
                  <a:lnTo>
                    <a:pt x="0" y="44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9" b="14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277843" y="4732858"/>
            <a:ext cx="729215" cy="400361"/>
            <a:chOff x="0" y="0"/>
            <a:chExt cx="972287" cy="53381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2284" cy="533811"/>
            </a:xfrm>
            <a:custGeom>
              <a:avLst/>
              <a:gdLst/>
              <a:ahLst/>
              <a:cxnLst/>
              <a:rect r="r" b="b" t="t" l="l"/>
              <a:pathLst>
                <a:path h="533811" w="972284">
                  <a:moveTo>
                    <a:pt x="0" y="0"/>
                  </a:moveTo>
                  <a:lnTo>
                    <a:pt x="972284" y="0"/>
                  </a:lnTo>
                  <a:lnTo>
                    <a:pt x="972284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443" t="0" r="-20443" b="-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972287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LSTM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277843" y="5190420"/>
            <a:ext cx="729215" cy="263742"/>
            <a:chOff x="0" y="0"/>
            <a:chExt cx="972287" cy="35165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72284" cy="351652"/>
            </a:xfrm>
            <a:custGeom>
              <a:avLst/>
              <a:gdLst/>
              <a:ahLst/>
              <a:cxnLst/>
              <a:rect r="r" b="b" t="t" l="l"/>
              <a:pathLst>
                <a:path h="351652" w="972284">
                  <a:moveTo>
                    <a:pt x="0" y="0"/>
                  </a:moveTo>
                  <a:lnTo>
                    <a:pt x="972284" y="0"/>
                  </a:lnTo>
                  <a:lnTo>
                    <a:pt x="972284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01" r="0" b="275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972287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1"/>
                </a:lnSpc>
              </a:pPr>
              <a:r>
                <a:rPr lang="en-US" sz="12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Attention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05994" y="5533587"/>
            <a:ext cx="1658607" cy="443255"/>
            <a:chOff x="0" y="0"/>
            <a:chExt cx="2211476" cy="59100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11578" cy="591058"/>
            </a:xfrm>
            <a:custGeom>
              <a:avLst/>
              <a:gdLst/>
              <a:ahLst/>
              <a:cxnLst/>
              <a:rect r="r" b="b" t="t" l="l"/>
              <a:pathLst>
                <a:path h="591058" w="2211578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1916049" y="0"/>
                  </a:lnTo>
                  <a:cubicBezTo>
                    <a:pt x="2079244" y="0"/>
                    <a:pt x="2211578" y="132334"/>
                    <a:pt x="2211578" y="295529"/>
                  </a:cubicBezTo>
                  <a:cubicBezTo>
                    <a:pt x="2211578" y="458724"/>
                    <a:pt x="2079244" y="591058"/>
                    <a:pt x="1916049" y="591058"/>
                  </a:cubicBezTo>
                  <a:lnTo>
                    <a:pt x="295529" y="591058"/>
                  </a:lnTo>
                  <a:cubicBezTo>
                    <a:pt x="132334" y="591058"/>
                    <a:pt x="0" y="458724"/>
                    <a:pt x="0" y="295529"/>
                  </a:cubicBezTo>
                  <a:close/>
                </a:path>
              </a:pathLst>
            </a:custGeom>
            <a:solidFill>
              <a:srgbClr val="0F172A">
                <a:alpha val="24706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920379" y="5647973"/>
            <a:ext cx="1429826" cy="268911"/>
            <a:chOff x="0" y="0"/>
            <a:chExt cx="1906435" cy="35854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06441" cy="358542"/>
            </a:xfrm>
            <a:custGeom>
              <a:avLst/>
              <a:gdLst/>
              <a:ahLst/>
              <a:cxnLst/>
              <a:rect r="r" b="b" t="t" l="l"/>
              <a:pathLst>
                <a:path h="358542" w="1906441">
                  <a:moveTo>
                    <a:pt x="0" y="0"/>
                  </a:moveTo>
                  <a:lnTo>
                    <a:pt x="1906441" y="0"/>
                  </a:lnTo>
                  <a:lnTo>
                    <a:pt x="1906441" y="358542"/>
                  </a:lnTo>
                  <a:lnTo>
                    <a:pt x="0" y="3585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724" r="0" b="-4348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1906435" cy="3775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5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55% coverage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879253" y="4994529"/>
            <a:ext cx="343157" cy="248793"/>
            <a:chOff x="0" y="0"/>
            <a:chExt cx="457543" cy="331724"/>
          </a:xfrm>
        </p:grpSpPr>
        <p:sp>
          <p:nvSpPr>
            <p:cNvPr name="Freeform 71" id="71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387792" y="3568475"/>
            <a:ext cx="2157136" cy="3086605"/>
            <a:chOff x="0" y="0"/>
            <a:chExt cx="2876182" cy="411547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876169" cy="4115435"/>
            </a:xfrm>
            <a:custGeom>
              <a:avLst/>
              <a:gdLst/>
              <a:ahLst/>
              <a:cxnLst/>
              <a:rect r="r" b="b" t="t" l="l"/>
              <a:pathLst>
                <a:path h="4115435" w="2876169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2262632" y="0"/>
                  </a:lnTo>
                  <a:cubicBezTo>
                    <a:pt x="2601468" y="0"/>
                    <a:pt x="2876169" y="274701"/>
                    <a:pt x="2876169" y="613537"/>
                  </a:cubicBezTo>
                  <a:lnTo>
                    <a:pt x="2876169" y="3501898"/>
                  </a:lnTo>
                  <a:cubicBezTo>
                    <a:pt x="2876169" y="3840734"/>
                    <a:pt x="2601468" y="4115435"/>
                    <a:pt x="2262632" y="4115435"/>
                  </a:cubicBezTo>
                  <a:lnTo>
                    <a:pt x="613537" y="4115435"/>
                  </a:lnTo>
                  <a:cubicBezTo>
                    <a:pt x="274701" y="4115435"/>
                    <a:pt x="0" y="3840734"/>
                    <a:pt x="0" y="350189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0066010" y="3817744"/>
            <a:ext cx="800700" cy="800729"/>
            <a:chOff x="0" y="0"/>
            <a:chExt cx="1067600" cy="106763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7562" cy="1067562"/>
            </a:xfrm>
            <a:custGeom>
              <a:avLst/>
              <a:gdLst/>
              <a:ahLst/>
              <a:cxnLst/>
              <a:rect r="r" b="b" t="t" l="l"/>
              <a:pathLst>
                <a:path h="1067562" w="1067562">
                  <a:moveTo>
                    <a:pt x="0" y="533781"/>
                  </a:moveTo>
                  <a:cubicBezTo>
                    <a:pt x="0" y="239014"/>
                    <a:pt x="239014" y="0"/>
                    <a:pt x="533781" y="0"/>
                  </a:cubicBezTo>
                  <a:cubicBezTo>
                    <a:pt x="828548" y="0"/>
                    <a:pt x="1067562" y="239014"/>
                    <a:pt x="1067562" y="533781"/>
                  </a:cubicBezTo>
                  <a:cubicBezTo>
                    <a:pt x="1067562" y="828548"/>
                    <a:pt x="828548" y="1067562"/>
                    <a:pt x="533781" y="1067562"/>
                  </a:cubicBezTo>
                  <a:cubicBezTo>
                    <a:pt x="239014" y="1067562"/>
                    <a:pt x="0" y="828675"/>
                    <a:pt x="0" y="533781"/>
                  </a:cubicBezTo>
                  <a:close/>
                </a:path>
              </a:pathLst>
            </a:custGeom>
            <a:solidFill>
              <a:srgbClr val="A78BFA">
                <a:alpha val="1961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251891" y="4016759"/>
            <a:ext cx="428949" cy="402698"/>
            <a:chOff x="0" y="0"/>
            <a:chExt cx="571932" cy="536931"/>
          </a:xfrm>
        </p:grpSpPr>
        <p:sp>
          <p:nvSpPr>
            <p:cNvPr name="Freeform 77" id="77" descr="image.png"/>
            <p:cNvSpPr/>
            <p:nvPr/>
          </p:nvSpPr>
          <p:spPr>
            <a:xfrm flipH="false" flipV="false" rot="0">
              <a:off x="0" y="0"/>
              <a:ext cx="571881" cy="536956"/>
            </a:xfrm>
            <a:custGeom>
              <a:avLst/>
              <a:gdLst/>
              <a:ahLst/>
              <a:cxnLst/>
              <a:rect r="r" b="b" t="t" l="l"/>
              <a:pathLst>
                <a:path h="536956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536956"/>
                  </a:lnTo>
                  <a:lnTo>
                    <a:pt x="0" y="536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9" b="4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123208" y="4732858"/>
            <a:ext cx="700621" cy="400361"/>
            <a:chOff x="0" y="0"/>
            <a:chExt cx="934161" cy="53381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34156" cy="533811"/>
            </a:xfrm>
            <a:custGeom>
              <a:avLst/>
              <a:gdLst/>
              <a:ahLst/>
              <a:cxnLst/>
              <a:rect r="r" b="b" t="t" l="l"/>
              <a:pathLst>
                <a:path h="533811" w="934156">
                  <a:moveTo>
                    <a:pt x="0" y="0"/>
                  </a:moveTo>
                  <a:lnTo>
                    <a:pt x="934156" y="0"/>
                  </a:lnTo>
                  <a:lnTo>
                    <a:pt x="934156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3318" t="0" r="-23318" b="-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85725"/>
              <a:ext cx="934161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BART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080307" y="5190420"/>
            <a:ext cx="772106" cy="263742"/>
            <a:chOff x="0" y="0"/>
            <a:chExt cx="1029475" cy="35165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29478" cy="351652"/>
            </a:xfrm>
            <a:custGeom>
              <a:avLst/>
              <a:gdLst/>
              <a:ahLst/>
              <a:cxnLst/>
              <a:rect r="r" b="b" t="t" l="l"/>
              <a:pathLst>
                <a:path h="351652" w="1029478">
                  <a:moveTo>
                    <a:pt x="0" y="0"/>
                  </a:moveTo>
                  <a:lnTo>
                    <a:pt x="1029478" y="0"/>
                  </a:lnTo>
                  <a:lnTo>
                    <a:pt x="1029478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70" r="0" b="-41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1029475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1"/>
                </a:lnSpc>
              </a:pPr>
              <a:r>
                <a:rPr lang="en-US" sz="12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Summary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637062" y="5533587"/>
            <a:ext cx="1658607" cy="443255"/>
            <a:chOff x="0" y="0"/>
            <a:chExt cx="2211476" cy="59100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11578" cy="591058"/>
            </a:xfrm>
            <a:custGeom>
              <a:avLst/>
              <a:gdLst/>
              <a:ahLst/>
              <a:cxnLst/>
              <a:rect r="r" b="b" t="t" l="l"/>
              <a:pathLst>
                <a:path h="591058" w="2211578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1916049" y="0"/>
                  </a:lnTo>
                  <a:cubicBezTo>
                    <a:pt x="2079244" y="0"/>
                    <a:pt x="2211578" y="132334"/>
                    <a:pt x="2211578" y="295529"/>
                  </a:cubicBezTo>
                  <a:cubicBezTo>
                    <a:pt x="2211578" y="458724"/>
                    <a:pt x="2079244" y="591058"/>
                    <a:pt x="1916049" y="591058"/>
                  </a:cubicBezTo>
                  <a:lnTo>
                    <a:pt x="295529" y="591058"/>
                  </a:lnTo>
                  <a:cubicBezTo>
                    <a:pt x="132334" y="591058"/>
                    <a:pt x="0" y="458724"/>
                    <a:pt x="0" y="295529"/>
                  </a:cubicBezTo>
                  <a:close/>
                </a:path>
              </a:pathLst>
            </a:custGeom>
            <a:solidFill>
              <a:srgbClr val="0F172A">
                <a:alpha val="24706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51447" y="5647973"/>
            <a:ext cx="1429826" cy="268911"/>
            <a:chOff x="0" y="0"/>
            <a:chExt cx="1906435" cy="35854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906441" cy="358542"/>
            </a:xfrm>
            <a:custGeom>
              <a:avLst/>
              <a:gdLst/>
              <a:ahLst/>
              <a:cxnLst/>
              <a:rect r="r" b="b" t="t" l="l"/>
              <a:pathLst>
                <a:path h="358542" w="1906441">
                  <a:moveTo>
                    <a:pt x="0" y="0"/>
                  </a:moveTo>
                  <a:lnTo>
                    <a:pt x="1906441" y="0"/>
                  </a:lnTo>
                  <a:lnTo>
                    <a:pt x="1906441" y="358542"/>
                  </a:lnTo>
                  <a:lnTo>
                    <a:pt x="0" y="3585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724" r="0" b="-4348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906435" cy="3775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5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Fluent generation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710321" y="4994529"/>
            <a:ext cx="343157" cy="248793"/>
            <a:chOff x="0" y="0"/>
            <a:chExt cx="457543" cy="331724"/>
          </a:xfrm>
        </p:grpSpPr>
        <p:sp>
          <p:nvSpPr>
            <p:cNvPr name="Freeform 90" id="90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218860" y="3568475"/>
            <a:ext cx="2157136" cy="3086605"/>
            <a:chOff x="0" y="0"/>
            <a:chExt cx="2876182" cy="411547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876169" cy="4115435"/>
            </a:xfrm>
            <a:custGeom>
              <a:avLst/>
              <a:gdLst/>
              <a:ahLst/>
              <a:cxnLst/>
              <a:rect r="r" b="b" t="t" l="l"/>
              <a:pathLst>
                <a:path h="4115435" w="2876169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2262632" y="0"/>
                  </a:lnTo>
                  <a:cubicBezTo>
                    <a:pt x="2601468" y="0"/>
                    <a:pt x="2876169" y="274701"/>
                    <a:pt x="2876169" y="613537"/>
                  </a:cubicBezTo>
                  <a:lnTo>
                    <a:pt x="2876169" y="3501898"/>
                  </a:lnTo>
                  <a:cubicBezTo>
                    <a:pt x="2876169" y="3840734"/>
                    <a:pt x="2601468" y="4115435"/>
                    <a:pt x="2262632" y="4115435"/>
                  </a:cubicBezTo>
                  <a:lnTo>
                    <a:pt x="613537" y="4115435"/>
                  </a:lnTo>
                  <a:cubicBezTo>
                    <a:pt x="274701" y="4115435"/>
                    <a:pt x="0" y="3840734"/>
                    <a:pt x="0" y="350189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EC4899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2897079" y="3817744"/>
            <a:ext cx="800700" cy="800729"/>
            <a:chOff x="0" y="0"/>
            <a:chExt cx="1067600" cy="106763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67562" cy="1067562"/>
            </a:xfrm>
            <a:custGeom>
              <a:avLst/>
              <a:gdLst/>
              <a:ahLst/>
              <a:cxnLst/>
              <a:rect r="r" b="b" t="t" l="l"/>
              <a:pathLst>
                <a:path h="1067562" w="1067562">
                  <a:moveTo>
                    <a:pt x="0" y="533781"/>
                  </a:moveTo>
                  <a:cubicBezTo>
                    <a:pt x="0" y="239014"/>
                    <a:pt x="239014" y="0"/>
                    <a:pt x="533781" y="0"/>
                  </a:cubicBezTo>
                  <a:cubicBezTo>
                    <a:pt x="828548" y="0"/>
                    <a:pt x="1067562" y="239014"/>
                    <a:pt x="1067562" y="533781"/>
                  </a:cubicBezTo>
                  <a:cubicBezTo>
                    <a:pt x="1067562" y="828548"/>
                    <a:pt x="828548" y="1067562"/>
                    <a:pt x="533781" y="1067562"/>
                  </a:cubicBezTo>
                  <a:cubicBezTo>
                    <a:pt x="239014" y="1067562"/>
                    <a:pt x="0" y="828675"/>
                    <a:pt x="0" y="533781"/>
                  </a:cubicBezTo>
                  <a:close/>
                </a:path>
              </a:pathLst>
            </a:custGeom>
            <a:solidFill>
              <a:srgbClr val="EC4899">
                <a:alpha val="1961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082959" y="4043020"/>
            <a:ext cx="428949" cy="350168"/>
            <a:chOff x="0" y="0"/>
            <a:chExt cx="571932" cy="466890"/>
          </a:xfrm>
        </p:grpSpPr>
        <p:sp>
          <p:nvSpPr>
            <p:cNvPr name="Freeform 96" id="96" descr="image.png"/>
            <p:cNvSpPr/>
            <p:nvPr/>
          </p:nvSpPr>
          <p:spPr>
            <a:xfrm flipH="false" flipV="false" rot="0">
              <a:off x="0" y="0"/>
              <a:ext cx="571881" cy="466852"/>
            </a:xfrm>
            <a:custGeom>
              <a:avLst/>
              <a:gdLst/>
              <a:ahLst/>
              <a:cxnLst/>
              <a:rect r="r" b="b" t="t" l="l"/>
              <a:pathLst>
                <a:path h="466852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466852"/>
                  </a:lnTo>
                  <a:lnTo>
                    <a:pt x="0" y="46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-9" b="-8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768396" y="4732858"/>
            <a:ext cx="1072372" cy="400361"/>
            <a:chOff x="0" y="0"/>
            <a:chExt cx="1429830" cy="53381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429831" cy="533811"/>
            </a:xfrm>
            <a:custGeom>
              <a:avLst/>
              <a:gdLst/>
              <a:ahLst/>
              <a:cxnLst/>
              <a:rect r="r" b="b" t="t" l="l"/>
              <a:pathLst>
                <a:path h="533811" w="1429831">
                  <a:moveTo>
                    <a:pt x="0" y="0"/>
                  </a:moveTo>
                  <a:lnTo>
                    <a:pt x="1429831" y="0"/>
                  </a:lnTo>
                  <a:lnTo>
                    <a:pt x="1429831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0" r="0" b="-219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85725"/>
              <a:ext cx="1429830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BioBERT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125850" y="5190420"/>
            <a:ext cx="343157" cy="263742"/>
            <a:chOff x="0" y="0"/>
            <a:chExt cx="457543" cy="35165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57545" cy="351652"/>
            </a:xfrm>
            <a:custGeom>
              <a:avLst/>
              <a:gdLst/>
              <a:ahLst/>
              <a:cxnLst/>
              <a:rect r="r" b="b" t="t" l="l"/>
              <a:pathLst>
                <a:path h="351652" w="457545">
                  <a:moveTo>
                    <a:pt x="0" y="0"/>
                  </a:moveTo>
                  <a:lnTo>
                    <a:pt x="457545" y="0"/>
                  </a:lnTo>
                  <a:lnTo>
                    <a:pt x="457545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5539" t="0" r="-35538" b="1325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457543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1"/>
                </a:lnSpc>
              </a:pPr>
              <a:r>
                <a:rPr lang="en-US" sz="12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NER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468130" y="5533587"/>
            <a:ext cx="1658607" cy="443255"/>
            <a:chOff x="0" y="0"/>
            <a:chExt cx="2211476" cy="59100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11578" cy="591058"/>
            </a:xfrm>
            <a:custGeom>
              <a:avLst/>
              <a:gdLst/>
              <a:ahLst/>
              <a:cxnLst/>
              <a:rect r="r" b="b" t="t" l="l"/>
              <a:pathLst>
                <a:path h="591058" w="2211578">
                  <a:moveTo>
                    <a:pt x="0" y="295529"/>
                  </a:moveTo>
                  <a:cubicBezTo>
                    <a:pt x="0" y="132334"/>
                    <a:pt x="132334" y="0"/>
                    <a:pt x="295529" y="0"/>
                  </a:cubicBezTo>
                  <a:lnTo>
                    <a:pt x="1916049" y="0"/>
                  </a:lnTo>
                  <a:cubicBezTo>
                    <a:pt x="2079244" y="0"/>
                    <a:pt x="2211578" y="132334"/>
                    <a:pt x="2211578" y="295529"/>
                  </a:cubicBezTo>
                  <a:cubicBezTo>
                    <a:pt x="2211578" y="458724"/>
                    <a:pt x="2079244" y="591058"/>
                    <a:pt x="1916049" y="591058"/>
                  </a:cubicBezTo>
                  <a:lnTo>
                    <a:pt x="295529" y="591058"/>
                  </a:lnTo>
                  <a:cubicBezTo>
                    <a:pt x="132334" y="591058"/>
                    <a:pt x="0" y="458724"/>
                    <a:pt x="0" y="295529"/>
                  </a:cubicBezTo>
                  <a:close/>
                </a:path>
              </a:pathLst>
            </a:custGeom>
            <a:solidFill>
              <a:srgbClr val="0F172A">
                <a:alpha val="24706"/>
              </a:srgbClr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582515" y="5647973"/>
            <a:ext cx="1429826" cy="268911"/>
            <a:chOff x="0" y="0"/>
            <a:chExt cx="1906435" cy="35854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06441" cy="358542"/>
            </a:xfrm>
            <a:custGeom>
              <a:avLst/>
              <a:gdLst/>
              <a:ahLst/>
              <a:cxnLst/>
              <a:rect r="r" b="b" t="t" l="l"/>
              <a:pathLst>
                <a:path h="358542" w="1906441">
                  <a:moveTo>
                    <a:pt x="0" y="0"/>
                  </a:moveTo>
                  <a:lnTo>
                    <a:pt x="1906441" y="0"/>
                  </a:lnTo>
                  <a:lnTo>
                    <a:pt x="1906441" y="358542"/>
                  </a:lnTo>
                  <a:lnTo>
                    <a:pt x="0" y="3585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724" r="0" b="-4348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1906435" cy="3775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5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Medical entities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541379" y="4994529"/>
            <a:ext cx="343157" cy="248793"/>
            <a:chOff x="0" y="0"/>
            <a:chExt cx="457543" cy="331724"/>
          </a:xfrm>
        </p:grpSpPr>
        <p:sp>
          <p:nvSpPr>
            <p:cNvPr name="Freeform 109" id="109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6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049929" y="3568475"/>
            <a:ext cx="2157136" cy="3086605"/>
            <a:chOff x="0" y="0"/>
            <a:chExt cx="2876182" cy="411547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876169" cy="4115435"/>
            </a:xfrm>
            <a:custGeom>
              <a:avLst/>
              <a:gdLst/>
              <a:ahLst/>
              <a:cxnLst/>
              <a:rect r="r" b="b" t="t" l="l"/>
              <a:pathLst>
                <a:path h="4115435" w="2876169">
                  <a:moveTo>
                    <a:pt x="0" y="613537"/>
                  </a:moveTo>
                  <a:cubicBezTo>
                    <a:pt x="0" y="274701"/>
                    <a:pt x="274701" y="0"/>
                    <a:pt x="613537" y="0"/>
                  </a:cubicBezTo>
                  <a:lnTo>
                    <a:pt x="2262632" y="0"/>
                  </a:lnTo>
                  <a:cubicBezTo>
                    <a:pt x="2601468" y="0"/>
                    <a:pt x="2876169" y="274701"/>
                    <a:pt x="2876169" y="613537"/>
                  </a:cubicBezTo>
                  <a:lnTo>
                    <a:pt x="2876169" y="3501898"/>
                  </a:lnTo>
                  <a:cubicBezTo>
                    <a:pt x="2876169" y="3840734"/>
                    <a:pt x="2601468" y="4115435"/>
                    <a:pt x="2262632" y="4115435"/>
                  </a:cubicBezTo>
                  <a:lnTo>
                    <a:pt x="613537" y="4115435"/>
                  </a:lnTo>
                  <a:cubicBezTo>
                    <a:pt x="274701" y="4115435"/>
                    <a:pt x="0" y="3840734"/>
                    <a:pt x="0" y="350189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EAB308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5728147" y="3817744"/>
            <a:ext cx="800700" cy="800729"/>
            <a:chOff x="0" y="0"/>
            <a:chExt cx="1067600" cy="106763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067562" cy="1067562"/>
            </a:xfrm>
            <a:custGeom>
              <a:avLst/>
              <a:gdLst/>
              <a:ahLst/>
              <a:cxnLst/>
              <a:rect r="r" b="b" t="t" l="l"/>
              <a:pathLst>
                <a:path h="1067562" w="1067562">
                  <a:moveTo>
                    <a:pt x="0" y="533781"/>
                  </a:moveTo>
                  <a:cubicBezTo>
                    <a:pt x="0" y="239014"/>
                    <a:pt x="239014" y="0"/>
                    <a:pt x="533781" y="0"/>
                  </a:cubicBezTo>
                  <a:cubicBezTo>
                    <a:pt x="828548" y="0"/>
                    <a:pt x="1067562" y="239014"/>
                    <a:pt x="1067562" y="533781"/>
                  </a:cubicBezTo>
                  <a:cubicBezTo>
                    <a:pt x="1067562" y="828548"/>
                    <a:pt x="828548" y="1067562"/>
                    <a:pt x="533781" y="1067562"/>
                  </a:cubicBezTo>
                  <a:cubicBezTo>
                    <a:pt x="239014" y="1067562"/>
                    <a:pt x="0" y="828675"/>
                    <a:pt x="0" y="533781"/>
                  </a:cubicBezTo>
                  <a:close/>
                </a:path>
              </a:pathLst>
            </a:custGeom>
            <a:solidFill>
              <a:srgbClr val="EAB308">
                <a:alpha val="1961"/>
              </a:srgbClr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5914018" y="4016759"/>
            <a:ext cx="428949" cy="402698"/>
            <a:chOff x="0" y="0"/>
            <a:chExt cx="571932" cy="536931"/>
          </a:xfrm>
        </p:grpSpPr>
        <p:sp>
          <p:nvSpPr>
            <p:cNvPr name="Freeform 115" id="115" descr="image.png"/>
            <p:cNvSpPr/>
            <p:nvPr/>
          </p:nvSpPr>
          <p:spPr>
            <a:xfrm flipH="false" flipV="false" rot="0">
              <a:off x="0" y="0"/>
              <a:ext cx="571881" cy="536956"/>
            </a:xfrm>
            <a:custGeom>
              <a:avLst/>
              <a:gdLst/>
              <a:ahLst/>
              <a:cxnLst/>
              <a:rect r="r" b="b" t="t" l="l"/>
              <a:pathLst>
                <a:path h="536956" w="571881">
                  <a:moveTo>
                    <a:pt x="0" y="0"/>
                  </a:moveTo>
                  <a:lnTo>
                    <a:pt x="571881" y="0"/>
                  </a:lnTo>
                  <a:lnTo>
                    <a:pt x="571881" y="536956"/>
                  </a:lnTo>
                  <a:lnTo>
                    <a:pt x="0" y="536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" t="0" r="-9" b="4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5828235" y="4732858"/>
            <a:ext cx="600532" cy="400361"/>
            <a:chOff x="0" y="0"/>
            <a:chExt cx="800710" cy="53381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00704" cy="533811"/>
            </a:xfrm>
            <a:custGeom>
              <a:avLst/>
              <a:gdLst/>
              <a:ahLst/>
              <a:cxnLst/>
              <a:rect r="r" b="b" t="t" l="l"/>
              <a:pathLst>
                <a:path h="533811" w="800704">
                  <a:moveTo>
                    <a:pt x="0" y="0"/>
                  </a:moveTo>
                  <a:lnTo>
                    <a:pt x="800704" y="0"/>
                  </a:lnTo>
                  <a:lnTo>
                    <a:pt x="800704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5538" t="0" r="-35538" b="-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85725"/>
              <a:ext cx="800710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RISK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628058" y="5190420"/>
            <a:ext cx="986580" cy="263742"/>
            <a:chOff x="0" y="0"/>
            <a:chExt cx="1315441" cy="35165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315444" cy="351652"/>
            </a:xfrm>
            <a:custGeom>
              <a:avLst/>
              <a:gdLst/>
              <a:ahLst/>
              <a:cxnLst/>
              <a:rect r="r" b="b" t="t" l="l"/>
              <a:pathLst>
                <a:path h="351652" w="1315444">
                  <a:moveTo>
                    <a:pt x="0" y="0"/>
                  </a:moveTo>
                  <a:lnTo>
                    <a:pt x="1315444" y="0"/>
                  </a:lnTo>
                  <a:lnTo>
                    <a:pt x="1315444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515" r="0" b="-1626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1315441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1"/>
                </a:lnSpc>
              </a:pPr>
              <a:r>
                <a:rPr lang="en-US" sz="1276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Assessment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5299198" y="5533587"/>
            <a:ext cx="1658607" cy="657739"/>
            <a:chOff x="0" y="0"/>
            <a:chExt cx="2211476" cy="87698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11578" cy="877062"/>
            </a:xfrm>
            <a:custGeom>
              <a:avLst/>
              <a:gdLst/>
              <a:ahLst/>
              <a:cxnLst/>
              <a:rect r="r" b="b" t="t" l="l"/>
              <a:pathLst>
                <a:path h="877062" w="2211578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1906524" y="0"/>
                  </a:lnTo>
                  <a:cubicBezTo>
                    <a:pt x="2074926" y="0"/>
                    <a:pt x="2211578" y="136525"/>
                    <a:pt x="2211578" y="305054"/>
                  </a:cubicBezTo>
                  <a:lnTo>
                    <a:pt x="2211578" y="572008"/>
                  </a:lnTo>
                  <a:cubicBezTo>
                    <a:pt x="2211578" y="740410"/>
                    <a:pt x="2075053" y="877062"/>
                    <a:pt x="1906524" y="877062"/>
                  </a:cubicBezTo>
                  <a:lnTo>
                    <a:pt x="305054" y="877062"/>
                  </a:lnTo>
                  <a:cubicBezTo>
                    <a:pt x="136525" y="876935"/>
                    <a:pt x="0" y="740410"/>
                    <a:pt x="0" y="572008"/>
                  </a:cubicBezTo>
                  <a:close/>
                </a:path>
              </a:pathLst>
            </a:custGeom>
            <a:solidFill>
              <a:srgbClr val="0F172A">
                <a:alpha val="24706"/>
              </a:srgbClr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5413584" y="5647973"/>
            <a:ext cx="1429826" cy="428960"/>
            <a:chOff x="0" y="0"/>
            <a:chExt cx="1906435" cy="571947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906441" cy="571949"/>
            </a:xfrm>
            <a:custGeom>
              <a:avLst/>
              <a:gdLst/>
              <a:ahLst/>
              <a:cxnLst/>
              <a:rect r="r" b="b" t="t" l="l"/>
              <a:pathLst>
                <a:path h="571949" w="1906441">
                  <a:moveTo>
                    <a:pt x="0" y="0"/>
                  </a:moveTo>
                  <a:lnTo>
                    <a:pt x="1906441" y="0"/>
                  </a:lnTo>
                  <a:lnTo>
                    <a:pt x="1906441" y="571949"/>
                  </a:lnTo>
                  <a:lnTo>
                    <a:pt x="0" y="5719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48" r="0" b="-14947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1906435" cy="590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35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76.3% confidence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08895" y="6928656"/>
            <a:ext cx="16484051" cy="1756829"/>
            <a:chOff x="0" y="0"/>
            <a:chExt cx="21978734" cy="2342439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1978747" cy="2342515"/>
            </a:xfrm>
            <a:custGeom>
              <a:avLst/>
              <a:gdLst/>
              <a:ahLst/>
              <a:cxnLst/>
              <a:rect r="r" b="b" t="t" l="l"/>
              <a:pathLst>
                <a:path h="2342515" w="21978747">
                  <a:moveTo>
                    <a:pt x="0" y="614426"/>
                  </a:moveTo>
                  <a:cubicBezTo>
                    <a:pt x="0" y="275082"/>
                    <a:pt x="275082" y="0"/>
                    <a:pt x="614426" y="0"/>
                  </a:cubicBezTo>
                  <a:lnTo>
                    <a:pt x="21364321" y="0"/>
                  </a:lnTo>
                  <a:cubicBezTo>
                    <a:pt x="21703664" y="0"/>
                    <a:pt x="21978747" y="275082"/>
                    <a:pt x="21978747" y="614426"/>
                  </a:cubicBezTo>
                  <a:lnTo>
                    <a:pt x="21978747" y="1728089"/>
                  </a:lnTo>
                  <a:cubicBezTo>
                    <a:pt x="21978747" y="2067433"/>
                    <a:pt x="21703664" y="2342515"/>
                    <a:pt x="21364321" y="2342515"/>
                  </a:cubicBezTo>
                  <a:lnTo>
                    <a:pt x="614426" y="2342515"/>
                  </a:lnTo>
                  <a:cubicBezTo>
                    <a:pt x="275082" y="2342388"/>
                    <a:pt x="0" y="2067306"/>
                    <a:pt x="0" y="172808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15352" y="7235123"/>
            <a:ext cx="1143867" cy="1143895"/>
            <a:chOff x="0" y="0"/>
            <a:chExt cx="1525156" cy="152519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525143" cy="1525270"/>
            </a:xfrm>
            <a:custGeom>
              <a:avLst/>
              <a:gdLst/>
              <a:ahLst/>
              <a:cxnLst/>
              <a:rect r="r" b="b" t="t" l="l"/>
              <a:pathLst>
                <a:path h="1525270" w="1525143">
                  <a:moveTo>
                    <a:pt x="0" y="610108"/>
                  </a:moveTo>
                  <a:cubicBezTo>
                    <a:pt x="0" y="273177"/>
                    <a:pt x="273177" y="0"/>
                    <a:pt x="610108" y="0"/>
                  </a:cubicBezTo>
                  <a:lnTo>
                    <a:pt x="915035" y="0"/>
                  </a:lnTo>
                  <a:cubicBezTo>
                    <a:pt x="1251966" y="0"/>
                    <a:pt x="1525143" y="273177"/>
                    <a:pt x="1525143" y="610108"/>
                  </a:cubicBezTo>
                  <a:lnTo>
                    <a:pt x="1525143" y="915162"/>
                  </a:lnTo>
                  <a:cubicBezTo>
                    <a:pt x="1525143" y="1252093"/>
                    <a:pt x="1251966" y="1525270"/>
                    <a:pt x="915035" y="1525270"/>
                  </a:cubicBezTo>
                  <a:lnTo>
                    <a:pt x="610108" y="1525270"/>
                  </a:lnTo>
                  <a:cubicBezTo>
                    <a:pt x="273177" y="1525143"/>
                    <a:pt x="0" y="1252093"/>
                    <a:pt x="0" y="915162"/>
                  </a:cubicBezTo>
                  <a:close/>
                </a:path>
              </a:pathLst>
            </a:custGeom>
            <a:solidFill>
              <a:srgbClr val="22C55E">
                <a:alpha val="1961"/>
              </a:srgbClr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529915" y="7607389"/>
            <a:ext cx="514741" cy="399374"/>
            <a:chOff x="0" y="0"/>
            <a:chExt cx="686321" cy="532498"/>
          </a:xfrm>
        </p:grpSpPr>
        <p:sp>
          <p:nvSpPr>
            <p:cNvPr name="Freeform 132" id="132" descr="image.png"/>
            <p:cNvSpPr/>
            <p:nvPr/>
          </p:nvSpPr>
          <p:spPr>
            <a:xfrm flipH="false" flipV="false" rot="0">
              <a:off x="0" y="0"/>
              <a:ext cx="686308" cy="532511"/>
            </a:xfrm>
            <a:custGeom>
              <a:avLst/>
              <a:gdLst/>
              <a:ahLst/>
              <a:cxnLst/>
              <a:rect r="r" b="b" t="t" l="l"/>
              <a:pathLst>
                <a:path h="532511" w="686308">
                  <a:moveTo>
                    <a:pt x="0" y="0"/>
                  </a:moveTo>
                  <a:lnTo>
                    <a:pt x="686308" y="0"/>
                  </a:lnTo>
                  <a:lnTo>
                    <a:pt x="686308" y="532511"/>
                  </a:lnTo>
                  <a:lnTo>
                    <a:pt x="0" y="532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" t="0" r="-2" b="2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2587990" y="7378113"/>
            <a:ext cx="12396635" cy="417884"/>
            <a:chOff x="0" y="0"/>
            <a:chExt cx="16528847" cy="55717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6528848" cy="557174"/>
            </a:xfrm>
            <a:custGeom>
              <a:avLst/>
              <a:gdLst/>
              <a:ahLst/>
              <a:cxnLst/>
              <a:rect r="r" b="b" t="t" l="l"/>
              <a:pathLst>
                <a:path h="557174" w="16528848">
                  <a:moveTo>
                    <a:pt x="0" y="0"/>
                  </a:moveTo>
                  <a:lnTo>
                    <a:pt x="16528848" y="0"/>
                  </a:lnTo>
                  <a:lnTo>
                    <a:pt x="16528848" y="557174"/>
                  </a:lnTo>
                  <a:lnTo>
                    <a:pt x="0" y="5571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0129" r="0" b="-525937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66675"/>
              <a:ext cx="16528847" cy="623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6"/>
                </a:lnSpc>
              </a:pPr>
              <a:r>
                <a:rPr lang="en-US" sz="199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MEDICAL SLIP DASHBOARD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2587990" y="7892863"/>
            <a:ext cx="12396635" cy="343168"/>
            <a:chOff x="0" y="0"/>
            <a:chExt cx="16528847" cy="457557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6528848" cy="457559"/>
            </a:xfrm>
            <a:custGeom>
              <a:avLst/>
              <a:gdLst/>
              <a:ahLst/>
              <a:cxnLst/>
              <a:rect r="r" b="b" t="t" l="l"/>
              <a:pathLst>
                <a:path h="457559" w="16528848">
                  <a:moveTo>
                    <a:pt x="0" y="0"/>
                  </a:moveTo>
                  <a:lnTo>
                    <a:pt x="16528848" y="0"/>
                  </a:lnTo>
                  <a:lnTo>
                    <a:pt x="16528848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6" r="0" b="-653875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76200"/>
              <a:ext cx="16528847" cy="533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6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Interactive visualization with color-coded entities, risk indicators, and downloadable reports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5207205" y="7443416"/>
            <a:ext cx="1885474" cy="727319"/>
            <a:chOff x="0" y="0"/>
            <a:chExt cx="2513965" cy="969759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513965" cy="969645"/>
            </a:xfrm>
            <a:custGeom>
              <a:avLst/>
              <a:gdLst/>
              <a:ahLst/>
              <a:cxnLst/>
              <a:rect r="r" b="b" t="t" l="l"/>
              <a:pathLst>
                <a:path h="969645" w="2513965">
                  <a:moveTo>
                    <a:pt x="0" y="465455"/>
                  </a:moveTo>
                  <a:cubicBezTo>
                    <a:pt x="0" y="208407"/>
                    <a:pt x="208407" y="0"/>
                    <a:pt x="465455" y="0"/>
                  </a:cubicBezTo>
                  <a:lnTo>
                    <a:pt x="2048510" y="0"/>
                  </a:lnTo>
                  <a:cubicBezTo>
                    <a:pt x="2305558" y="0"/>
                    <a:pt x="2513965" y="208407"/>
                    <a:pt x="2513965" y="465455"/>
                  </a:cubicBezTo>
                  <a:lnTo>
                    <a:pt x="2513965" y="504190"/>
                  </a:lnTo>
                  <a:cubicBezTo>
                    <a:pt x="2513965" y="761238"/>
                    <a:pt x="2305558" y="969645"/>
                    <a:pt x="2048510" y="969645"/>
                  </a:cubicBezTo>
                  <a:lnTo>
                    <a:pt x="465455" y="969645"/>
                  </a:lnTo>
                  <a:cubicBezTo>
                    <a:pt x="208407" y="969772"/>
                    <a:pt x="0" y="761365"/>
                    <a:pt x="0" y="504317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15456475" y="7661224"/>
            <a:ext cx="343157" cy="291694"/>
            <a:chOff x="0" y="0"/>
            <a:chExt cx="457543" cy="388925"/>
          </a:xfrm>
        </p:grpSpPr>
        <p:sp>
          <p:nvSpPr>
            <p:cNvPr name="Freeform 142" id="142" descr="image.png"/>
            <p:cNvSpPr/>
            <p:nvPr/>
          </p:nvSpPr>
          <p:spPr>
            <a:xfrm flipH="false" flipV="false" rot="0">
              <a:off x="0" y="0"/>
              <a:ext cx="457581" cy="388874"/>
            </a:xfrm>
            <a:custGeom>
              <a:avLst/>
              <a:gdLst/>
              <a:ahLst/>
              <a:cxnLst/>
              <a:rect r="r" b="b" t="t" l="l"/>
              <a:pathLst>
                <a:path h="38887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88874"/>
                  </a:lnTo>
                  <a:lnTo>
                    <a:pt x="0" y="388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" t="0" r="6" b="-13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5914018" y="7664091"/>
            <a:ext cx="929392" cy="306859"/>
            <a:chOff x="0" y="0"/>
            <a:chExt cx="1239190" cy="409145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239186" cy="409149"/>
            </a:xfrm>
            <a:custGeom>
              <a:avLst/>
              <a:gdLst/>
              <a:ahLst/>
              <a:cxnLst/>
              <a:rect r="r" b="b" t="t" l="l"/>
              <a:pathLst>
                <a:path h="409149" w="1239186">
                  <a:moveTo>
                    <a:pt x="0" y="0"/>
                  </a:moveTo>
                  <a:lnTo>
                    <a:pt x="1239186" y="0"/>
                  </a:lnTo>
                  <a:lnTo>
                    <a:pt x="123918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18" r="0" b="-561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239190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86EFA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Complete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15095" y="9012450"/>
            <a:ext cx="343157" cy="248793"/>
            <a:chOff x="0" y="0"/>
            <a:chExt cx="457543" cy="331724"/>
          </a:xfrm>
        </p:grpSpPr>
        <p:sp>
          <p:nvSpPr>
            <p:cNvPr name="Freeform 147" id="147" descr="image.png"/>
            <p:cNvSpPr/>
            <p:nvPr/>
          </p:nvSpPr>
          <p:spPr>
            <a:xfrm flipH="false" flipV="false" rot="0">
              <a:off x="0" y="0"/>
              <a:ext cx="457581" cy="331724"/>
            </a:xfrm>
            <a:custGeom>
              <a:avLst/>
              <a:gdLst/>
              <a:ahLst/>
              <a:cxnLst/>
              <a:rect r="r" b="b" t="t" l="l"/>
              <a:pathLst>
                <a:path h="33172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31724"/>
                  </a:lnTo>
                  <a:lnTo>
                    <a:pt x="0" y="331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" t="0" r="6" b="0"/>
              </a:stretch>
            </a:blip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429826" y="8936669"/>
            <a:ext cx="3746154" cy="400361"/>
            <a:chOff x="0" y="0"/>
            <a:chExt cx="4994872" cy="533815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4994876" cy="533811"/>
            </a:xfrm>
            <a:custGeom>
              <a:avLst/>
              <a:gdLst/>
              <a:ahLst/>
              <a:cxnLst/>
              <a:rect r="r" b="b" t="t" l="l"/>
              <a:pathLst>
                <a:path h="533811" w="4994876">
                  <a:moveTo>
                    <a:pt x="0" y="0"/>
                  </a:moveTo>
                  <a:lnTo>
                    <a:pt x="4994876" y="0"/>
                  </a:lnTo>
                  <a:lnTo>
                    <a:pt x="4994876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2320" r="0" b="-132322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85725"/>
              <a:ext cx="4994872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complete system is born...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796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adFill rotWithShape="true">
              <a:gsLst>
                <a:gs pos="0">
                  <a:srgbClr val="818CF8">
                    <a:alpha val="15000"/>
                  </a:srgbClr>
                </a:gs>
                <a:gs pos="50000">
                  <a:srgbClr val="0F172A">
                    <a:alpha val="92000"/>
                  </a:srgbClr>
                </a:gs>
                <a:gs pos="100000">
                  <a:srgbClr val="38BDF8">
                    <a:alpha val="15000"/>
                  </a:srgbClr>
                </a:gs>
              </a:gsLst>
              <a:lin ang="81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8895" y="1194892"/>
            <a:ext cx="1914068" cy="555746"/>
            <a:chOff x="0" y="0"/>
            <a:chExt cx="2552090" cy="740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2065" cy="740918"/>
            </a:xfrm>
            <a:custGeom>
              <a:avLst/>
              <a:gdLst/>
              <a:ahLst/>
              <a:cxnLst/>
              <a:rect r="r" b="b" t="t" l="l"/>
              <a:pathLst>
                <a:path h="740918" w="2552065">
                  <a:moveTo>
                    <a:pt x="0" y="370459"/>
                  </a:moveTo>
                  <a:cubicBezTo>
                    <a:pt x="0" y="165862"/>
                    <a:pt x="165862" y="0"/>
                    <a:pt x="370459" y="0"/>
                  </a:cubicBezTo>
                  <a:lnTo>
                    <a:pt x="2181606" y="0"/>
                  </a:lnTo>
                  <a:cubicBezTo>
                    <a:pt x="2386203" y="0"/>
                    <a:pt x="2552065" y="165862"/>
                    <a:pt x="2552065" y="370459"/>
                  </a:cubicBezTo>
                  <a:cubicBezTo>
                    <a:pt x="2552065" y="575056"/>
                    <a:pt x="2386203" y="740918"/>
                    <a:pt x="2181606" y="740918"/>
                  </a:cubicBezTo>
                  <a:lnTo>
                    <a:pt x="370459" y="740918"/>
                  </a:lnTo>
                  <a:cubicBezTo>
                    <a:pt x="165862" y="741045"/>
                    <a:pt x="0" y="575056"/>
                    <a:pt x="0" y="370459"/>
                  </a:cubicBezTo>
                  <a:close/>
                </a:path>
              </a:pathLst>
            </a:custGeom>
            <a:solidFill>
              <a:srgbClr val="818CF8">
                <a:alpha val="1961"/>
              </a:srgbClr>
            </a:solidFill>
            <a:ln w="12392" cap="sq">
              <a:solidFill>
                <a:srgbClr val="818CF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58164" y="1344073"/>
            <a:ext cx="1415529" cy="306859"/>
            <a:chOff x="0" y="0"/>
            <a:chExt cx="1887372" cy="4091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7376" cy="409149"/>
            </a:xfrm>
            <a:custGeom>
              <a:avLst/>
              <a:gdLst/>
              <a:ahLst/>
              <a:cxnLst/>
              <a:rect r="r" b="b" t="t" l="l"/>
              <a:pathLst>
                <a:path h="409149" w="1887376">
                  <a:moveTo>
                    <a:pt x="0" y="0"/>
                  </a:moveTo>
                  <a:lnTo>
                    <a:pt x="1887376" y="0"/>
                  </a:lnTo>
                  <a:lnTo>
                    <a:pt x="188737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7" r="0" b="-364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87372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 b="true">
                  <a:solidFill>
                    <a:srgbClr val="A5B4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RESULT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5095" y="1916020"/>
            <a:ext cx="16471659" cy="1180953"/>
            <a:chOff x="0" y="0"/>
            <a:chExt cx="21962212" cy="1574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208" cy="1574604"/>
            </a:xfrm>
            <a:custGeom>
              <a:avLst/>
              <a:gdLst/>
              <a:ahLst/>
              <a:cxnLst/>
              <a:rect r="r" b="b" t="t" l="l"/>
              <a:pathLst>
                <a:path h="1574604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1574604"/>
                  </a:lnTo>
                  <a:lnTo>
                    <a:pt x="0" y="1574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368" r="0" b="-2171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1962212" cy="1650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89"/>
                </a:lnSpc>
              </a:pPr>
              <a:r>
                <a:rPr lang="en-US" b="true" sz="5586">
                  <a:solidFill>
                    <a:srgbClr val="CBD5E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MEDIREPORTER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5095" y="3117113"/>
            <a:ext cx="16471659" cy="493745"/>
            <a:chOff x="0" y="0"/>
            <a:chExt cx="21962212" cy="6583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62208" cy="658321"/>
            </a:xfrm>
            <a:custGeom>
              <a:avLst/>
              <a:gdLst/>
              <a:ahLst/>
              <a:cxnLst/>
              <a:rect r="r" b="b" t="t" l="l"/>
              <a:pathLst>
                <a:path h="658321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658321"/>
                  </a:lnTo>
                  <a:lnTo>
                    <a:pt x="0" y="658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703" r="0" b="-5963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1962212" cy="725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2"/>
                </a:lnSpc>
              </a:pPr>
              <a:r>
                <a:rPr lang="en-US" sz="2354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From Vision to Reality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8895" y="3797246"/>
            <a:ext cx="4630750" cy="3444069"/>
            <a:chOff x="0" y="0"/>
            <a:chExt cx="6174334" cy="45920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74359" cy="4592066"/>
            </a:xfrm>
            <a:custGeom>
              <a:avLst/>
              <a:gdLst/>
              <a:ahLst/>
              <a:cxnLst/>
              <a:rect r="r" b="b" t="t" l="l"/>
              <a:pathLst>
                <a:path h="4592066" w="6174359">
                  <a:moveTo>
                    <a:pt x="0" y="612267"/>
                  </a:moveTo>
                  <a:cubicBezTo>
                    <a:pt x="0" y="274066"/>
                    <a:pt x="274066" y="0"/>
                    <a:pt x="612267" y="0"/>
                  </a:cubicBezTo>
                  <a:lnTo>
                    <a:pt x="5562092" y="0"/>
                  </a:lnTo>
                  <a:cubicBezTo>
                    <a:pt x="5900293" y="0"/>
                    <a:pt x="6174359" y="274066"/>
                    <a:pt x="6174359" y="612267"/>
                  </a:cubicBezTo>
                  <a:lnTo>
                    <a:pt x="6174359" y="3979799"/>
                  </a:lnTo>
                  <a:cubicBezTo>
                    <a:pt x="6174359" y="4318000"/>
                    <a:pt x="5900293" y="4592066"/>
                    <a:pt x="5562092" y="4592066"/>
                  </a:cubicBezTo>
                  <a:lnTo>
                    <a:pt x="612267" y="4592066"/>
                  </a:lnTo>
                  <a:cubicBezTo>
                    <a:pt x="274066" y="4592066"/>
                    <a:pt x="0" y="4318000"/>
                    <a:pt x="0" y="397979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15352" y="4197077"/>
            <a:ext cx="285969" cy="185042"/>
            <a:chOff x="0" y="0"/>
            <a:chExt cx="381292" cy="246723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81254" cy="246761"/>
            </a:xfrm>
            <a:custGeom>
              <a:avLst/>
              <a:gdLst/>
              <a:ahLst/>
              <a:cxnLst/>
              <a:rect r="r" b="b" t="t" l="l"/>
              <a:pathLst>
                <a:path h="246761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46761"/>
                  </a:lnTo>
                  <a:lnTo>
                    <a:pt x="0" y="246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8" b="1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15707" y="4089416"/>
            <a:ext cx="1000877" cy="400361"/>
            <a:chOff x="0" y="0"/>
            <a:chExt cx="1334503" cy="5338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4509" cy="533811"/>
            </a:xfrm>
            <a:custGeom>
              <a:avLst/>
              <a:gdLst/>
              <a:ahLst/>
              <a:cxnLst/>
              <a:rect r="r" b="b" t="t" l="l"/>
              <a:pathLst>
                <a:path h="533811" w="1334509">
                  <a:moveTo>
                    <a:pt x="0" y="0"/>
                  </a:moveTo>
                  <a:lnTo>
                    <a:pt x="1334509" y="0"/>
                  </a:lnTo>
                  <a:lnTo>
                    <a:pt x="1334509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3" t="0" r="-1322" b="-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334503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BEFORE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5352" y="4763500"/>
            <a:ext cx="228771" cy="196091"/>
            <a:chOff x="0" y="0"/>
            <a:chExt cx="305029" cy="261455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05054" cy="261493"/>
            </a:xfrm>
            <a:custGeom>
              <a:avLst/>
              <a:gdLst/>
              <a:ahLst/>
              <a:cxnLst/>
              <a:rect r="r" b="b" t="t" l="l"/>
              <a:pathLst>
                <a:path h="261493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5" b="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58519" y="4661364"/>
            <a:ext cx="2130447" cy="306859"/>
            <a:chOff x="0" y="0"/>
            <a:chExt cx="2840596" cy="4091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40597" cy="409149"/>
            </a:xfrm>
            <a:custGeom>
              <a:avLst/>
              <a:gdLst/>
              <a:ahLst/>
              <a:cxnLst/>
              <a:rect r="r" b="b" t="t" l="l"/>
              <a:pathLst>
                <a:path h="409149" w="2840597">
                  <a:moveTo>
                    <a:pt x="0" y="0"/>
                  </a:moveTo>
                  <a:lnTo>
                    <a:pt x="2840597" y="0"/>
                  </a:lnTo>
                  <a:lnTo>
                    <a:pt x="2840597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82" r="0" b="-8187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840596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2 hours manual review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15352" y="5253742"/>
            <a:ext cx="228771" cy="187928"/>
            <a:chOff x="0" y="0"/>
            <a:chExt cx="305029" cy="250571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05054" cy="250571"/>
            </a:xfrm>
            <a:custGeom>
              <a:avLst/>
              <a:gdLst/>
              <a:ahLst/>
              <a:cxnLst/>
              <a:rect r="r" b="b" t="t" l="l"/>
              <a:pathLst>
                <a:path h="250571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50571"/>
                  </a:lnTo>
                  <a:lnTo>
                    <a:pt x="0" y="250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5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58519" y="5147520"/>
            <a:ext cx="1801587" cy="306859"/>
            <a:chOff x="0" y="0"/>
            <a:chExt cx="2402116" cy="4091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02115" cy="409149"/>
            </a:xfrm>
            <a:custGeom>
              <a:avLst/>
              <a:gdLst/>
              <a:ahLst/>
              <a:cxnLst/>
              <a:rect r="r" b="b" t="t" l="l"/>
              <a:pathLst>
                <a:path h="409149" w="2402115">
                  <a:moveTo>
                    <a:pt x="0" y="0"/>
                  </a:moveTo>
                  <a:lnTo>
                    <a:pt x="2402115" y="0"/>
                  </a:lnTo>
                  <a:lnTo>
                    <a:pt x="2402115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01" r="0" b="-6099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402116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Missed risk factors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5352" y="5729678"/>
            <a:ext cx="228771" cy="208350"/>
            <a:chOff x="0" y="0"/>
            <a:chExt cx="305029" cy="2778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05054" cy="277749"/>
            </a:xfrm>
            <a:custGeom>
              <a:avLst/>
              <a:gdLst/>
              <a:ahLst/>
              <a:cxnLst/>
              <a:rect r="r" b="b" t="t" l="l"/>
              <a:pathLst>
                <a:path h="277749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77749"/>
                  </a:lnTo>
                  <a:lnTo>
                    <a:pt x="0" y="277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5" b="-18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58519" y="5633676"/>
            <a:ext cx="1701498" cy="306859"/>
            <a:chOff x="0" y="0"/>
            <a:chExt cx="2268664" cy="4091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68664" cy="409149"/>
            </a:xfrm>
            <a:custGeom>
              <a:avLst/>
              <a:gdLst/>
              <a:ahLst/>
              <a:cxnLst/>
              <a:rect r="r" b="b" t="t" l="l"/>
              <a:pathLst>
                <a:path h="409149" w="2268664">
                  <a:moveTo>
                    <a:pt x="0" y="0"/>
                  </a:moveTo>
                  <a:lnTo>
                    <a:pt x="2268664" y="0"/>
                  </a:lnTo>
                  <a:lnTo>
                    <a:pt x="2268664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45" r="0" b="-5463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268664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Physician burnout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15352" y="6221968"/>
            <a:ext cx="228771" cy="196091"/>
            <a:chOff x="0" y="0"/>
            <a:chExt cx="305029" cy="261455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05054" cy="261493"/>
            </a:xfrm>
            <a:custGeom>
              <a:avLst/>
              <a:gdLst/>
              <a:ahLst/>
              <a:cxnLst/>
              <a:rect r="r" b="b" t="t" l="l"/>
              <a:pathLst>
                <a:path h="261493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5" b="14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58519" y="6119832"/>
            <a:ext cx="1329738" cy="306859"/>
            <a:chOff x="0" y="0"/>
            <a:chExt cx="1772983" cy="40914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72989" cy="409149"/>
            </a:xfrm>
            <a:custGeom>
              <a:avLst/>
              <a:gdLst/>
              <a:ahLst/>
              <a:cxnLst/>
              <a:rect r="r" b="b" t="t" l="l"/>
              <a:pathLst>
                <a:path h="409149" w="1772989">
                  <a:moveTo>
                    <a:pt x="0" y="0"/>
                  </a:moveTo>
                  <a:lnTo>
                    <a:pt x="1772989" y="0"/>
                  </a:lnTo>
                  <a:lnTo>
                    <a:pt x="1772989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39" r="0" b="-3103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772983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Critical delays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962393" y="5279974"/>
            <a:ext cx="686314" cy="478631"/>
            <a:chOff x="0" y="0"/>
            <a:chExt cx="915086" cy="638175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915035" cy="638175"/>
            </a:xfrm>
            <a:custGeom>
              <a:avLst/>
              <a:gdLst/>
              <a:ahLst/>
              <a:cxnLst/>
              <a:rect r="r" b="b" t="t" l="l"/>
              <a:pathLst>
                <a:path h="638175" w="915035">
                  <a:moveTo>
                    <a:pt x="0" y="0"/>
                  </a:moveTo>
                  <a:lnTo>
                    <a:pt x="915035" y="0"/>
                  </a:lnTo>
                  <a:lnTo>
                    <a:pt x="915035" y="638175"/>
                  </a:lnTo>
                  <a:lnTo>
                    <a:pt x="0" y="638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-7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085762" y="3797246"/>
            <a:ext cx="4630750" cy="3444069"/>
            <a:chOff x="0" y="0"/>
            <a:chExt cx="6174334" cy="45920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74359" cy="4592066"/>
            </a:xfrm>
            <a:custGeom>
              <a:avLst/>
              <a:gdLst/>
              <a:ahLst/>
              <a:cxnLst/>
              <a:rect r="r" b="b" t="t" l="l"/>
              <a:pathLst>
                <a:path h="4592066" w="6174359">
                  <a:moveTo>
                    <a:pt x="0" y="612267"/>
                  </a:moveTo>
                  <a:cubicBezTo>
                    <a:pt x="0" y="274066"/>
                    <a:pt x="274066" y="0"/>
                    <a:pt x="612267" y="0"/>
                  </a:cubicBezTo>
                  <a:lnTo>
                    <a:pt x="5562092" y="0"/>
                  </a:lnTo>
                  <a:cubicBezTo>
                    <a:pt x="5900293" y="0"/>
                    <a:pt x="6174359" y="274066"/>
                    <a:pt x="6174359" y="612267"/>
                  </a:cubicBezTo>
                  <a:lnTo>
                    <a:pt x="6174359" y="3979799"/>
                  </a:lnTo>
                  <a:cubicBezTo>
                    <a:pt x="6174359" y="4318000"/>
                    <a:pt x="5900293" y="4592066"/>
                    <a:pt x="5562092" y="4592066"/>
                  </a:cubicBezTo>
                  <a:lnTo>
                    <a:pt x="612267" y="4592066"/>
                  </a:lnTo>
                  <a:cubicBezTo>
                    <a:pt x="274066" y="4592066"/>
                    <a:pt x="0" y="4318000"/>
                    <a:pt x="0" y="397979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392229" y="4167645"/>
            <a:ext cx="285969" cy="243916"/>
            <a:chOff x="0" y="0"/>
            <a:chExt cx="381292" cy="325222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381254" cy="325247"/>
            </a:xfrm>
            <a:custGeom>
              <a:avLst/>
              <a:gdLst/>
              <a:ahLst/>
              <a:cxnLst/>
              <a:rect r="r" b="b" t="t" l="l"/>
              <a:pathLst>
                <a:path h="325247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25247"/>
                  </a:lnTo>
                  <a:lnTo>
                    <a:pt x="0" y="32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t="0" r="-8" b="7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792583" y="4089416"/>
            <a:ext cx="843601" cy="400361"/>
            <a:chOff x="0" y="0"/>
            <a:chExt cx="1124801" cy="53381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4799" cy="533811"/>
            </a:xfrm>
            <a:custGeom>
              <a:avLst/>
              <a:gdLst/>
              <a:ahLst/>
              <a:cxnLst/>
              <a:rect r="r" b="b" t="t" l="l"/>
              <a:pathLst>
                <a:path h="533811" w="1124799">
                  <a:moveTo>
                    <a:pt x="0" y="0"/>
                  </a:moveTo>
                  <a:lnTo>
                    <a:pt x="1124799" y="0"/>
                  </a:lnTo>
                  <a:lnTo>
                    <a:pt x="1124799" y="533811"/>
                  </a:lnTo>
                  <a:lnTo>
                    <a:pt x="0" y="533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891" t="0" r="-10891" b="-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85725"/>
              <a:ext cx="1124801" cy="61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1815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AFTER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92229" y="4771673"/>
            <a:ext cx="228771" cy="179756"/>
            <a:chOff x="0" y="0"/>
            <a:chExt cx="305029" cy="239674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305054" cy="239649"/>
            </a:xfrm>
            <a:custGeom>
              <a:avLst/>
              <a:gdLst/>
              <a:ahLst/>
              <a:cxnLst/>
              <a:rect r="r" b="b" t="t" l="l"/>
              <a:pathLst>
                <a:path h="239649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39649"/>
                  </a:lnTo>
                  <a:lnTo>
                    <a:pt x="0" y="239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5" b="-1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735386" y="4661364"/>
            <a:ext cx="2230536" cy="306859"/>
            <a:chOff x="0" y="0"/>
            <a:chExt cx="2974048" cy="40914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74048" cy="409149"/>
            </a:xfrm>
            <a:custGeom>
              <a:avLst/>
              <a:gdLst/>
              <a:ahLst/>
              <a:cxnLst/>
              <a:rect r="r" b="b" t="t" l="l"/>
              <a:pathLst>
                <a:path h="409149" w="2974048">
                  <a:moveTo>
                    <a:pt x="0" y="0"/>
                  </a:moveTo>
                  <a:lnTo>
                    <a:pt x="2974048" y="0"/>
                  </a:lnTo>
                  <a:lnTo>
                    <a:pt x="2974048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38" r="0" b="-8822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974048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2.3 seconds AI analysis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392229" y="5245570"/>
            <a:ext cx="228771" cy="204264"/>
            <a:chOff x="0" y="0"/>
            <a:chExt cx="305029" cy="272352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305054" cy="272415"/>
            </a:xfrm>
            <a:custGeom>
              <a:avLst/>
              <a:gdLst/>
              <a:ahLst/>
              <a:cxnLst/>
              <a:rect r="r" b="b" t="t" l="l"/>
              <a:pathLst>
                <a:path h="272415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72415"/>
                  </a:lnTo>
                  <a:lnTo>
                    <a:pt x="0" y="272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" t="0" r="5" b="23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735386" y="5147520"/>
            <a:ext cx="1487024" cy="306859"/>
            <a:chOff x="0" y="0"/>
            <a:chExt cx="1982699" cy="4091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82699" cy="409149"/>
            </a:xfrm>
            <a:custGeom>
              <a:avLst/>
              <a:gdLst/>
              <a:ahLst/>
              <a:cxnLst/>
              <a:rect r="r" b="b" t="t" l="l"/>
              <a:pathLst>
                <a:path h="409149" w="1982699">
                  <a:moveTo>
                    <a:pt x="0" y="0"/>
                  </a:moveTo>
                  <a:lnTo>
                    <a:pt x="1982699" y="0"/>
                  </a:lnTo>
                  <a:lnTo>
                    <a:pt x="1982699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26" r="0" b="-4101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982699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76%+ accuracy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392229" y="5746023"/>
            <a:ext cx="228771" cy="175670"/>
            <a:chOff x="0" y="0"/>
            <a:chExt cx="305029" cy="234226"/>
          </a:xfrm>
        </p:grpSpPr>
        <p:sp>
          <p:nvSpPr>
            <p:cNvPr name="Freeform 62" id="62" descr="image.png"/>
            <p:cNvSpPr/>
            <p:nvPr/>
          </p:nvSpPr>
          <p:spPr>
            <a:xfrm flipH="false" flipV="false" rot="0">
              <a:off x="0" y="0"/>
              <a:ext cx="305054" cy="234188"/>
            </a:xfrm>
            <a:custGeom>
              <a:avLst/>
              <a:gdLst/>
              <a:ahLst/>
              <a:cxnLst/>
              <a:rect r="r" b="b" t="t" l="l"/>
              <a:pathLst>
                <a:path h="234188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34188"/>
                  </a:lnTo>
                  <a:lnTo>
                    <a:pt x="0" y="234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" t="0" r="5" b="-16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7735386" y="5633676"/>
            <a:ext cx="1787290" cy="306859"/>
            <a:chOff x="0" y="0"/>
            <a:chExt cx="2383053" cy="40914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83052" cy="409149"/>
            </a:xfrm>
            <a:custGeom>
              <a:avLst/>
              <a:gdLst/>
              <a:ahLst/>
              <a:cxnLst/>
              <a:rect r="r" b="b" t="t" l="l"/>
              <a:pathLst>
                <a:path h="409149" w="2383052">
                  <a:moveTo>
                    <a:pt x="0" y="0"/>
                  </a:moveTo>
                  <a:lnTo>
                    <a:pt x="2383052" y="0"/>
                  </a:lnTo>
                  <a:lnTo>
                    <a:pt x="2383052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93" r="0" b="-6008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383053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Actionable insights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392229" y="6221968"/>
            <a:ext cx="228771" cy="196091"/>
            <a:chOff x="0" y="0"/>
            <a:chExt cx="305029" cy="261455"/>
          </a:xfrm>
        </p:grpSpPr>
        <p:sp>
          <p:nvSpPr>
            <p:cNvPr name="Freeform 67" id="67" descr="image.png"/>
            <p:cNvSpPr/>
            <p:nvPr/>
          </p:nvSpPr>
          <p:spPr>
            <a:xfrm flipH="false" flipV="false" rot="0">
              <a:off x="0" y="0"/>
              <a:ext cx="305054" cy="261493"/>
            </a:xfrm>
            <a:custGeom>
              <a:avLst/>
              <a:gdLst/>
              <a:ahLst/>
              <a:cxnLst/>
              <a:rect r="r" b="b" t="t" l="l"/>
              <a:pathLst>
                <a:path h="261493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" t="0" r="5" b="14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735386" y="6119832"/>
            <a:ext cx="1329738" cy="306859"/>
            <a:chOff x="0" y="0"/>
            <a:chExt cx="1772983" cy="40914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72989" cy="409149"/>
            </a:xfrm>
            <a:custGeom>
              <a:avLst/>
              <a:gdLst/>
              <a:ahLst/>
              <a:cxnLst/>
              <a:rect r="r" b="b" t="t" l="l"/>
              <a:pathLst>
                <a:path h="409149" w="1772989">
                  <a:moveTo>
                    <a:pt x="0" y="0"/>
                  </a:moveTo>
                  <a:lnTo>
                    <a:pt x="1772989" y="0"/>
                  </a:lnTo>
                  <a:lnTo>
                    <a:pt x="1772989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39" r="0" b="-310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772983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Instant results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975792" y="3797246"/>
            <a:ext cx="5288470" cy="3444069"/>
            <a:chOff x="0" y="0"/>
            <a:chExt cx="7051294" cy="45920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051294" cy="4592066"/>
            </a:xfrm>
            <a:custGeom>
              <a:avLst/>
              <a:gdLst/>
              <a:ahLst/>
              <a:cxnLst/>
              <a:rect r="r" b="b" t="t" l="l"/>
              <a:pathLst>
                <a:path h="4592066" w="7051294">
                  <a:moveTo>
                    <a:pt x="0" y="612267"/>
                  </a:moveTo>
                  <a:cubicBezTo>
                    <a:pt x="0" y="274066"/>
                    <a:pt x="274066" y="0"/>
                    <a:pt x="612267" y="0"/>
                  </a:cubicBezTo>
                  <a:lnTo>
                    <a:pt x="6439027" y="0"/>
                  </a:lnTo>
                  <a:cubicBezTo>
                    <a:pt x="6777228" y="0"/>
                    <a:pt x="7051294" y="274066"/>
                    <a:pt x="7051294" y="612267"/>
                  </a:cubicBezTo>
                  <a:lnTo>
                    <a:pt x="7051294" y="3979799"/>
                  </a:lnTo>
                  <a:cubicBezTo>
                    <a:pt x="7051294" y="4318000"/>
                    <a:pt x="6777228" y="4592066"/>
                    <a:pt x="6439027" y="4592066"/>
                  </a:cubicBezTo>
                  <a:lnTo>
                    <a:pt x="612267" y="4592066"/>
                  </a:lnTo>
                  <a:cubicBezTo>
                    <a:pt x="274066" y="4592066"/>
                    <a:pt x="0" y="4318000"/>
                    <a:pt x="0" y="397979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2282249" y="4176055"/>
            <a:ext cx="285969" cy="227095"/>
            <a:chOff x="0" y="0"/>
            <a:chExt cx="381292" cy="302793"/>
          </a:xfrm>
        </p:grpSpPr>
        <p:sp>
          <p:nvSpPr>
            <p:cNvPr name="Freeform 74" id="74" descr="image.png"/>
            <p:cNvSpPr/>
            <p:nvPr/>
          </p:nvSpPr>
          <p:spPr>
            <a:xfrm flipH="false" flipV="false" rot="0">
              <a:off x="0" y="0"/>
              <a:ext cx="381254" cy="302768"/>
            </a:xfrm>
            <a:custGeom>
              <a:avLst/>
              <a:gdLst/>
              <a:ahLst/>
              <a:cxnLst/>
              <a:rect r="r" b="b" t="t" l="l"/>
              <a:pathLst>
                <a:path h="302768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02768"/>
                  </a:lnTo>
                  <a:lnTo>
                    <a:pt x="0" y="302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" t="0" r="-8" b="-8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276058" y="4655172"/>
            <a:ext cx="2285829" cy="727319"/>
            <a:chOff x="0" y="0"/>
            <a:chExt cx="3047771" cy="96975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47873" cy="969772"/>
            </a:xfrm>
            <a:custGeom>
              <a:avLst/>
              <a:gdLst/>
              <a:ahLst/>
              <a:cxnLst/>
              <a:rect r="r" b="b" t="t" l="l"/>
              <a:pathLst>
                <a:path h="969772" w="3047873">
                  <a:moveTo>
                    <a:pt x="0" y="310388"/>
                  </a:moveTo>
                  <a:cubicBezTo>
                    <a:pt x="0" y="138938"/>
                    <a:pt x="138938" y="0"/>
                    <a:pt x="310388" y="0"/>
                  </a:cubicBezTo>
                  <a:lnTo>
                    <a:pt x="2737485" y="0"/>
                  </a:lnTo>
                  <a:cubicBezTo>
                    <a:pt x="2908935" y="0"/>
                    <a:pt x="3047873" y="138938"/>
                    <a:pt x="3047873" y="310388"/>
                  </a:cubicBezTo>
                  <a:lnTo>
                    <a:pt x="3047873" y="659384"/>
                  </a:lnTo>
                  <a:cubicBezTo>
                    <a:pt x="3047873" y="830834"/>
                    <a:pt x="2908935" y="969772"/>
                    <a:pt x="2737485" y="969772"/>
                  </a:cubicBezTo>
                  <a:lnTo>
                    <a:pt x="310388" y="969772"/>
                  </a:lnTo>
                  <a:cubicBezTo>
                    <a:pt x="138938" y="969772"/>
                    <a:pt x="0" y="830834"/>
                    <a:pt x="0" y="659384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410932" y="4943256"/>
            <a:ext cx="228771" cy="179756"/>
            <a:chOff x="0" y="0"/>
            <a:chExt cx="305029" cy="239674"/>
          </a:xfrm>
        </p:grpSpPr>
        <p:sp>
          <p:nvSpPr>
            <p:cNvPr name="Freeform 78" id="78" descr="image.png"/>
            <p:cNvSpPr/>
            <p:nvPr/>
          </p:nvSpPr>
          <p:spPr>
            <a:xfrm flipH="false" flipV="false" rot="0">
              <a:off x="0" y="0"/>
              <a:ext cx="305054" cy="239649"/>
            </a:xfrm>
            <a:custGeom>
              <a:avLst/>
              <a:gdLst/>
              <a:ahLst/>
              <a:cxnLst/>
              <a:rect r="r" b="b" t="t" l="l"/>
              <a:pathLst>
                <a:path h="239649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39649"/>
                  </a:lnTo>
                  <a:lnTo>
                    <a:pt x="0" y="239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5" b="-1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754099" y="4918739"/>
            <a:ext cx="1558519" cy="263742"/>
            <a:chOff x="0" y="0"/>
            <a:chExt cx="2078025" cy="35165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078021" cy="351652"/>
            </a:xfrm>
            <a:custGeom>
              <a:avLst/>
              <a:gdLst/>
              <a:ahLst/>
              <a:cxnLst/>
              <a:rect r="r" b="b" t="t" l="l"/>
              <a:pathLst>
                <a:path h="351652" w="2078021">
                  <a:moveTo>
                    <a:pt x="0" y="0"/>
                  </a:moveTo>
                  <a:lnTo>
                    <a:pt x="2078021" y="0"/>
                  </a:lnTo>
                  <a:lnTo>
                    <a:pt x="2078021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70" r="0" b="-5851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2078025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3-Stage AI Pipeline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678168" y="4655172"/>
            <a:ext cx="2285829" cy="727319"/>
            <a:chOff x="0" y="0"/>
            <a:chExt cx="3047771" cy="96975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047873" cy="969772"/>
            </a:xfrm>
            <a:custGeom>
              <a:avLst/>
              <a:gdLst/>
              <a:ahLst/>
              <a:cxnLst/>
              <a:rect r="r" b="b" t="t" l="l"/>
              <a:pathLst>
                <a:path h="969772" w="3047873">
                  <a:moveTo>
                    <a:pt x="0" y="310388"/>
                  </a:moveTo>
                  <a:cubicBezTo>
                    <a:pt x="0" y="138938"/>
                    <a:pt x="138938" y="0"/>
                    <a:pt x="310388" y="0"/>
                  </a:cubicBezTo>
                  <a:lnTo>
                    <a:pt x="2737485" y="0"/>
                  </a:lnTo>
                  <a:cubicBezTo>
                    <a:pt x="2908935" y="0"/>
                    <a:pt x="3047873" y="138938"/>
                    <a:pt x="3047873" y="310388"/>
                  </a:cubicBezTo>
                  <a:lnTo>
                    <a:pt x="3047873" y="659384"/>
                  </a:lnTo>
                  <a:cubicBezTo>
                    <a:pt x="3047873" y="830834"/>
                    <a:pt x="2908935" y="969772"/>
                    <a:pt x="2737485" y="969772"/>
                  </a:cubicBezTo>
                  <a:lnTo>
                    <a:pt x="310388" y="969772"/>
                  </a:lnTo>
                  <a:cubicBezTo>
                    <a:pt x="138938" y="969772"/>
                    <a:pt x="0" y="830834"/>
                    <a:pt x="0" y="659384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4813051" y="4943256"/>
            <a:ext cx="228771" cy="179756"/>
            <a:chOff x="0" y="0"/>
            <a:chExt cx="305029" cy="239674"/>
          </a:xfrm>
        </p:grpSpPr>
        <p:sp>
          <p:nvSpPr>
            <p:cNvPr name="Freeform 85" id="85" descr="image.png"/>
            <p:cNvSpPr/>
            <p:nvPr/>
          </p:nvSpPr>
          <p:spPr>
            <a:xfrm flipH="false" flipV="false" rot="0">
              <a:off x="0" y="0"/>
              <a:ext cx="305054" cy="239649"/>
            </a:xfrm>
            <a:custGeom>
              <a:avLst/>
              <a:gdLst/>
              <a:ahLst/>
              <a:cxnLst/>
              <a:rect r="r" b="b" t="t" l="l"/>
              <a:pathLst>
                <a:path h="239649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39649"/>
                  </a:lnTo>
                  <a:lnTo>
                    <a:pt x="0" y="239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5" b="-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156209" y="4804353"/>
            <a:ext cx="1672904" cy="457557"/>
            <a:chOff x="0" y="0"/>
            <a:chExt cx="2230539" cy="61007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30537" cy="610071"/>
            </a:xfrm>
            <a:custGeom>
              <a:avLst/>
              <a:gdLst/>
              <a:ahLst/>
              <a:cxnLst/>
              <a:rect r="r" b="b" t="t" l="l"/>
              <a:pathLst>
                <a:path h="610071" w="2230537">
                  <a:moveTo>
                    <a:pt x="0" y="0"/>
                  </a:moveTo>
                  <a:lnTo>
                    <a:pt x="2230537" y="0"/>
                  </a:lnTo>
                  <a:lnTo>
                    <a:pt x="2230537" y="610071"/>
                  </a:lnTo>
                  <a:lnTo>
                    <a:pt x="0" y="6100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40" r="0" b="-2124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2230539" cy="638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Custom LSTM Model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276058" y="5484495"/>
            <a:ext cx="2285829" cy="727319"/>
            <a:chOff x="0" y="0"/>
            <a:chExt cx="3047771" cy="96975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047873" cy="969772"/>
            </a:xfrm>
            <a:custGeom>
              <a:avLst/>
              <a:gdLst/>
              <a:ahLst/>
              <a:cxnLst/>
              <a:rect r="r" b="b" t="t" l="l"/>
              <a:pathLst>
                <a:path h="969772" w="3047873">
                  <a:moveTo>
                    <a:pt x="0" y="310388"/>
                  </a:moveTo>
                  <a:cubicBezTo>
                    <a:pt x="0" y="138938"/>
                    <a:pt x="138938" y="0"/>
                    <a:pt x="310388" y="0"/>
                  </a:cubicBezTo>
                  <a:lnTo>
                    <a:pt x="2737485" y="0"/>
                  </a:lnTo>
                  <a:cubicBezTo>
                    <a:pt x="2908935" y="0"/>
                    <a:pt x="3047873" y="138938"/>
                    <a:pt x="3047873" y="310388"/>
                  </a:cubicBezTo>
                  <a:lnTo>
                    <a:pt x="3047873" y="659384"/>
                  </a:lnTo>
                  <a:cubicBezTo>
                    <a:pt x="3047873" y="830834"/>
                    <a:pt x="2908935" y="969772"/>
                    <a:pt x="2737485" y="969772"/>
                  </a:cubicBezTo>
                  <a:lnTo>
                    <a:pt x="310388" y="969772"/>
                  </a:lnTo>
                  <a:cubicBezTo>
                    <a:pt x="138938" y="969772"/>
                    <a:pt x="0" y="830834"/>
                    <a:pt x="0" y="659384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2410932" y="5768492"/>
            <a:ext cx="228771" cy="187928"/>
            <a:chOff x="0" y="0"/>
            <a:chExt cx="305029" cy="250571"/>
          </a:xfrm>
        </p:grpSpPr>
        <p:sp>
          <p:nvSpPr>
            <p:cNvPr name="Freeform 92" id="92" descr="image.png"/>
            <p:cNvSpPr/>
            <p:nvPr/>
          </p:nvSpPr>
          <p:spPr>
            <a:xfrm flipH="false" flipV="false" rot="0">
              <a:off x="0" y="0"/>
              <a:ext cx="305054" cy="250571"/>
            </a:xfrm>
            <a:custGeom>
              <a:avLst/>
              <a:gdLst/>
              <a:ahLst/>
              <a:cxnLst/>
              <a:rect r="r" b="b" t="t" l="l"/>
              <a:pathLst>
                <a:path h="250571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50571"/>
                  </a:lnTo>
                  <a:lnTo>
                    <a:pt x="0" y="250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1" t="0" r="5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754099" y="5748061"/>
            <a:ext cx="1172461" cy="263742"/>
            <a:chOff x="0" y="0"/>
            <a:chExt cx="1563281" cy="35165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563281" cy="351652"/>
            </a:xfrm>
            <a:custGeom>
              <a:avLst/>
              <a:gdLst/>
              <a:ahLst/>
              <a:cxnLst/>
              <a:rect r="r" b="b" t="t" l="l"/>
              <a:pathLst>
                <a:path h="351652" w="1563281">
                  <a:moveTo>
                    <a:pt x="0" y="0"/>
                  </a:moveTo>
                  <a:lnTo>
                    <a:pt x="1563281" y="0"/>
                  </a:lnTo>
                  <a:lnTo>
                    <a:pt x="1563281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48" r="0" b="-2999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1563281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Real-time NER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678168" y="5484495"/>
            <a:ext cx="2285829" cy="727319"/>
            <a:chOff x="0" y="0"/>
            <a:chExt cx="3047771" cy="96975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047873" cy="969772"/>
            </a:xfrm>
            <a:custGeom>
              <a:avLst/>
              <a:gdLst/>
              <a:ahLst/>
              <a:cxnLst/>
              <a:rect r="r" b="b" t="t" l="l"/>
              <a:pathLst>
                <a:path h="969772" w="3047873">
                  <a:moveTo>
                    <a:pt x="0" y="310388"/>
                  </a:moveTo>
                  <a:cubicBezTo>
                    <a:pt x="0" y="138938"/>
                    <a:pt x="138938" y="0"/>
                    <a:pt x="310388" y="0"/>
                  </a:cubicBezTo>
                  <a:lnTo>
                    <a:pt x="2737485" y="0"/>
                  </a:lnTo>
                  <a:cubicBezTo>
                    <a:pt x="2908935" y="0"/>
                    <a:pt x="3047873" y="138938"/>
                    <a:pt x="3047873" y="310388"/>
                  </a:cubicBezTo>
                  <a:lnTo>
                    <a:pt x="3047873" y="659384"/>
                  </a:lnTo>
                  <a:cubicBezTo>
                    <a:pt x="3047873" y="830834"/>
                    <a:pt x="2908935" y="969772"/>
                    <a:pt x="2737485" y="969772"/>
                  </a:cubicBezTo>
                  <a:lnTo>
                    <a:pt x="310388" y="969772"/>
                  </a:lnTo>
                  <a:cubicBezTo>
                    <a:pt x="138938" y="969772"/>
                    <a:pt x="0" y="830834"/>
                    <a:pt x="0" y="659384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4813051" y="5752147"/>
            <a:ext cx="228771" cy="220609"/>
            <a:chOff x="0" y="0"/>
            <a:chExt cx="305029" cy="294145"/>
          </a:xfrm>
        </p:grpSpPr>
        <p:sp>
          <p:nvSpPr>
            <p:cNvPr name="Freeform 99" id="99" descr="image.png"/>
            <p:cNvSpPr/>
            <p:nvPr/>
          </p:nvSpPr>
          <p:spPr>
            <a:xfrm flipH="false" flipV="false" rot="0">
              <a:off x="0" y="0"/>
              <a:ext cx="305054" cy="294132"/>
            </a:xfrm>
            <a:custGeom>
              <a:avLst/>
              <a:gdLst/>
              <a:ahLst/>
              <a:cxnLst/>
              <a:rect r="r" b="b" t="t" l="l"/>
              <a:pathLst>
                <a:path h="294132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94132"/>
                  </a:lnTo>
                  <a:lnTo>
                    <a:pt x="0" y="294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1" t="0" r="5" b="-4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5156209" y="5633676"/>
            <a:ext cx="1672904" cy="457557"/>
            <a:chOff x="0" y="0"/>
            <a:chExt cx="2230539" cy="6100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30537" cy="610071"/>
            </a:xfrm>
            <a:custGeom>
              <a:avLst/>
              <a:gdLst/>
              <a:ahLst/>
              <a:cxnLst/>
              <a:rect r="r" b="b" t="t" l="l"/>
              <a:pathLst>
                <a:path h="610071" w="2230537">
                  <a:moveTo>
                    <a:pt x="0" y="0"/>
                  </a:moveTo>
                  <a:lnTo>
                    <a:pt x="2230537" y="0"/>
                  </a:lnTo>
                  <a:lnTo>
                    <a:pt x="2230537" y="610071"/>
                  </a:lnTo>
                  <a:lnTo>
                    <a:pt x="0" y="6100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40" r="0" b="-21242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2230539" cy="638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Auto Risk Assessment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276058" y="6313818"/>
            <a:ext cx="4687938" cy="612934"/>
            <a:chOff x="0" y="0"/>
            <a:chExt cx="6250584" cy="81724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250559" cy="817245"/>
            </a:xfrm>
            <a:custGeom>
              <a:avLst/>
              <a:gdLst/>
              <a:ahLst/>
              <a:cxnLst/>
              <a:rect r="r" b="b" t="t" l="l"/>
              <a:pathLst>
                <a:path h="817245" w="6250559">
                  <a:moveTo>
                    <a:pt x="0" y="311277"/>
                  </a:moveTo>
                  <a:cubicBezTo>
                    <a:pt x="0" y="139446"/>
                    <a:pt x="139446" y="0"/>
                    <a:pt x="311277" y="0"/>
                  </a:cubicBezTo>
                  <a:lnTo>
                    <a:pt x="5939282" y="0"/>
                  </a:lnTo>
                  <a:cubicBezTo>
                    <a:pt x="6111240" y="0"/>
                    <a:pt x="6250559" y="139446"/>
                    <a:pt x="6250559" y="311277"/>
                  </a:cubicBezTo>
                  <a:lnTo>
                    <a:pt x="6250559" y="505968"/>
                  </a:lnTo>
                  <a:cubicBezTo>
                    <a:pt x="6250559" y="677926"/>
                    <a:pt x="6111113" y="817245"/>
                    <a:pt x="5939282" y="817245"/>
                  </a:cubicBezTo>
                  <a:lnTo>
                    <a:pt x="311277" y="817245"/>
                  </a:lnTo>
                  <a:cubicBezTo>
                    <a:pt x="139446" y="817245"/>
                    <a:pt x="0" y="677799"/>
                    <a:pt x="0" y="505968"/>
                  </a:cubicBezTo>
                  <a:close/>
                </a:path>
              </a:pathLst>
            </a:custGeom>
            <a:solidFill>
              <a:srgbClr val="0F172A">
                <a:alpha val="15686"/>
              </a:srgbClr>
            </a:solidFill>
            <a:ln w="12392" cap="sq">
              <a:solidFill>
                <a:srgbClr val="38BDF8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410932" y="6544704"/>
            <a:ext cx="228771" cy="179756"/>
            <a:chOff x="0" y="0"/>
            <a:chExt cx="305029" cy="239674"/>
          </a:xfrm>
        </p:grpSpPr>
        <p:sp>
          <p:nvSpPr>
            <p:cNvPr name="Freeform 106" id="106" descr="image.png"/>
            <p:cNvSpPr/>
            <p:nvPr/>
          </p:nvSpPr>
          <p:spPr>
            <a:xfrm flipH="false" flipV="false" rot="0">
              <a:off x="0" y="0"/>
              <a:ext cx="305054" cy="239649"/>
            </a:xfrm>
            <a:custGeom>
              <a:avLst/>
              <a:gdLst/>
              <a:ahLst/>
              <a:cxnLst/>
              <a:rect r="r" b="b" t="t" l="l"/>
              <a:pathLst>
                <a:path h="239649" w="305054">
                  <a:moveTo>
                    <a:pt x="0" y="0"/>
                  </a:moveTo>
                  <a:lnTo>
                    <a:pt x="305054" y="0"/>
                  </a:lnTo>
                  <a:lnTo>
                    <a:pt x="305054" y="239649"/>
                  </a:lnTo>
                  <a:lnTo>
                    <a:pt x="0" y="239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5" b="-1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754099" y="6520196"/>
            <a:ext cx="1787290" cy="263742"/>
            <a:chOff x="0" y="0"/>
            <a:chExt cx="2383053" cy="35165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383052" cy="351652"/>
            </a:xfrm>
            <a:custGeom>
              <a:avLst/>
              <a:gdLst/>
              <a:ahLst/>
              <a:cxnLst/>
              <a:rect r="r" b="b" t="t" l="l"/>
              <a:pathLst>
                <a:path h="351652" w="2383052">
                  <a:moveTo>
                    <a:pt x="0" y="0"/>
                  </a:moveTo>
                  <a:lnTo>
                    <a:pt x="2383052" y="0"/>
                  </a:lnTo>
                  <a:lnTo>
                    <a:pt x="2383052" y="351652"/>
                  </a:lnTo>
                  <a:lnTo>
                    <a:pt x="0" y="351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72" r="0" b="-7541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2383053" cy="38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51"/>
                </a:lnSpc>
              </a:pPr>
              <a:r>
                <a:rPr lang="en-US" sz="127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Interactive Dashboard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08895" y="7457713"/>
            <a:ext cx="16484051" cy="898912"/>
            <a:chOff x="0" y="0"/>
            <a:chExt cx="21978734" cy="119855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1978748" cy="1198626"/>
            </a:xfrm>
            <a:custGeom>
              <a:avLst/>
              <a:gdLst/>
              <a:ahLst/>
              <a:cxnLst/>
              <a:rect r="r" b="b" t="t" l="l"/>
              <a:pathLst>
                <a:path h="1198626" w="21978748">
                  <a:moveTo>
                    <a:pt x="0" y="599313"/>
                  </a:moveTo>
                  <a:cubicBezTo>
                    <a:pt x="0" y="268351"/>
                    <a:pt x="268351" y="0"/>
                    <a:pt x="599313" y="0"/>
                  </a:cubicBezTo>
                  <a:lnTo>
                    <a:pt x="21379435" y="0"/>
                  </a:lnTo>
                  <a:cubicBezTo>
                    <a:pt x="21710397" y="0"/>
                    <a:pt x="21978748" y="268351"/>
                    <a:pt x="21978748" y="599313"/>
                  </a:cubicBezTo>
                  <a:cubicBezTo>
                    <a:pt x="21978748" y="930275"/>
                    <a:pt x="21710397" y="1198626"/>
                    <a:pt x="21379435" y="1198626"/>
                  </a:cubicBezTo>
                  <a:lnTo>
                    <a:pt x="599313" y="1198626"/>
                  </a:lnTo>
                  <a:cubicBezTo>
                    <a:pt x="268351" y="1198499"/>
                    <a:pt x="0" y="930275"/>
                    <a:pt x="0" y="599313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392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730092" y="7758293"/>
            <a:ext cx="285969" cy="269148"/>
            <a:chOff x="0" y="0"/>
            <a:chExt cx="381292" cy="358864"/>
          </a:xfrm>
        </p:grpSpPr>
        <p:sp>
          <p:nvSpPr>
            <p:cNvPr name="Freeform 113" id="113" descr="image.png"/>
            <p:cNvSpPr/>
            <p:nvPr/>
          </p:nvSpPr>
          <p:spPr>
            <a:xfrm flipH="false" flipV="false" rot="0">
              <a:off x="0" y="0"/>
              <a:ext cx="381254" cy="358902"/>
            </a:xfrm>
            <a:custGeom>
              <a:avLst/>
              <a:gdLst/>
              <a:ahLst/>
              <a:cxnLst/>
              <a:rect r="r" b="b" t="t" l="l"/>
              <a:pathLst>
                <a:path h="358902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58902"/>
                  </a:lnTo>
                  <a:lnTo>
                    <a:pt x="0" y="358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1" t="0" r="-8" b="1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2130447" y="7749883"/>
            <a:ext cx="3002642" cy="306859"/>
            <a:chOff x="0" y="0"/>
            <a:chExt cx="4003523" cy="409145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003526" cy="409149"/>
            </a:xfrm>
            <a:custGeom>
              <a:avLst/>
              <a:gdLst/>
              <a:ahLst/>
              <a:cxnLst/>
              <a:rect r="r" b="b" t="t" l="l"/>
              <a:pathLst>
                <a:path h="409149" w="4003526">
                  <a:moveTo>
                    <a:pt x="0" y="0"/>
                  </a:moveTo>
                  <a:lnTo>
                    <a:pt x="4003526" y="0"/>
                  </a:lnTo>
                  <a:lnTo>
                    <a:pt x="400352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65" r="0" b="-13725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4003523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Transforming clinical workflows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6276956" y="7721279"/>
            <a:ext cx="14297" cy="343167"/>
            <a:chOff x="0" y="0"/>
            <a:chExt cx="19063" cy="4575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9050" cy="457581"/>
            </a:xfrm>
            <a:custGeom>
              <a:avLst/>
              <a:gdLst/>
              <a:ahLst/>
              <a:cxnLst/>
              <a:rect r="r" b="b" t="t" l="l"/>
              <a:pathLst>
                <a:path h="457581" w="19050">
                  <a:moveTo>
                    <a:pt x="0" y="0"/>
                  </a:moveTo>
                  <a:lnTo>
                    <a:pt x="19050" y="0"/>
                  </a:lnTo>
                  <a:lnTo>
                    <a:pt x="19050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22C55E">
                <a:alpha val="8627"/>
              </a:srgbClr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435120" y="7777210"/>
            <a:ext cx="285969" cy="231305"/>
            <a:chOff x="0" y="0"/>
            <a:chExt cx="381292" cy="308407"/>
          </a:xfrm>
        </p:grpSpPr>
        <p:sp>
          <p:nvSpPr>
            <p:cNvPr name="Freeform 120" id="120" descr="image.png"/>
            <p:cNvSpPr/>
            <p:nvPr/>
          </p:nvSpPr>
          <p:spPr>
            <a:xfrm flipH="false" flipV="false" rot="0">
              <a:off x="0" y="0"/>
              <a:ext cx="381254" cy="308356"/>
            </a:xfrm>
            <a:custGeom>
              <a:avLst/>
              <a:gdLst/>
              <a:ahLst/>
              <a:cxnLst/>
              <a:rect r="r" b="b" t="t" l="l"/>
              <a:pathLst>
                <a:path h="308356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308356"/>
                  </a:lnTo>
                  <a:lnTo>
                    <a:pt x="0" y="308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1" t="0" r="-8" b="-16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7835475" y="7749883"/>
            <a:ext cx="3388700" cy="306859"/>
            <a:chOff x="0" y="0"/>
            <a:chExt cx="4518266" cy="40914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518266" cy="409149"/>
            </a:xfrm>
            <a:custGeom>
              <a:avLst/>
              <a:gdLst/>
              <a:ahLst/>
              <a:cxnLst/>
              <a:rect r="r" b="b" t="t" l="l"/>
              <a:pathLst>
                <a:path h="409149" w="4518266">
                  <a:moveTo>
                    <a:pt x="0" y="0"/>
                  </a:moveTo>
                  <a:lnTo>
                    <a:pt x="4518266" y="0"/>
                  </a:lnTo>
                  <a:lnTo>
                    <a:pt x="4518266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79" r="0" b="-16177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4518266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Saving lives through early detection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368041" y="7721279"/>
            <a:ext cx="14297" cy="343167"/>
            <a:chOff x="0" y="0"/>
            <a:chExt cx="19063" cy="4575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9050" cy="457581"/>
            </a:xfrm>
            <a:custGeom>
              <a:avLst/>
              <a:gdLst/>
              <a:ahLst/>
              <a:cxnLst/>
              <a:rect r="r" b="b" t="t" l="l"/>
              <a:pathLst>
                <a:path h="457581" w="19050">
                  <a:moveTo>
                    <a:pt x="0" y="0"/>
                  </a:moveTo>
                  <a:lnTo>
                    <a:pt x="19050" y="0"/>
                  </a:lnTo>
                  <a:lnTo>
                    <a:pt x="19050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22C55E">
                <a:alpha val="8627"/>
              </a:srgbClr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3526205" y="7787726"/>
            <a:ext cx="285969" cy="210274"/>
            <a:chOff x="0" y="0"/>
            <a:chExt cx="381292" cy="280365"/>
          </a:xfrm>
        </p:grpSpPr>
        <p:sp>
          <p:nvSpPr>
            <p:cNvPr name="Freeform 127" id="127" descr="image.png"/>
            <p:cNvSpPr/>
            <p:nvPr/>
          </p:nvSpPr>
          <p:spPr>
            <a:xfrm flipH="false" flipV="false" rot="0">
              <a:off x="0" y="0"/>
              <a:ext cx="381254" cy="280416"/>
            </a:xfrm>
            <a:custGeom>
              <a:avLst/>
              <a:gdLst/>
              <a:ahLst/>
              <a:cxnLst/>
              <a:rect r="r" b="b" t="t" l="l"/>
              <a:pathLst>
                <a:path h="280416" w="381254">
                  <a:moveTo>
                    <a:pt x="0" y="0"/>
                  </a:moveTo>
                  <a:lnTo>
                    <a:pt x="381254" y="0"/>
                  </a:lnTo>
                  <a:lnTo>
                    <a:pt x="381254" y="280416"/>
                  </a:lnTo>
                  <a:lnTo>
                    <a:pt x="0" y="280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1" t="0" r="-8" b="18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926560" y="7749883"/>
            <a:ext cx="2645188" cy="306859"/>
            <a:chOff x="0" y="0"/>
            <a:chExt cx="3526917" cy="40914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526915" cy="409149"/>
            </a:xfrm>
            <a:custGeom>
              <a:avLst/>
              <a:gdLst/>
              <a:ahLst/>
              <a:cxnLst/>
              <a:rect r="r" b="b" t="t" l="l"/>
              <a:pathLst>
                <a:path h="409149" w="3526915">
                  <a:moveTo>
                    <a:pt x="0" y="0"/>
                  </a:moveTo>
                  <a:lnTo>
                    <a:pt x="3526915" y="0"/>
                  </a:lnTo>
                  <a:lnTo>
                    <a:pt x="3526915" y="409149"/>
                  </a:lnTo>
                  <a:lnTo>
                    <a:pt x="0" y="4091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367" r="0" b="-114559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3526917" cy="45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2"/>
                </a:lnSpc>
              </a:pPr>
              <a:r>
                <a:rPr lang="en-US" sz="1456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Reducing physician burnout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15095" y="8522008"/>
            <a:ext cx="16471659" cy="723897"/>
            <a:chOff x="0" y="0"/>
            <a:chExt cx="21962212" cy="96519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1962208" cy="965192"/>
            </a:xfrm>
            <a:custGeom>
              <a:avLst/>
              <a:gdLst/>
              <a:ahLst/>
              <a:cxnLst/>
              <a:rect r="r" b="b" t="t" l="l"/>
              <a:pathLst>
                <a:path h="965192" w="21962208">
                  <a:moveTo>
                    <a:pt x="0" y="0"/>
                  </a:moveTo>
                  <a:lnTo>
                    <a:pt x="21962208" y="0"/>
                  </a:lnTo>
                  <a:lnTo>
                    <a:pt x="21962208" y="965192"/>
                  </a:lnTo>
                  <a:lnTo>
                    <a:pt x="0" y="965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862" r="0" b="-38287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21962212" cy="9651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4"/>
                </a:lnSpc>
              </a:pPr>
              <a:r>
                <a:rPr lang="en-US" b="true" sz="3430">
                  <a:solidFill>
                    <a:srgbClr val="CBD5E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FUTURE OF MEDICAL REPORTING IS HERE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DAHJh_pESOs</dc:identifier>
  <dcterms:modified xsi:type="dcterms:W3CDTF">2011-08-01T06:04:30Z</dcterms:modified>
  <cp:revision>1</cp:revision>
  <dc:title>MediReporter_ The Story of AI-Powered Medical Intelligence.pptx</dc:title>
</cp:coreProperties>
</file>